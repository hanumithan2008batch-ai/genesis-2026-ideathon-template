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sis Ideathon" id="{738414BB-E90B-39D7-38DA-93576361268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38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3323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320040"/>
            <a:ext cx="8229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Genesi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950" y="384048"/>
            <a:ext cx="534131" cy="6949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Text 2"/>
          <p:cNvSpPr/>
          <p:nvPr/>
        </p:nvSpPr>
        <p:spPr>
          <a:xfrm>
            <a:off x="2286000" y="6355080"/>
            <a:ext cx="7619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chemeClr val="accent6"/>
                </a:solidFill>
              </a:rPr>
              <a:t>Genesis Ideathon – Pre-Ideathon Template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259007" y="6409944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 rot="5400000">
            <a:off x="10610311" y="4686300"/>
            <a:ext cx="1425408" cy="1234440"/>
          </a:xfrm>
          <a:prstGeom prst="hexagon">
            <a:avLst/>
          </a:prstGeom>
          <a:ln w="15875">
            <a:solidFill>
              <a:schemeClr val="accent4">
                <a:alpha val="2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 rot="5400000">
            <a:off x="9750599" y="534924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20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 rot="5400000">
            <a:off x="11579399" y="384048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1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Hexagon"/>
          <p:cNvSpPr/>
          <p:nvPr/>
        </p:nvSpPr>
        <p:spPr>
          <a:xfrm rot="5400000">
            <a:off x="8841585" y="-122252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3" name="Cover Hexagon"/>
          <p:cNvSpPr/>
          <p:nvPr/>
        </p:nvSpPr>
        <p:spPr>
          <a:xfrm rot="5400000">
            <a:off x="10524081" y="1691640"/>
            <a:ext cx="3695502" cy="3200400"/>
          </a:xfrm>
          <a:prstGeom prst="hexagon">
            <a:avLst/>
          </a:prstGeom>
          <a:solidFill>
            <a:schemeClr val="accent1">
              <a:alpha val="25000"/>
            </a:schemeClr>
          </a:solidFill>
          <a:ln w="15875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4" name="Cover Hexagon"/>
          <p:cNvSpPr/>
          <p:nvPr/>
        </p:nvSpPr>
        <p:spPr>
          <a:xfrm rot="5400000">
            <a:off x="8841585" y="460580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5" name="Cover Hexagon"/>
          <p:cNvSpPr/>
          <p:nvPr/>
        </p:nvSpPr>
        <p:spPr>
          <a:xfrm rot="5400000">
            <a:off x="6613359" y="3177540"/>
            <a:ext cx="580722" cy="502920"/>
          </a:xfrm>
          <a:prstGeom prst="hexagon">
            <a:avLst/>
          </a:prstGeom>
          <a:solidFill>
            <a:schemeClr val="accent3"/>
          </a:solidFill>
          <a:ln/>
        </p:spPr>
      </p:sp>
      <p:sp>
        <p:nvSpPr>
          <p:cNvPr id="6" name="Cover Hexagon"/>
          <p:cNvSpPr/>
          <p:nvPr/>
        </p:nvSpPr>
        <p:spPr>
          <a:xfrm rot="5400000">
            <a:off x="10849583" y="1728216"/>
            <a:ext cx="337874" cy="292608"/>
          </a:xfrm>
          <a:prstGeom prst="hexagon">
            <a:avLst/>
          </a:prstGeom>
          <a:solidFill>
            <a:schemeClr val="accent3">
              <a:alpha val="70000"/>
            </a:schemeClr>
          </a:solidFill>
          <a:ln/>
        </p:spPr>
      </p:sp>
      <p:sp>
        <p:nvSpPr>
          <p:cNvPr id="7" name="Cover Hexagon"/>
          <p:cNvSpPr/>
          <p:nvPr/>
        </p:nvSpPr>
        <p:spPr>
          <a:xfrm rot="5400000">
            <a:off x="6868728" y="1440180"/>
            <a:ext cx="4276224" cy="3703320"/>
          </a:xfrm>
          <a:prstGeom prst="hexagon">
            <a:avLst/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8" name="Cover Hexagon"/>
          <p:cNvSpPr/>
          <p:nvPr/>
        </p:nvSpPr>
        <p:spPr>
          <a:xfrm rot="5400000">
            <a:off x="6755697" y="4800600"/>
            <a:ext cx="844686" cy="731520"/>
          </a:xfrm>
          <a:prstGeom prst="hexagon">
            <a:avLst/>
          </a:prstGeom>
          <a:ln w="19050">
            <a:solidFill>
              <a:schemeClr val="accent3">
                <a:alpha val="65000"/>
              </a:schemeClr>
            </a:solidFill>
            <a:prstDash val="solid"/>
          </a:ln>
        </p:spPr>
      </p:sp>
      <p:sp>
        <p:nvSpPr>
          <p:cNvPr id="9" name="Cover Hexagon"/>
          <p:cNvSpPr/>
          <p:nvPr/>
        </p:nvSpPr>
        <p:spPr>
          <a:xfrm rot="5400000">
            <a:off x="7159089" y="1691640"/>
            <a:ext cx="3695502" cy="3200400"/>
          </a:xfrm>
          <a:prstGeom prst="hexagon">
            <a:avLst/>
          </a:prstGeom>
          <a:solidFill>
            <a:schemeClr val="bg1"/>
          </a:solidFill>
          <a:ln w="38100">
            <a:solidFill>
              <a:schemeClr val="accent3"/>
            </a:solidFill>
            <a:prstDash val="solid"/>
          </a:ln>
        </p:spPr>
      </p:sp>
      <p:pic>
        <p:nvPicPr>
          <p:cNvPr id="10" name="Genesis Logo" descr="Genesi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66" y="2125980"/>
            <a:ext cx="1792148" cy="2331720"/>
          </a:xfrm>
          <a:prstGeom prst="rect">
            <a:avLst/>
          </a:prstGeom>
        </p:spPr>
      </p:pic>
      <p:sp>
        <p:nvSpPr>
          <p:cNvPr id="11" name="Kicker"/>
          <p:cNvSpPr txBox="1"/>
          <p:nvPr/>
        </p:nvSpPr>
        <p:spPr>
          <a:xfrm>
            <a:off x="548640" y="502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3"/>
                </a:solidFill>
              </a:rPr>
              <a:t>PRE-IDEATHON TEMPLATE</a:t>
            </a:r>
            <a:endParaRPr lang="en-US" sz="1200" dirty="0"/>
          </a:p>
        </p:txBody>
      </p:sp>
      <p:sp>
        <p:nvSpPr>
          <p:cNvPr id="12" name="Event Title"/>
          <p:cNvSpPr txBox="1"/>
          <p:nvPr/>
        </p:nvSpPr>
        <p:spPr>
          <a:xfrm>
            <a:off x="548640" y="868680"/>
            <a:ext cx="5669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0000"/>
              </a:lnSpc>
              <a:spcAft>
                <a:spcPts val="300"/>
              </a:spcAft>
            </a:pPr>
            <a:r>
              <a:rPr lang="en-IN" sz="6000" spc="-10" dirty="0">
                <a:solidFill>
                  <a:srgbClr val="FFFFFF"/>
                </a:solidFill>
                <a:latin typeface="+mj-lt"/>
              </a:rPr>
              <a:t>GENESIS </a:t>
            </a:r>
            <a:r>
              <a:rPr lang="en-IN" sz="6000" spc="-75" dirty="0">
                <a:solidFill>
                  <a:srgbClr val="76C043"/>
                </a:solidFill>
                <a:latin typeface="+mj-lt"/>
              </a:rPr>
              <a:t>IDEATHON</a:t>
            </a:r>
            <a:endParaRPr sz="6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Section Chip"/>
          <p:cNvSpPr/>
          <p:nvPr/>
        </p:nvSpPr>
        <p:spPr>
          <a:xfrm>
            <a:off x="548640" y="2555631"/>
            <a:ext cx="2103120" cy="434457"/>
          </a:xfrm>
          <a:prstGeom prst="roundRect">
            <a:avLst>
              <a:gd name="adj" fmla="val 50000"/>
            </a:avLst>
          </a:prstGeom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4" name="Cover Lead"/>
          <p:cNvSpPr txBox="1"/>
          <p:nvPr/>
        </p:nvSpPr>
        <p:spPr>
          <a:xfrm>
            <a:off x="548640" y="31089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sz="1700" i="1"/>
              <a:t>A rural-focused health identity and emergency record access system</a:t>
            </a:r>
            <a:endParaRPr lang="en-US" sz="1600" dirty="0"/>
          </a:p>
        </p:txBody>
      </p:sp>
      <p:sp>
        <p:nvSpPr>
          <p:cNvPr id="15" name="Cover Fields"/>
          <p:cNvSpPr txBox="1"/>
          <p:nvPr/>
        </p:nvSpPr>
        <p:spPr>
          <a:xfrm>
            <a:off x="548640" y="3703320"/>
            <a:ext cx="6035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">
              <a:lnSpc>
                <a:spcPct val="100000"/>
              </a:lnSpc>
            </a:pPr>
            <a:endParaRPr lang="en-US" sz="1400" dirty="0">
              <a:cs typeface="Calibri"/>
            </a:endParaRPr>
          </a:p>
          <a:p>
            <a:pPr marL="279400" indent="-279400">
              <a:lnSpc>
                <a:spcPct val="100000"/>
              </a:lnSpc>
              <a:spcBef>
                <a:spcPts val="1590"/>
              </a:spcBef>
              <a:buClr>
                <a:schemeClr val="accent3"/>
              </a:buClr>
              <a:buSzPct val="100000"/>
              <a:buFont typeface="Calibri"/>
              <a:buChar char="•"/>
              <a:tabLst>
                <a:tab pos="241300" algn="l"/>
              </a:tabLst>
            </a:pPr>
            <a:r>
              <a:rPr lang="en-US" sz="1550" b="1" dirty="0">
                <a:solidFill>
                  <a:srgbClr val="76C043"/>
                </a:solidFill>
                <a:cs typeface="Calibri"/>
              </a:rPr>
              <a:t>Team</a:t>
            </a:r>
            <a:r>
              <a:rPr lang="en-US" sz="1550" b="1" spc="25" dirty="0">
                <a:solidFill>
                  <a:srgbClr val="76C043"/>
                </a:solidFill>
                <a:cs typeface="Calibri"/>
              </a:rPr>
              <a:t> </a:t>
            </a:r>
            <a:r>
              <a:rPr lang="en-US" sz="1550" b="1" dirty="0">
                <a:solidFill>
                  <a:srgbClr val="76C043"/>
                </a:solidFill>
                <a:cs typeface="Calibri"/>
              </a:rPr>
              <a:t>Name</a:t>
            </a:r>
            <a:r>
              <a:rPr lang="en-US" sz="1550" b="1" spc="30" dirty="0">
                <a:solidFill>
                  <a:srgbClr val="76C043"/>
                </a:solidFill>
                <a:cs typeface="Calibri"/>
              </a:rPr>
              <a:t> </a:t>
            </a:r>
            <a:r>
              <a:rPr lang="en-US" sz="1550" b="1" dirty="0">
                <a:solidFill>
                  <a:srgbClr val="76C043"/>
                </a:solidFill>
                <a:cs typeface="Calibri"/>
              </a:rPr>
              <a:t>–</a:t>
            </a:r>
            <a:r>
              <a:rPr lang="en-US" sz="1550" b="1" spc="40" dirty="0">
                <a:solidFill>
                  <a:srgbClr val="76C043"/>
                </a:solidFill>
                <a:cs typeface="Calibri"/>
              </a:rPr>
              <a:t> </a:t>
            </a:r>
            <a:r>
              <a:rPr lang="en-US" sz="1550" b="1" spc="-10" dirty="0">
                <a:solidFill>
                  <a:srgbClr val="FFFFFF"/>
                </a:solidFill>
                <a:cs typeface="Calibri"/>
              </a:rPr>
              <a:t> </a:t>
            </a:r>
            <a:r>
              <a:rPr lang="en-US" sz="1550" spc="-10" dirty="0">
                <a:solidFill>
                  <a:srgbClr val="FFFFFF"/>
                </a:solidFill>
                <a:cs typeface="Calibri"/>
              </a:rPr>
              <a:t>TEAM PR</a:t>
            </a:r>
            <a:endParaRPr lang="en-US" sz="1550" dirty="0">
              <a:cs typeface="Calibri"/>
            </a:endParaRPr>
          </a:p>
          <a:p>
            <a:pPr marL="279400" marR="594995" indent="-279400">
              <a:lnSpc>
                <a:spcPct val="101000"/>
              </a:lnSpc>
              <a:spcBef>
                <a:spcPts val="975"/>
              </a:spcBef>
              <a:buClr>
                <a:schemeClr val="accent3"/>
              </a:buClr>
              <a:buSzPct val="100000"/>
              <a:buFont typeface="Calibri"/>
              <a:buChar char="•"/>
              <a:tabLst>
                <a:tab pos="241300" algn="l"/>
              </a:tabLst>
            </a:pPr>
            <a:r>
              <a:rPr lang="en-US" sz="1550" b="1" dirty="0">
                <a:solidFill>
                  <a:srgbClr val="76C043"/>
                </a:solidFill>
                <a:cs typeface="Calibri"/>
              </a:rPr>
              <a:t>Team</a:t>
            </a:r>
            <a:r>
              <a:rPr lang="en-US" sz="1550" b="1" spc="40" dirty="0">
                <a:solidFill>
                  <a:srgbClr val="76C043"/>
                </a:solidFill>
                <a:cs typeface="Calibri"/>
              </a:rPr>
              <a:t> </a:t>
            </a:r>
            <a:r>
              <a:rPr lang="en-US" sz="1550" b="1" dirty="0">
                <a:solidFill>
                  <a:srgbClr val="76C043"/>
                </a:solidFill>
                <a:cs typeface="Calibri"/>
              </a:rPr>
              <a:t>Members</a:t>
            </a:r>
            <a:r>
              <a:rPr lang="en-US" sz="1550" b="1" spc="85" dirty="0">
                <a:solidFill>
                  <a:srgbClr val="76C043"/>
                </a:solidFill>
                <a:cs typeface="Calibri"/>
              </a:rPr>
              <a:t> </a:t>
            </a:r>
            <a:r>
              <a:rPr lang="en-US" sz="1550" b="1" dirty="0">
                <a:solidFill>
                  <a:srgbClr val="76C043"/>
                </a:solidFill>
                <a:cs typeface="Calibri"/>
              </a:rPr>
              <a:t>–</a:t>
            </a:r>
            <a:r>
              <a:rPr lang="en-US" sz="1550" b="1" spc="60" dirty="0">
                <a:solidFill>
                  <a:srgbClr val="76C043"/>
                </a:solidFill>
                <a:cs typeface="Calibri"/>
              </a:rPr>
              <a:t> </a:t>
            </a:r>
            <a:r>
              <a:rPr lang="en-US" sz="1550" dirty="0">
                <a:solidFill>
                  <a:srgbClr val="FFFFFF"/>
                </a:solidFill>
                <a:cs typeface="Calibri"/>
              </a:rPr>
              <a:t>Hanumithan.AL</a:t>
            </a:r>
            <a:r>
              <a:rPr lang="en-US" sz="1550" spc="70" dirty="0">
                <a:solidFill>
                  <a:srgbClr val="FFFFFF"/>
                </a:solidFill>
                <a:cs typeface="Calibri"/>
              </a:rPr>
              <a:t> </a:t>
            </a:r>
            <a:r>
              <a:rPr lang="en-US" sz="1550" dirty="0">
                <a:solidFill>
                  <a:srgbClr val="FFFFFF"/>
                </a:solidFill>
                <a:cs typeface="Calibri"/>
              </a:rPr>
              <a:t>(Team</a:t>
            </a:r>
            <a:r>
              <a:rPr lang="en-US" sz="1550" spc="65" dirty="0">
                <a:solidFill>
                  <a:srgbClr val="FFFFFF"/>
                </a:solidFill>
                <a:cs typeface="Calibri"/>
              </a:rPr>
              <a:t> </a:t>
            </a:r>
            <a:r>
              <a:rPr lang="en-US" sz="1550" dirty="0">
                <a:solidFill>
                  <a:srgbClr val="FFFFFF"/>
                </a:solidFill>
                <a:cs typeface="Calibri"/>
              </a:rPr>
              <a:t>Leader),</a:t>
            </a:r>
            <a:r>
              <a:rPr lang="en-US" sz="1550" spc="35" dirty="0">
                <a:solidFill>
                  <a:srgbClr val="FFFFFF"/>
                </a:solidFill>
                <a:cs typeface="Calibri"/>
              </a:rPr>
              <a:t> </a:t>
            </a:r>
            <a:r>
              <a:rPr lang="en-US" sz="1550" dirty="0" err="1">
                <a:solidFill>
                  <a:srgbClr val="FFFFFF"/>
                </a:solidFill>
                <a:cs typeface="Calibri"/>
              </a:rPr>
              <a:t>Nivedh.T</a:t>
            </a:r>
            <a:r>
              <a:rPr lang="en-US" sz="1550" dirty="0">
                <a:solidFill>
                  <a:srgbClr val="FFFFFF"/>
                </a:solidFill>
                <a:cs typeface="Calibri"/>
              </a:rPr>
              <a:t>,</a:t>
            </a:r>
            <a:r>
              <a:rPr lang="en-US" sz="1550" spc="110" dirty="0">
                <a:solidFill>
                  <a:srgbClr val="FFFFFF"/>
                </a:solidFill>
                <a:cs typeface="Calibri"/>
              </a:rPr>
              <a:t> </a:t>
            </a:r>
            <a:r>
              <a:rPr lang="en-US" sz="1550" spc="-10" dirty="0">
                <a:solidFill>
                  <a:srgbClr val="FFFFFF"/>
                </a:solidFill>
                <a:cs typeface="Calibri"/>
              </a:rPr>
              <a:t>Shruthi </a:t>
            </a:r>
            <a:r>
              <a:rPr lang="en-US" sz="1550" dirty="0" err="1">
                <a:solidFill>
                  <a:srgbClr val="FFFFFF"/>
                </a:solidFill>
                <a:cs typeface="Calibri"/>
              </a:rPr>
              <a:t>Ranjane</a:t>
            </a:r>
            <a:r>
              <a:rPr lang="en-US" sz="1550" spc="75" dirty="0">
                <a:solidFill>
                  <a:srgbClr val="FFFFFF"/>
                </a:solidFill>
                <a:cs typeface="Calibri"/>
              </a:rPr>
              <a:t> </a:t>
            </a:r>
            <a:r>
              <a:rPr lang="en-US" sz="1550" dirty="0">
                <a:solidFill>
                  <a:srgbClr val="FFFFFF"/>
                </a:solidFill>
                <a:cs typeface="Calibri"/>
              </a:rPr>
              <a:t>B.S,</a:t>
            </a:r>
            <a:r>
              <a:rPr lang="en-US" sz="1550" spc="105" dirty="0">
                <a:solidFill>
                  <a:srgbClr val="FFFFFF"/>
                </a:solidFill>
                <a:cs typeface="Calibri"/>
              </a:rPr>
              <a:t> </a:t>
            </a:r>
            <a:r>
              <a:rPr lang="en-US" sz="1550" dirty="0">
                <a:solidFill>
                  <a:srgbClr val="FFFFFF"/>
                </a:solidFill>
                <a:cs typeface="Calibri"/>
              </a:rPr>
              <a:t>Sunil</a:t>
            </a:r>
            <a:r>
              <a:rPr lang="en-US" sz="1550" spc="145" dirty="0">
                <a:solidFill>
                  <a:srgbClr val="FFFFFF"/>
                </a:solidFill>
                <a:cs typeface="Calibri"/>
              </a:rPr>
              <a:t> </a:t>
            </a:r>
            <a:r>
              <a:rPr lang="en-US" sz="1550" spc="-10" dirty="0">
                <a:solidFill>
                  <a:srgbClr val="FFFFFF"/>
                </a:solidFill>
                <a:cs typeface="Calibri"/>
              </a:rPr>
              <a:t>Krishna</a:t>
            </a:r>
            <a:endParaRPr lang="en-US" sz="1550" dirty="0">
              <a:cs typeface="Calibri"/>
            </a:endParaRPr>
          </a:p>
          <a:p>
            <a:pPr marL="279400" indent="-279400">
              <a:lnSpc>
                <a:spcPct val="100000"/>
              </a:lnSpc>
              <a:spcBef>
                <a:spcPts val="995"/>
              </a:spcBef>
              <a:buClr>
                <a:schemeClr val="accent3"/>
              </a:buClr>
              <a:buSzPct val="100000"/>
              <a:buFont typeface="Calibri"/>
              <a:buChar char="•"/>
              <a:tabLst>
                <a:tab pos="241300" algn="l"/>
              </a:tabLst>
            </a:pPr>
            <a:r>
              <a:rPr lang="en-US" sz="1550" b="1" dirty="0">
                <a:solidFill>
                  <a:srgbClr val="76C043"/>
                </a:solidFill>
                <a:cs typeface="Calibri"/>
              </a:rPr>
              <a:t>Selected</a:t>
            </a:r>
            <a:r>
              <a:rPr lang="en-US" sz="1550" b="1" spc="110" dirty="0">
                <a:solidFill>
                  <a:srgbClr val="76C043"/>
                </a:solidFill>
                <a:cs typeface="Calibri"/>
              </a:rPr>
              <a:t> </a:t>
            </a:r>
            <a:r>
              <a:rPr lang="en-US" sz="1550" b="1" dirty="0">
                <a:solidFill>
                  <a:srgbClr val="76C043"/>
                </a:solidFill>
                <a:cs typeface="Calibri"/>
              </a:rPr>
              <a:t>Domain</a:t>
            </a:r>
            <a:r>
              <a:rPr lang="en-US" sz="1550" b="1" spc="60" dirty="0">
                <a:solidFill>
                  <a:srgbClr val="76C043"/>
                </a:solidFill>
                <a:cs typeface="Calibri"/>
              </a:rPr>
              <a:t> </a:t>
            </a:r>
            <a:r>
              <a:rPr lang="en-US" sz="1550" b="1" dirty="0">
                <a:solidFill>
                  <a:srgbClr val="76C043"/>
                </a:solidFill>
                <a:cs typeface="Calibri"/>
              </a:rPr>
              <a:t>–</a:t>
            </a:r>
            <a:r>
              <a:rPr lang="en-US" sz="1550" b="1" spc="55" dirty="0">
                <a:solidFill>
                  <a:srgbClr val="76C043"/>
                </a:solidFill>
                <a:cs typeface="Calibri"/>
              </a:rPr>
              <a:t> </a:t>
            </a:r>
            <a:r>
              <a:rPr lang="en-US" sz="1550" dirty="0">
                <a:solidFill>
                  <a:srgbClr val="FFFFFF"/>
                </a:solidFill>
                <a:cs typeface="Calibri"/>
              </a:rPr>
              <a:t>MedTech</a:t>
            </a:r>
            <a:r>
              <a:rPr lang="en-US" sz="1550" spc="45" dirty="0">
                <a:solidFill>
                  <a:srgbClr val="FFFFFF"/>
                </a:solidFill>
                <a:cs typeface="Calibri"/>
              </a:rPr>
              <a:t> </a:t>
            </a:r>
            <a:r>
              <a:rPr lang="en-US" sz="1550" dirty="0">
                <a:solidFill>
                  <a:srgbClr val="FFFFFF"/>
                </a:solidFill>
                <a:cs typeface="Calibri"/>
              </a:rPr>
              <a:t>/</a:t>
            </a:r>
            <a:r>
              <a:rPr lang="en-US" sz="1550" spc="45" dirty="0">
                <a:solidFill>
                  <a:srgbClr val="FFFFFF"/>
                </a:solidFill>
                <a:cs typeface="Calibri"/>
              </a:rPr>
              <a:t> </a:t>
            </a:r>
            <a:r>
              <a:rPr lang="en-US" sz="1550" spc="-10" dirty="0">
                <a:solidFill>
                  <a:srgbClr val="FFFFFF"/>
                </a:solidFill>
                <a:cs typeface="Calibri"/>
              </a:rPr>
              <a:t>HealthTech</a:t>
            </a:r>
            <a:endParaRPr lang="en-US" sz="1550" dirty="0">
              <a:cs typeface="Calibri"/>
            </a:endParaRPr>
          </a:p>
          <a:p>
            <a:pPr marL="279400" marR="5080" indent="-279400">
              <a:lnSpc>
                <a:spcPct val="104900"/>
              </a:lnSpc>
              <a:spcBef>
                <a:spcPts val="825"/>
              </a:spcBef>
              <a:buClr>
                <a:schemeClr val="accent3"/>
              </a:buClr>
              <a:buSzPct val="100000"/>
              <a:buFont typeface="Calibri"/>
              <a:buChar char="•"/>
              <a:tabLst>
                <a:tab pos="241300" algn="l"/>
              </a:tabLst>
            </a:pPr>
            <a:r>
              <a:rPr lang="en-US" sz="1550" b="1" dirty="0">
                <a:solidFill>
                  <a:srgbClr val="76C043"/>
                </a:solidFill>
                <a:cs typeface="Calibri"/>
              </a:rPr>
              <a:t>Problem</a:t>
            </a:r>
            <a:r>
              <a:rPr lang="en-US" sz="1550" b="1" spc="65" dirty="0">
                <a:solidFill>
                  <a:srgbClr val="76C043"/>
                </a:solidFill>
                <a:cs typeface="Calibri"/>
              </a:rPr>
              <a:t> </a:t>
            </a:r>
            <a:r>
              <a:rPr lang="en-US" sz="1550" b="1" dirty="0">
                <a:solidFill>
                  <a:srgbClr val="76C043"/>
                </a:solidFill>
                <a:cs typeface="Calibri"/>
              </a:rPr>
              <a:t>Statement</a:t>
            </a:r>
            <a:r>
              <a:rPr lang="en-US" sz="1550" b="1" spc="130" dirty="0">
                <a:solidFill>
                  <a:srgbClr val="76C043"/>
                </a:solidFill>
                <a:cs typeface="Calibri"/>
              </a:rPr>
              <a:t> </a:t>
            </a:r>
            <a:r>
              <a:rPr lang="en-US" sz="1550" b="1" dirty="0">
                <a:solidFill>
                  <a:srgbClr val="76C043"/>
                </a:solidFill>
                <a:cs typeface="Calibri"/>
              </a:rPr>
              <a:t>–</a:t>
            </a:r>
            <a:r>
              <a:rPr lang="en-US" sz="1550" b="1" spc="85" dirty="0">
                <a:solidFill>
                  <a:srgbClr val="76C043"/>
                </a:solidFill>
                <a:cs typeface="Calibri"/>
              </a:rPr>
              <a:t> </a:t>
            </a:r>
            <a:r>
              <a:rPr lang="en-US" sz="1550" dirty="0">
                <a:solidFill>
                  <a:srgbClr val="FFFFFF"/>
                </a:solidFill>
                <a:cs typeface="Calibri"/>
              </a:rPr>
              <a:t>Identifying</a:t>
            </a:r>
            <a:r>
              <a:rPr lang="en-US" sz="1550" spc="90" dirty="0">
                <a:solidFill>
                  <a:srgbClr val="FFFFFF"/>
                </a:solidFill>
                <a:cs typeface="Calibri"/>
              </a:rPr>
              <a:t> </a:t>
            </a:r>
            <a:r>
              <a:rPr lang="en-US" sz="1550" dirty="0">
                <a:solidFill>
                  <a:srgbClr val="FFFFFF"/>
                </a:solidFill>
                <a:cs typeface="Calibri"/>
              </a:rPr>
              <a:t>a</a:t>
            </a:r>
            <a:r>
              <a:rPr lang="en-US" sz="1550" spc="75" dirty="0">
                <a:solidFill>
                  <a:srgbClr val="FFFFFF"/>
                </a:solidFill>
                <a:cs typeface="Calibri"/>
              </a:rPr>
              <a:t> </a:t>
            </a:r>
            <a:r>
              <a:rPr lang="en-US" sz="1550" dirty="0">
                <a:solidFill>
                  <a:srgbClr val="FFFFFF"/>
                </a:solidFill>
                <a:cs typeface="Calibri"/>
              </a:rPr>
              <a:t>patient</a:t>
            </a:r>
            <a:r>
              <a:rPr lang="en-US" sz="1550" spc="75" dirty="0">
                <a:solidFill>
                  <a:srgbClr val="FFFFFF"/>
                </a:solidFill>
                <a:cs typeface="Calibri"/>
              </a:rPr>
              <a:t> </a:t>
            </a:r>
            <a:r>
              <a:rPr lang="en-US" sz="1550" dirty="0">
                <a:solidFill>
                  <a:srgbClr val="FFFFFF"/>
                </a:solidFill>
                <a:cs typeface="Calibri"/>
              </a:rPr>
              <a:t>when</a:t>
            </a:r>
            <a:r>
              <a:rPr lang="en-US" sz="1550" spc="75" dirty="0">
                <a:solidFill>
                  <a:srgbClr val="FFFFFF"/>
                </a:solidFill>
                <a:cs typeface="Calibri"/>
              </a:rPr>
              <a:t> </a:t>
            </a:r>
            <a:r>
              <a:rPr lang="en-US" sz="1550" dirty="0">
                <a:solidFill>
                  <a:srgbClr val="FFFFFF"/>
                </a:solidFill>
                <a:cs typeface="Calibri"/>
              </a:rPr>
              <a:t>they</a:t>
            </a:r>
            <a:r>
              <a:rPr lang="en-US" sz="1550" spc="125" dirty="0">
                <a:solidFill>
                  <a:srgbClr val="FFFFFF"/>
                </a:solidFill>
                <a:cs typeface="Calibri"/>
              </a:rPr>
              <a:t> </a:t>
            </a:r>
            <a:r>
              <a:rPr lang="en-US" sz="1550" dirty="0">
                <a:solidFill>
                  <a:srgbClr val="FFFFFF"/>
                </a:solidFill>
                <a:cs typeface="Calibri"/>
              </a:rPr>
              <a:t>cannot</a:t>
            </a:r>
            <a:r>
              <a:rPr lang="en-US" sz="1550" spc="80" dirty="0">
                <a:solidFill>
                  <a:srgbClr val="FFFFFF"/>
                </a:solidFill>
                <a:cs typeface="Calibri"/>
              </a:rPr>
              <a:t> </a:t>
            </a:r>
            <a:r>
              <a:rPr lang="en-US" sz="1550" spc="-10" dirty="0">
                <a:solidFill>
                  <a:srgbClr val="FFFFFF"/>
                </a:solidFill>
                <a:cs typeface="Calibri"/>
              </a:rPr>
              <a:t>identify </a:t>
            </a:r>
            <a:r>
              <a:rPr lang="en-US" sz="1550" dirty="0">
                <a:solidFill>
                  <a:srgbClr val="FFFFFF"/>
                </a:solidFill>
                <a:cs typeface="Calibri"/>
              </a:rPr>
              <a:t>themselves,</a:t>
            </a:r>
            <a:r>
              <a:rPr lang="en-US" sz="1550" spc="85" dirty="0">
                <a:solidFill>
                  <a:srgbClr val="FFFFFF"/>
                </a:solidFill>
                <a:cs typeface="Calibri"/>
              </a:rPr>
              <a:t> </a:t>
            </a:r>
            <a:r>
              <a:rPr lang="en-US" sz="1550" dirty="0">
                <a:solidFill>
                  <a:srgbClr val="FFFFFF"/>
                </a:solidFill>
                <a:cs typeface="Calibri"/>
              </a:rPr>
              <a:t>and</a:t>
            </a:r>
            <a:r>
              <a:rPr lang="en-US" sz="1550" spc="110" dirty="0">
                <a:solidFill>
                  <a:srgbClr val="FFFFFF"/>
                </a:solidFill>
                <a:cs typeface="Calibri"/>
              </a:rPr>
              <a:t> </a:t>
            </a:r>
            <a:r>
              <a:rPr lang="en-US" sz="1550" dirty="0">
                <a:solidFill>
                  <a:srgbClr val="FFFFFF"/>
                </a:solidFill>
                <a:cs typeface="Calibri"/>
              </a:rPr>
              <a:t>accessing</a:t>
            </a:r>
            <a:r>
              <a:rPr lang="en-US" sz="1550" spc="120" dirty="0">
                <a:solidFill>
                  <a:srgbClr val="FFFFFF"/>
                </a:solidFill>
                <a:cs typeface="Calibri"/>
              </a:rPr>
              <a:t> </a:t>
            </a:r>
            <a:r>
              <a:rPr lang="en-US" sz="1550" dirty="0">
                <a:solidFill>
                  <a:srgbClr val="FFFFFF"/>
                </a:solidFill>
                <a:cs typeface="Calibri"/>
              </a:rPr>
              <a:t>reliable</a:t>
            </a:r>
            <a:r>
              <a:rPr lang="en-US" sz="1550" spc="65" dirty="0">
                <a:solidFill>
                  <a:srgbClr val="FFFFFF"/>
                </a:solidFill>
                <a:cs typeface="Calibri"/>
              </a:rPr>
              <a:t> </a:t>
            </a:r>
            <a:r>
              <a:rPr lang="en-US" sz="1550" dirty="0">
                <a:solidFill>
                  <a:srgbClr val="FFFFFF"/>
                </a:solidFill>
                <a:cs typeface="Calibri"/>
              </a:rPr>
              <a:t>medical</a:t>
            </a:r>
            <a:r>
              <a:rPr lang="en-US" sz="1550" spc="135" dirty="0">
                <a:solidFill>
                  <a:srgbClr val="FFFFFF"/>
                </a:solidFill>
                <a:cs typeface="Calibri"/>
              </a:rPr>
              <a:t> </a:t>
            </a:r>
            <a:r>
              <a:rPr lang="en-US" sz="1550" dirty="0">
                <a:solidFill>
                  <a:srgbClr val="FFFFFF"/>
                </a:solidFill>
                <a:cs typeface="Calibri"/>
              </a:rPr>
              <a:t>information</a:t>
            </a:r>
            <a:r>
              <a:rPr lang="en-US" sz="1550" spc="105" dirty="0">
                <a:solidFill>
                  <a:srgbClr val="FFFFFF"/>
                </a:solidFill>
                <a:cs typeface="Calibri"/>
              </a:rPr>
              <a:t> </a:t>
            </a:r>
            <a:r>
              <a:rPr lang="en-US" sz="1550" dirty="0">
                <a:solidFill>
                  <a:srgbClr val="FFFFFF"/>
                </a:solidFill>
                <a:cs typeface="Calibri"/>
              </a:rPr>
              <a:t>when</a:t>
            </a:r>
            <a:r>
              <a:rPr lang="en-US" sz="1550" spc="110" dirty="0">
                <a:solidFill>
                  <a:srgbClr val="FFFFFF"/>
                </a:solidFill>
                <a:cs typeface="Calibri"/>
              </a:rPr>
              <a:t> </a:t>
            </a:r>
            <a:r>
              <a:rPr lang="en-US" sz="1550" dirty="0">
                <a:solidFill>
                  <a:srgbClr val="FFFFFF"/>
                </a:solidFill>
                <a:cs typeface="Calibri"/>
              </a:rPr>
              <a:t>it</a:t>
            </a:r>
            <a:r>
              <a:rPr lang="en-US" sz="1550" spc="110" dirty="0">
                <a:solidFill>
                  <a:srgbClr val="FFFFFF"/>
                </a:solidFill>
                <a:cs typeface="Calibri"/>
              </a:rPr>
              <a:t> </a:t>
            </a:r>
            <a:r>
              <a:rPr lang="en-US" sz="1550" dirty="0">
                <a:solidFill>
                  <a:srgbClr val="FFFFFF"/>
                </a:solidFill>
                <a:cs typeface="Calibri"/>
              </a:rPr>
              <a:t>is</a:t>
            </a:r>
            <a:r>
              <a:rPr lang="en-US" sz="1550" spc="95" dirty="0">
                <a:solidFill>
                  <a:srgbClr val="FFFFFF"/>
                </a:solidFill>
                <a:cs typeface="Calibri"/>
              </a:rPr>
              <a:t> </a:t>
            </a:r>
            <a:r>
              <a:rPr lang="en-US" sz="1550" spc="-10" dirty="0">
                <a:solidFill>
                  <a:srgbClr val="FFFFFF"/>
                </a:solidFill>
                <a:cs typeface="Calibri"/>
              </a:rPr>
              <a:t>needed </a:t>
            </a:r>
            <a:r>
              <a:rPr sz="1500" dirty="0"/>
              <a:t>access available medical history during emergencies, even with limited connectivity.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A12B51-C834-D51F-C973-C5F36D79282C}"/>
              </a:ext>
            </a:extLst>
          </p:cNvPr>
          <p:cNvSpPr txBox="1"/>
          <p:nvPr/>
        </p:nvSpPr>
        <p:spPr>
          <a:xfrm>
            <a:off x="454855" y="2616517"/>
            <a:ext cx="203629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28930">
              <a:lnSpc>
                <a:spcPct val="100000"/>
              </a:lnSpc>
              <a:spcBef>
                <a:spcPts val="100"/>
              </a:spcBef>
            </a:pPr>
            <a:r>
              <a:rPr lang="pt-BR" sz="1200" b="1" dirty="0">
                <a:solidFill>
                  <a:srgbClr val="FFFFFF"/>
                </a:solidFill>
                <a:cs typeface="Calibri"/>
              </a:rPr>
              <a:t>T</a:t>
            </a:r>
            <a:r>
              <a:rPr lang="pt-BR" sz="1200" b="1" spc="25" dirty="0">
                <a:solidFill>
                  <a:srgbClr val="FFFFFF"/>
                </a:solidFill>
                <a:cs typeface="Calibri"/>
              </a:rPr>
              <a:t> </a:t>
            </a:r>
            <a:r>
              <a:rPr lang="pt-BR" sz="1200" b="1" dirty="0">
                <a:solidFill>
                  <a:srgbClr val="FFFFFF"/>
                </a:solidFill>
                <a:cs typeface="Calibri"/>
              </a:rPr>
              <a:t>E</a:t>
            </a:r>
            <a:r>
              <a:rPr lang="pt-BR" sz="1200" b="1" spc="-40" dirty="0">
                <a:solidFill>
                  <a:srgbClr val="FFFFFF"/>
                </a:solidFill>
                <a:cs typeface="Calibri"/>
              </a:rPr>
              <a:t> </a:t>
            </a:r>
            <a:r>
              <a:rPr lang="pt-BR" sz="1200" b="1" dirty="0">
                <a:solidFill>
                  <a:srgbClr val="FFFFFF"/>
                </a:solidFill>
                <a:cs typeface="Calibri"/>
              </a:rPr>
              <a:t>A</a:t>
            </a:r>
            <a:r>
              <a:rPr lang="pt-BR" sz="1200" b="1" spc="45" dirty="0">
                <a:solidFill>
                  <a:srgbClr val="FFFFFF"/>
                </a:solidFill>
                <a:cs typeface="Calibri"/>
              </a:rPr>
              <a:t> </a:t>
            </a:r>
            <a:r>
              <a:rPr lang="pt-BR" sz="1200" b="1" dirty="0">
                <a:solidFill>
                  <a:srgbClr val="FFFFFF"/>
                </a:solidFill>
                <a:cs typeface="Calibri"/>
              </a:rPr>
              <a:t>M</a:t>
            </a:r>
            <a:r>
              <a:rPr lang="pt-BR" sz="1200" b="1" spc="245" dirty="0">
                <a:solidFill>
                  <a:srgbClr val="FFFFFF"/>
                </a:solidFill>
                <a:cs typeface="Calibri"/>
              </a:rPr>
              <a:t> </a:t>
            </a:r>
            <a:r>
              <a:rPr lang="pt-BR" sz="1200" b="1" dirty="0">
                <a:solidFill>
                  <a:srgbClr val="FFFFFF"/>
                </a:solidFill>
                <a:cs typeface="Calibri"/>
              </a:rPr>
              <a:t>&amp;</a:t>
            </a:r>
            <a:r>
              <a:rPr lang="pt-BR" sz="1200" b="1" spc="295" dirty="0">
                <a:solidFill>
                  <a:srgbClr val="FFFFFF"/>
                </a:solidFill>
                <a:cs typeface="Calibri"/>
              </a:rPr>
              <a:t> </a:t>
            </a:r>
            <a:r>
              <a:rPr lang="pt-BR" sz="1200" b="1" dirty="0">
                <a:solidFill>
                  <a:srgbClr val="FFFFFF"/>
                </a:solidFill>
                <a:cs typeface="Calibri"/>
              </a:rPr>
              <a:t>D</a:t>
            </a:r>
            <a:r>
              <a:rPr lang="pt-BR" sz="1200" b="1" spc="-55" dirty="0">
                <a:solidFill>
                  <a:srgbClr val="FFFFFF"/>
                </a:solidFill>
                <a:cs typeface="Calibri"/>
              </a:rPr>
              <a:t> </a:t>
            </a:r>
            <a:r>
              <a:rPr lang="pt-BR" sz="1200" b="1" dirty="0">
                <a:solidFill>
                  <a:srgbClr val="FFFFFF"/>
                </a:solidFill>
                <a:cs typeface="Calibri"/>
              </a:rPr>
              <a:t>O</a:t>
            </a:r>
            <a:r>
              <a:rPr lang="pt-BR" sz="1200" b="1" spc="30" dirty="0">
                <a:solidFill>
                  <a:srgbClr val="FFFFFF"/>
                </a:solidFill>
                <a:cs typeface="Calibri"/>
              </a:rPr>
              <a:t> </a:t>
            </a:r>
            <a:r>
              <a:rPr lang="pt-BR" sz="1200" b="1" dirty="0">
                <a:solidFill>
                  <a:srgbClr val="FFFFFF"/>
                </a:solidFill>
                <a:cs typeface="Calibri"/>
              </a:rPr>
              <a:t>M</a:t>
            </a:r>
            <a:r>
              <a:rPr lang="pt-BR" sz="1200" b="1" spc="25" dirty="0">
                <a:solidFill>
                  <a:srgbClr val="FFFFFF"/>
                </a:solidFill>
                <a:cs typeface="Calibri"/>
              </a:rPr>
              <a:t> </a:t>
            </a:r>
            <a:r>
              <a:rPr lang="pt-BR" sz="1200" b="1" dirty="0">
                <a:solidFill>
                  <a:srgbClr val="FFFFFF"/>
                </a:solidFill>
                <a:cs typeface="Calibri"/>
              </a:rPr>
              <a:t>A</a:t>
            </a:r>
            <a:r>
              <a:rPr lang="pt-BR" sz="1200" b="1" spc="-35" dirty="0">
                <a:solidFill>
                  <a:srgbClr val="FFFFFF"/>
                </a:solidFill>
                <a:cs typeface="Calibri"/>
              </a:rPr>
              <a:t> </a:t>
            </a:r>
            <a:r>
              <a:rPr lang="pt-BR" sz="1200" b="1" dirty="0">
                <a:solidFill>
                  <a:srgbClr val="FFFFFF"/>
                </a:solidFill>
                <a:cs typeface="Calibri"/>
              </a:rPr>
              <a:t>I</a:t>
            </a:r>
            <a:r>
              <a:rPr lang="pt-BR" sz="1200" b="1" spc="5" dirty="0">
                <a:solidFill>
                  <a:srgbClr val="FFFFFF"/>
                </a:solidFill>
                <a:cs typeface="Calibri"/>
              </a:rPr>
              <a:t> </a:t>
            </a:r>
            <a:r>
              <a:rPr lang="pt-BR" sz="1200" b="1" spc="-50" dirty="0">
                <a:solidFill>
                  <a:srgbClr val="FFFFFF"/>
                </a:solidFill>
                <a:cs typeface="Calibri"/>
              </a:rPr>
              <a:t>N</a:t>
            </a:r>
            <a:endParaRPr lang="pt-BR" sz="1200" dirty="0">
              <a:cs typeface="Calibri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lang="pt-BR" dirty="0">
              <a:cs typeface="Calibri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sz="2300" b="1">
                <a:latin typeface="Cambria"/>
              </a:rPr>
              <a:t>THE PROBLEM IN OUR WORDS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sz="1300" b="1"/>
              <a:t>TEAM</a:t>
            </a:r>
            <a:endParaRPr lang="en-US" sz="900" dirty="0"/>
          </a:p>
          <a:p>
            <a:pPr>
              <a:spcAft>
                <a:spcPts val="300"/>
              </a:spcAft>
            </a:pPr>
            <a:r>
              <a:rPr sz="1300" b="1"/>
              <a:t>TEAM PR</a:t>
            </a:r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sz="1600" b="1"/>
              <a:t>Two connected challenges: identifying a patient who cannot communicate, and finding reliable medical information when it matters.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sz="1300"/>
              <a:t>WHAT NEEDS TO BE SOLVED?</a:t>
            </a:r>
            <a:endParaRPr lang="en-US" sz="1800" dirty="0"/>
          </a:p>
          <a:p>
            <a:pPr>
              <a:spcAft>
                <a:spcPts val="300"/>
              </a:spcAft>
            </a:pPr>
            <a:r>
              <a:rPr sz="1300"/>
              <a:t>• Help authorized rural healthcare workers verify a possible patient identity and access relevant, available medical history.</a:t>
            </a:r>
          </a:p>
          <a:p>
            <a:pPr>
              <a:spcAft>
                <a:spcPts val="300"/>
              </a:spcAft>
            </a:pPr>
            <a:r>
              <a:rPr sz="1300"/>
              <a:t>• Support emergencies when a patient is unconscious, has no documents, or cannot explain their medical background.</a:t>
            </a:r>
          </a:p>
          <a:p>
            <a:pPr>
              <a:spcAft>
                <a:spcPts val="300"/>
              </a:spcAft>
            </a:pPr>
            <a:endParaRPr sz="1300"/>
          </a:p>
          <a:p>
            <a:pPr>
              <a:spcAft>
                <a:spcPts val="300"/>
              </a:spcAft>
            </a:pPr>
            <a:r>
              <a:rPr sz="1300"/>
              <a:t>WHY NOW?</a:t>
            </a:r>
          </a:p>
          <a:p>
            <a:pPr>
              <a:spcAft>
                <a:spcPts val="300"/>
              </a:spcAft>
            </a:pPr>
            <a:r>
              <a:rPr sz="1300"/>
              <a:t>• Patients visit multiple facilities, but records may not be available at every point of care.</a:t>
            </a:r>
          </a:p>
          <a:p>
            <a:pPr>
              <a:spcAft>
                <a:spcPts val="300"/>
              </a:spcAft>
            </a:pPr>
            <a:r>
              <a:rPr sz="1300"/>
              <a:t>• Poor connectivity and fragmented systems make continuity of care difficult.</a:t>
            </a:r>
          </a:p>
          <a:p>
            <a:pPr>
              <a:spcAft>
                <a:spcPts val="300"/>
              </a:spcAft>
            </a:pPr>
            <a:r>
              <a:rPr sz="1300"/>
              <a:t>• Make available information easier to find without bypassing privacy or authorization.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sz="2300" b="1">
                <a:latin typeface="Cambria"/>
              </a:rPr>
              <a:t>WHO IS AFFECTED?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sz="1300" b="1"/>
              <a:t>TEAM</a:t>
            </a:r>
            <a:endParaRPr lang="en-US" sz="900" dirty="0"/>
          </a:p>
          <a:p>
            <a:pPr>
              <a:spcAft>
                <a:spcPts val="300"/>
              </a:spcAft>
            </a:pPr>
            <a:r>
              <a:rPr sz="1300" b="1"/>
              <a:t>TEAM PR</a:t>
            </a:r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sz="1600" b="1"/>
              <a:t>Patients, frontline healthcare workers, and facilities that need dependable information during urgent care.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sz="1300"/>
              <a:t>PRIMARY USERS</a:t>
            </a:r>
            <a:endParaRPr lang="en-US" sz="1800" dirty="0"/>
          </a:p>
          <a:p>
            <a:pPr>
              <a:spcAft>
                <a:spcPts val="300"/>
              </a:spcAft>
            </a:pPr>
            <a:r>
              <a:rPr sz="1300"/>
              <a:t>• Rural patients; older adults; people managing diabetes or hypertension.</a:t>
            </a:r>
          </a:p>
          <a:p>
            <a:pPr>
              <a:spcAft>
                <a:spcPts val="300"/>
              </a:spcAft>
            </a:pPr>
            <a:r>
              <a:rPr sz="1300"/>
              <a:t>• Patients arriving unconscious or unable to communicate.</a:t>
            </a:r>
          </a:p>
          <a:p>
            <a:pPr>
              <a:spcAft>
                <a:spcPts val="300"/>
              </a:spcAft>
            </a:pPr>
            <a:endParaRPr sz="1300"/>
          </a:p>
          <a:p>
            <a:pPr>
              <a:spcAft>
                <a:spcPts val="300"/>
              </a:spcAft>
            </a:pPr>
            <a:r>
              <a:rPr sz="1300"/>
              <a:t>SECONDARY STAKEHOLDERS</a:t>
            </a:r>
          </a:p>
          <a:p>
            <a:pPr>
              <a:spcAft>
                <a:spcPts val="300"/>
              </a:spcAft>
            </a:pPr>
            <a:r>
              <a:rPr sz="1300"/>
              <a:t>• Doctors, nurses, PHC staff, hospitals, and community health workers.</a:t>
            </a:r>
          </a:p>
          <a:p>
            <a:pPr>
              <a:spcAft>
                <a:spcPts val="300"/>
              </a:spcAft>
            </a:pPr>
            <a:r>
              <a:rPr sz="1300"/>
              <a:t>• Facilities with unreliable internet or separate record systems.</a:t>
            </a:r>
          </a:p>
          <a:p>
            <a:pPr>
              <a:spcAft>
                <a:spcPts val="300"/>
              </a:spcAft>
            </a:pPr>
            <a:endParaRPr sz="1300"/>
          </a:p>
          <a:p>
            <a:pPr>
              <a:spcAft>
                <a:spcPts val="300"/>
              </a:spcAft>
            </a:pPr>
            <a:r>
              <a:rPr sz="1300"/>
              <a:t>WHO BENEFITS?</a:t>
            </a:r>
          </a:p>
          <a:p>
            <a:pPr>
              <a:spcAft>
                <a:spcPts val="300"/>
              </a:spcAft>
            </a:pPr>
            <a:r>
              <a:rPr sz="1300"/>
              <a:t>• Healthcare workers: more organized identification and less repeated information collection.</a:t>
            </a:r>
          </a:p>
          <a:p>
            <a:pPr>
              <a:spcAft>
                <a:spcPts val="300"/>
              </a:spcAft>
            </a:pPr>
            <a:r>
              <a:rPr sz="1300"/>
              <a:t>• Patients: better continuity of care and easier access to documented history when available.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sz="2300" b="1">
                <a:latin typeface="Cambria"/>
              </a:rPr>
              <a:t>CURRENT SITUATION &amp; CONTEXT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sz="1300" b="1"/>
              <a:t>TEAM</a:t>
            </a:r>
            <a:endParaRPr lang="en-US" sz="900" dirty="0"/>
          </a:p>
          <a:p>
            <a:pPr>
              <a:spcAft>
                <a:spcPts val="300"/>
              </a:spcAft>
            </a:pPr>
            <a:r>
              <a:rPr sz="1300" b="1"/>
              <a:t>TEAM PR</a:t>
            </a:r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sz="1600" b="1"/>
              <a:t>Patient information may be spread across paper files, separate facility systems, and digital services.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sz="1300"/>
              <a:t>REAL-WORLD SCENARIO</a:t>
            </a:r>
            <a:endParaRPr lang="en-US" sz="1800" dirty="0"/>
          </a:p>
          <a:p>
            <a:pPr>
              <a:spcAft>
                <a:spcPts val="300"/>
              </a:spcAft>
            </a:pPr>
            <a:r>
              <a:rPr sz="1300"/>
              <a:t>An elderly man who regularly visits a village PHC for blood-pressure medication is taken to another hospital after an accident. He cannot communicate, his family has not arrived, and no medical documents are available.</a:t>
            </a:r>
          </a:p>
          <a:p>
            <a:pPr>
              <a:spcAft>
                <a:spcPts val="300"/>
              </a:spcAft>
            </a:pPr>
            <a:endParaRPr sz="1300"/>
          </a:p>
          <a:p>
            <a:pPr>
              <a:spcAft>
                <a:spcPts val="300"/>
              </a:spcAft>
            </a:pPr>
            <a:r>
              <a:rPr sz="1300"/>
              <a:t>CURRENT WORKFLOW / GAPS</a:t>
            </a:r>
          </a:p>
          <a:p>
            <a:pPr>
              <a:spcAft>
                <a:spcPts val="300"/>
              </a:spcAft>
            </a:pPr>
            <a:r>
              <a:rPr sz="1300"/>
              <a:t>• Staff try to establish identity and collect history from the patient or family.</a:t>
            </a:r>
          </a:p>
          <a:p>
            <a:pPr>
              <a:spcAft>
                <a:spcPts val="300"/>
              </a:spcAft>
            </a:pPr>
            <a:r>
              <a:rPr sz="1300"/>
              <a:t>• Paper records may be lost; separate systems may not connect.</a:t>
            </a:r>
          </a:p>
          <a:p>
            <a:pPr>
              <a:spcAft>
                <a:spcPts val="300"/>
              </a:spcAft>
            </a:pPr>
            <a:r>
              <a:rPr sz="1300"/>
              <a:t>• Internet may be unavailable, and staff may not retrieve earlier records quickly.</a:t>
            </a:r>
          </a:p>
          <a:p>
            <a:pPr>
              <a:spcAft>
                <a:spcPts val="300"/>
              </a:spcAft>
            </a:pPr>
            <a:endParaRPr sz="1300"/>
          </a:p>
          <a:p>
            <a:pPr>
              <a:spcAft>
                <a:spcPts val="300"/>
              </a:spcAft>
            </a:pPr>
            <a:r>
              <a:rPr sz="1300"/>
              <a:t>CONTEXT</a:t>
            </a:r>
          </a:p>
          <a:p>
            <a:pPr>
              <a:spcAft>
                <a:spcPts val="300"/>
              </a:spcAft>
            </a:pPr>
            <a:r>
              <a:rPr sz="1300"/>
              <a:t>ABDM/ABHA supports digital health identity and record sharing; access still depends on availability, permissions, and practical workflows.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sz="2300" b="1">
                <a:latin typeface="Cambria"/>
              </a:rPr>
              <a:t>KEY CHALLENGES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sz="1300" b="1"/>
              <a:t>TEAM</a:t>
            </a:r>
            <a:endParaRPr lang="en-US" sz="900" dirty="0"/>
          </a:p>
          <a:p>
            <a:pPr>
              <a:spcAft>
                <a:spcPts val="300"/>
              </a:spcAft>
            </a:pPr>
            <a:r>
              <a:rPr sz="1300" b="1"/>
              <a:t>TEAM PR</a:t>
            </a:r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sz="1600" b="1"/>
              <a:t>The problem is not just finding a record—it is doing so safely when identity or connectivity is uncertain.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sz="1300"/>
              <a:t>MAIN BOTTLENECKS</a:t>
            </a:r>
            <a:endParaRPr lang="en-US" sz="1800" dirty="0"/>
          </a:p>
          <a:p>
            <a:pPr>
              <a:spcAft>
                <a:spcPts val="300"/>
              </a:spcAft>
            </a:pPr>
            <a:r>
              <a:rPr sz="1300"/>
              <a:t>• Patient cannot provide a name, history, or ID documents.</a:t>
            </a:r>
          </a:p>
          <a:p>
            <a:pPr>
              <a:spcAft>
                <a:spcPts val="300"/>
              </a:spcAft>
            </a:pPr>
            <a:r>
              <a:rPr sz="1300"/>
              <a:t>• Records are fragmented and may be out of date or unavailable.</a:t>
            </a:r>
          </a:p>
          <a:p>
            <a:pPr>
              <a:spcAft>
                <a:spcPts val="300"/>
              </a:spcAft>
            </a:pPr>
            <a:r>
              <a:rPr sz="1300"/>
              <a:t>• Rural connectivity can fail during a consultation.</a:t>
            </a:r>
          </a:p>
          <a:p>
            <a:pPr>
              <a:spcAft>
                <a:spcPts val="300"/>
              </a:spcAft>
            </a:pPr>
            <a:r>
              <a:rPr sz="1300"/>
              <a:t>• Face or fingerprint capture may be unreliable due to injury or capture conditions.</a:t>
            </a:r>
          </a:p>
          <a:p>
            <a:pPr>
              <a:spcAft>
                <a:spcPts val="300"/>
              </a:spcAft>
            </a:pPr>
            <a:endParaRPr sz="1300"/>
          </a:p>
          <a:p>
            <a:pPr>
              <a:spcAft>
                <a:spcPts val="300"/>
              </a:spcAft>
            </a:pPr>
            <a:r>
              <a:rPr sz="1300"/>
              <a:t>ROOT CAUSES</a:t>
            </a:r>
          </a:p>
          <a:p>
            <a:pPr>
              <a:spcAft>
                <a:spcPts val="300"/>
              </a:spcAft>
            </a:pPr>
            <a:r>
              <a:rPr sz="1300"/>
              <a:t>• Uneven infrastructure, varied digital literacy, and complex authorization needs.</a:t>
            </a:r>
          </a:p>
          <a:p>
            <a:pPr>
              <a:spcAft>
                <a:spcPts val="300"/>
              </a:spcAft>
            </a:pPr>
            <a:endParaRPr sz="1300"/>
          </a:p>
          <a:p>
            <a:pPr>
              <a:spcAft>
                <a:spcPts val="300"/>
              </a:spcAft>
            </a:pPr>
            <a:r>
              <a:rPr sz="1300"/>
              <a:t>IF LEFT UNSOLVED</a:t>
            </a:r>
          </a:p>
          <a:p>
            <a:pPr>
              <a:spcAft>
                <a:spcPts val="300"/>
              </a:spcAft>
            </a:pPr>
            <a:r>
              <a:rPr sz="1300"/>
              <a:t>• Relevant documented history may be missed; staff repeat searches.</a:t>
            </a:r>
          </a:p>
          <a:p>
            <a:pPr>
              <a:spcAft>
                <a:spcPts val="300"/>
              </a:spcAft>
            </a:pPr>
            <a:r>
              <a:rPr sz="1300"/>
              <a:t>• Emergency decisions may be made with less information, potentially causing delays.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sz="2300" b="1">
                <a:latin typeface="Cambria"/>
              </a:rPr>
              <a:t>EXISTING SOLUTIONS / APPROACHES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sz="1300" b="1"/>
              <a:t>TEAM</a:t>
            </a:r>
            <a:endParaRPr lang="en-US" sz="900" dirty="0"/>
          </a:p>
          <a:p>
            <a:pPr>
              <a:spcAft>
                <a:spcPts val="300"/>
              </a:spcAft>
            </a:pPr>
            <a:r>
              <a:rPr sz="1300" b="1"/>
              <a:t>TEAM PR</a:t>
            </a:r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sz="1600" b="1"/>
              <a:t>Existing systems help with digital identity and records, but do not remove every emergency-access barrier.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sz="1300"/>
              <a:t>CURRENT APPROACHES &amp; LIMITATIONS</a:t>
            </a:r>
            <a:endParaRPr lang="en-US" sz="1800" dirty="0"/>
          </a:p>
          <a:p>
            <a:pPr>
              <a:spcAft>
                <a:spcPts val="300"/>
              </a:spcAft>
            </a:pPr>
            <a:r>
              <a:rPr sz="1300"/>
              <a:t>• Paper files / patient-carried documents: may be missing, damaged, or unavailable.</a:t>
            </a:r>
          </a:p>
          <a:p>
            <a:pPr>
              <a:spcAft>
                <a:spcPts val="300"/>
              </a:spcAft>
            </a:pPr>
            <a:r>
              <a:rPr sz="1300"/>
              <a:t>• Separate facility systems: information may not transfer easily.</a:t>
            </a:r>
          </a:p>
          <a:p>
            <a:pPr>
              <a:spcAft>
                <a:spcPts val="300"/>
              </a:spcAft>
            </a:pPr>
            <a:r>
              <a:rPr sz="1300"/>
              <a:t>• ABDM / ABHA: supports digital health identity and sharing, but records and connectivity must be available and access authorized.</a:t>
            </a:r>
          </a:p>
          <a:p>
            <a:pPr>
              <a:spcAft>
                <a:spcPts val="300"/>
              </a:spcAft>
            </a:pPr>
            <a:r>
              <a:rPr sz="1300"/>
              <a:t>• UIDAI face authentication: consent-based 1:1 verification; it is not a tool for searching an unknown person's identity across a database.</a:t>
            </a:r>
          </a:p>
          <a:p>
            <a:pPr>
              <a:spcAft>
                <a:spcPts val="300"/>
              </a:spcAft>
            </a:pPr>
            <a:endParaRPr sz="1300"/>
          </a:p>
          <a:p>
            <a:pPr>
              <a:spcAft>
                <a:spcPts val="300"/>
              </a:spcAft>
            </a:pPr>
            <a:r>
              <a:rPr sz="1300"/>
              <a:t>THE GAP</a:t>
            </a:r>
          </a:p>
          <a:p>
            <a:pPr>
              <a:spcAft>
                <a:spcPts val="300"/>
              </a:spcAft>
            </a:pPr>
            <a:r>
              <a:rPr sz="1300"/>
              <a:t>A simple offline-first emergency workflow that handles possible matches carefully, surfaces available critical information, and records access—without claiming unauthorized integrations.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sz="2300" b="1">
                <a:latin typeface="Cambria"/>
              </a:rPr>
              <a:t>PROBLEM INSIGHTS &amp; OPPORTUNITY AREAS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sz="1300" b="1"/>
              <a:t>TEAM</a:t>
            </a:r>
            <a:endParaRPr lang="en-US" sz="900" dirty="0"/>
          </a:p>
          <a:p>
            <a:pPr>
              <a:spcAft>
                <a:spcPts val="300"/>
              </a:spcAft>
            </a:pPr>
            <a:r>
              <a:rPr sz="1300" b="1"/>
              <a:t>TEAM PR</a:t>
            </a:r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sz="1600" b="1"/>
              <a:t>Resources for a realistic, privacy-conscious prototype focused on emergency workflows.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sz="1300"/>
              <a:t>HARDWARE</a:t>
            </a:r>
            <a:endParaRPr lang="en-US" sz="1800" dirty="0"/>
          </a:p>
          <a:p>
            <a:pPr>
              <a:spcAft>
                <a:spcPts val="300"/>
              </a:spcAft>
            </a:pPr>
            <a:r>
              <a:rPr sz="1300"/>
              <a:t>• Tablet or phone with camera; optional fingerprint scanner where supported.</a:t>
            </a:r>
          </a:p>
          <a:p>
            <a:pPr>
              <a:spcAft>
                <a:spcPts val="300"/>
              </a:spcAft>
            </a:pPr>
            <a:r>
              <a:rPr sz="1300"/>
              <a:t>• Device storage for securely cached demo records.</a:t>
            </a:r>
          </a:p>
          <a:p>
            <a:pPr>
              <a:spcAft>
                <a:spcPts val="300"/>
              </a:spcAft>
            </a:pPr>
            <a:endParaRPr sz="1300"/>
          </a:p>
          <a:p>
            <a:pPr>
              <a:spcAft>
                <a:spcPts val="300"/>
              </a:spcAft>
            </a:pPr>
            <a:r>
              <a:rPr sz="1300"/>
              <a:t>SOFTWARE</a:t>
            </a:r>
          </a:p>
          <a:p>
            <a:pPr>
              <a:spcAft>
                <a:spcPts val="300"/>
              </a:spcAft>
            </a:pPr>
            <a:r>
              <a:rPr sz="1300"/>
              <a:t>• Offline-first app with sync when connectivity returns.</a:t>
            </a:r>
          </a:p>
          <a:p>
            <a:pPr>
              <a:spcAft>
                <a:spcPts val="300"/>
              </a:spcAft>
            </a:pPr>
            <a:r>
              <a:rPr sz="1300"/>
              <a:t>• Simulated biometric matching against fictional, previously enrolled profiles.</a:t>
            </a:r>
          </a:p>
          <a:p>
            <a:pPr>
              <a:spcAft>
                <a:spcPts val="300"/>
              </a:spcAft>
            </a:pPr>
            <a:r>
              <a:rPr sz="1300"/>
              <a:t>• Concise summary: allergies, current medicines, major conditions, recent results.</a:t>
            </a:r>
          </a:p>
          <a:p>
            <a:pPr>
              <a:spcAft>
                <a:spcPts val="300"/>
              </a:spcAft>
            </a:pPr>
            <a:r>
              <a:rPr sz="1300"/>
              <a:t>• Regional-language / voice guidance, emergency registration, access logs, and audit trail.</a:t>
            </a:r>
          </a:p>
          <a:p>
            <a:pPr>
              <a:spcAft>
                <a:spcPts val="300"/>
              </a:spcAft>
            </a:pPr>
            <a:endParaRPr sz="1300"/>
          </a:p>
          <a:p>
            <a:pPr>
              <a:spcAft>
                <a:spcPts val="300"/>
              </a:spcAft>
            </a:pPr>
            <a:r>
              <a:rPr sz="1300"/>
              <a:t>OTHER RESOURCES</a:t>
            </a:r>
          </a:p>
          <a:p>
            <a:pPr>
              <a:spcAft>
                <a:spcPts val="300"/>
              </a:spcAft>
            </a:pPr>
            <a:r>
              <a:rPr sz="1300"/>
              <a:t>• Fictional patient records; team of four; healthcare-worker feedback where possible.</a:t>
            </a:r>
          </a:p>
          <a:p>
            <a:pPr>
              <a:spcAft>
                <a:spcPts val="300"/>
              </a:spcAft>
            </a:pPr>
            <a:r>
              <a:rPr sz="1300"/>
              <a:t>• Follow applicable ABDM / UIDAI guidance. A biometric match alone must never grant medical-record access.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sz="2300" b="1">
                <a:latin typeface="Cambria"/>
              </a:rPr>
              <a:t>INITIAL DIRECTION &amp; EXPECTED OUTCOME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sz="1300" b="1"/>
              <a:t>TEAM</a:t>
            </a:r>
            <a:endParaRPr lang="en-US" sz="900" dirty="0"/>
          </a:p>
          <a:p>
            <a:pPr>
              <a:spcAft>
                <a:spcPts val="300"/>
              </a:spcAft>
            </a:pPr>
            <a:r>
              <a:rPr sz="1300" b="1"/>
              <a:t>TEAM PR</a:t>
            </a:r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sz="1600" b="1"/>
              <a:t>Build a demonstrable workflow—not a claim of national-scale integration or guaranteed patient identification.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sz="1300"/>
              <a:t>WHAT WE INTEND TO BUILD</a:t>
            </a:r>
            <a:endParaRPr lang="en-US" sz="1800" dirty="0"/>
          </a:p>
          <a:p>
            <a:pPr>
              <a:spcAft>
                <a:spcPts val="300"/>
              </a:spcAft>
            </a:pPr>
            <a:r>
              <a:rPr sz="1300"/>
              <a:t>• Software prototype using fictional records and simulated biometric matching.</a:t>
            </a:r>
          </a:p>
          <a:p>
            <a:pPr>
              <a:spcAft>
                <a:spcPts val="300"/>
              </a:spcAft>
            </a:pPr>
            <a:r>
              <a:rPr sz="1300"/>
              <a:t>• Authorized staff review a possible match, access an available summary, or create a temporary emergency record if no reliable match exists.</a:t>
            </a:r>
          </a:p>
          <a:p>
            <a:pPr>
              <a:spcAft>
                <a:spcPts val="300"/>
              </a:spcAft>
            </a:pPr>
            <a:r>
              <a:rPr sz="1300"/>
              <a:t>• Offline mode displays securely stored records with a clear warning and last-updated time; sync resumes when online.</a:t>
            </a:r>
          </a:p>
          <a:p>
            <a:pPr>
              <a:spcAft>
                <a:spcPts val="300"/>
              </a:spcAft>
            </a:pPr>
            <a:endParaRPr sz="1300"/>
          </a:p>
          <a:p>
            <a:pPr>
              <a:spcAft>
                <a:spcPts val="300"/>
              </a:spcAft>
            </a:pPr>
            <a:r>
              <a:rPr sz="1300"/>
              <a:t>WHAT WE WANT TO IMPROVE</a:t>
            </a:r>
          </a:p>
          <a:p>
            <a:pPr>
              <a:spcAft>
                <a:spcPts val="300"/>
              </a:spcAft>
            </a:pPr>
            <a:r>
              <a:rPr sz="1300"/>
              <a:t>• Make available information easier to retrieve, reduce repeated collection, and support continuity of care.</a:t>
            </a:r>
          </a:p>
          <a:p>
            <a:pPr>
              <a:spcAft>
                <a:spcPts val="300"/>
              </a:spcAft>
            </a:pPr>
            <a:endParaRPr sz="1300"/>
          </a:p>
          <a:p>
            <a:pPr>
              <a:spcAft>
                <a:spcPts val="300"/>
              </a:spcAft>
            </a:pPr>
            <a:r>
              <a:rPr sz="1300"/>
              <a:t>SUCCESS TESTS</a:t>
            </a:r>
          </a:p>
          <a:p>
            <a:pPr>
              <a:spcAft>
                <a:spcPts val="300"/>
              </a:spcAft>
            </a:pPr>
            <a:r>
              <a:rPr sz="1300"/>
              <a:t>1. Possible match found → staff verification required.</a:t>
            </a:r>
          </a:p>
          <a:p>
            <a:pPr>
              <a:spcAft>
                <a:spcPts val="300"/>
              </a:spcAft>
            </a:pPr>
            <a:r>
              <a:rPr sz="1300"/>
              <a:t>2. No reliable match → temporary emergency record created.</a:t>
            </a:r>
          </a:p>
          <a:p>
            <a:pPr>
              <a:spcAft>
                <a:spcPts val="300"/>
              </a:spcAft>
            </a:pPr>
            <a:r>
              <a:rPr sz="1300"/>
              <a:t>3. Internet lost → stored sample data remains viewable.</a:t>
            </a:r>
          </a:p>
          <a:p>
            <a:pPr>
              <a:spcAft>
                <a:spcPts val="300"/>
              </a:spcAft>
            </a:pPr>
            <a:r>
              <a:rPr sz="1300"/>
              <a:t>• No UIDAI face search, real hospital-record access, or bypassing privacy requirements is claimed.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nesis Ideathon">
  <a:themeElements>
    <a:clrScheme name="Genesis Ideathon">
      <a:dk1>
        <a:srgbClr val="0E2A2F"/>
      </a:dk1>
      <a:lt1>
        <a:srgbClr val="FFFFFF"/>
      </a:lt1>
      <a:dk2>
        <a:srgbClr val="052B35"/>
      </a:dk2>
      <a:lt2>
        <a:srgbClr val="F3F8F5"/>
      </a:lt2>
      <a:accent1>
        <a:srgbClr val="026855"/>
      </a:accent1>
      <a:accent2>
        <a:srgbClr val="094542"/>
      </a:accent2>
      <a:accent3>
        <a:srgbClr val="7AC143"/>
      </a:accent3>
      <a:accent4>
        <a:srgbClr val="4FA278"/>
      </a:accent4>
      <a:accent5>
        <a:srgbClr val="5B6F6B"/>
      </a:accent5>
      <a:accent6>
        <a:srgbClr val="D3E6DD"/>
      </a:accent6>
      <a:hlink>
        <a:srgbClr val="026855"/>
      </a:hlink>
      <a:folHlink>
        <a:srgbClr val="5B6F6B"/>
      </a:folHlink>
    </a:clrScheme>
    <a:fontScheme name="Genesis Ideath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1004</Words>
  <Application>Microsoft Office PowerPoint</Application>
  <PresentationFormat>Widescreen</PresentationFormat>
  <Paragraphs>127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Genesis Ideathon</vt:lpstr>
      <vt:lpstr>PowerPoint Presentation</vt:lpstr>
      <vt:lpstr>THE PROBLEM IN OUR WORDS</vt:lpstr>
      <vt:lpstr>WHO IS AFFECTED?</vt:lpstr>
      <vt:lpstr>CURRENT SITUATION &amp; CONTEXT</vt:lpstr>
      <vt:lpstr>KEY CHALLENGES</vt:lpstr>
      <vt:lpstr>EXISTING SOLUTIONS / APPROACHES</vt:lpstr>
      <vt:lpstr>PROBLEM INSIGHTS &amp; OPPORTUNITY AREAS</vt:lpstr>
      <vt:lpstr>INITIAL DIRECTION &amp; EXPECTED OUTCOME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Genesis Ideathon – Pre-Ideathon Template</dc:title>
  <dc:subject>PptxGenJS Presentation</dc:subject>
  <dc:creator>Genesis Ideathon</dc:creator>
  <cp:lastModifiedBy>hanumithan AL</cp:lastModifiedBy>
  <cp:revision>2</cp:revision>
  <dcterms:created xsi:type="dcterms:W3CDTF">2026-10-07T15:27:40Z</dcterms:created>
  <dcterms:modified xsi:type="dcterms:W3CDTF">2026-10-11T03:36:14Z</dcterms:modified>
</cp:coreProperties>
</file>