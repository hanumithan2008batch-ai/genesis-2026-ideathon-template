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68" y="6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D2C5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D2C5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D2C5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D2C5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8D2C5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7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34525" y="3657600"/>
            <a:ext cx="2657475" cy="269557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343650"/>
            <a:ext cx="12192000" cy="514350"/>
          </a:xfrm>
          <a:custGeom>
            <a:avLst/>
            <a:gdLst/>
            <a:ahLst/>
            <a:cxnLst/>
            <a:rect l="l" t="t" r="r" b="b"/>
            <a:pathLst>
              <a:path w="12192000" h="514350">
                <a:moveTo>
                  <a:pt x="12192000" y="0"/>
                </a:moveTo>
                <a:lnTo>
                  <a:pt x="0" y="0"/>
                </a:lnTo>
                <a:lnTo>
                  <a:pt x="0" y="514350"/>
                </a:lnTo>
                <a:lnTo>
                  <a:pt x="12192000" y="5143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2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68075" y="6410323"/>
            <a:ext cx="485775" cy="4191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7200" y="342900"/>
            <a:ext cx="2619375" cy="800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7150" y="536511"/>
            <a:ext cx="6263640" cy="391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2B3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5777" y="2098357"/>
            <a:ext cx="11177905" cy="393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66209" y="6540975"/>
            <a:ext cx="4242434" cy="16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B8D2C5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14125" y="6553596"/>
            <a:ext cx="2679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042B33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uidai.gov.in/en/contact-support/have-any-question/304-faqs/authentication/for-residents.html" TargetMode="External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2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257" y="545846"/>
            <a:ext cx="2851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P</a:t>
            </a:r>
            <a:r>
              <a:rPr sz="1200" b="1" spc="-1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R</a:t>
            </a:r>
            <a:r>
              <a:rPr sz="1200" b="1" spc="2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E</a:t>
            </a:r>
            <a:r>
              <a:rPr sz="1200" b="1" spc="-1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-</a:t>
            </a:r>
            <a:r>
              <a:rPr sz="1200" b="1" spc="-1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I D</a:t>
            </a:r>
            <a:r>
              <a:rPr sz="1200" b="1" spc="2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E</a:t>
            </a:r>
            <a:r>
              <a:rPr sz="1200" b="1" spc="-3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A</a:t>
            </a:r>
            <a:r>
              <a:rPr sz="1200" b="1" spc="4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T</a:t>
            </a:r>
            <a:r>
              <a:rPr sz="1200" b="1" spc="-4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H</a:t>
            </a:r>
            <a:r>
              <a:rPr sz="1200" b="1" spc="1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O</a:t>
            </a:r>
            <a:r>
              <a:rPr sz="1200" b="1" spc="3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N</a:t>
            </a:r>
            <a:r>
              <a:rPr sz="1200" b="1" spc="114" dirty="0">
                <a:solidFill>
                  <a:srgbClr val="76C043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P</a:t>
            </a:r>
            <a:r>
              <a:rPr sz="1200" b="1" spc="-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R</a:t>
            </a:r>
            <a:r>
              <a:rPr sz="1200" b="1" spc="2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E</a:t>
            </a:r>
            <a:r>
              <a:rPr sz="1200" b="1" spc="3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S</a:t>
            </a:r>
            <a:r>
              <a:rPr sz="1200" b="1" spc="-1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E</a:t>
            </a:r>
            <a:r>
              <a:rPr sz="1200" b="1" spc="-3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N</a:t>
            </a:r>
            <a:r>
              <a:rPr sz="1200" b="1" spc="-1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T</a:t>
            </a:r>
            <a:r>
              <a:rPr sz="1200" b="1" spc="3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A</a:t>
            </a:r>
            <a:r>
              <a:rPr sz="1200" b="1" spc="-3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T</a:t>
            </a:r>
            <a:r>
              <a:rPr sz="1200" b="1" spc="2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I</a:t>
            </a:r>
            <a:r>
              <a:rPr sz="1200" b="1" spc="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76C043"/>
                </a:solidFill>
                <a:latin typeface="Calibri"/>
                <a:cs typeface="Calibri"/>
              </a:rPr>
              <a:t>O</a:t>
            </a:r>
            <a:r>
              <a:rPr sz="1200" b="1" spc="3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76C043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6257" y="773493"/>
            <a:ext cx="3785870" cy="181102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>
              <a:lnSpc>
                <a:spcPts val="6850"/>
              </a:lnSpc>
              <a:spcBef>
                <a:spcPts val="555"/>
              </a:spcBef>
            </a:pPr>
            <a:r>
              <a:rPr sz="6000" spc="-10" dirty="0">
                <a:solidFill>
                  <a:srgbClr val="FFFFFF"/>
                </a:solidFill>
              </a:rPr>
              <a:t>GENESIS </a:t>
            </a:r>
            <a:r>
              <a:rPr sz="6000" spc="-75" dirty="0">
                <a:solidFill>
                  <a:srgbClr val="76C043"/>
                </a:solidFill>
              </a:rPr>
              <a:t>IDEATHON</a:t>
            </a:r>
            <a:endParaRPr sz="6000"/>
          </a:p>
        </p:txBody>
      </p:sp>
      <p:grpSp>
        <p:nvGrpSpPr>
          <p:cNvPr id="6" name="object 6"/>
          <p:cNvGrpSpPr/>
          <p:nvPr/>
        </p:nvGrpSpPr>
        <p:grpSpPr>
          <a:xfrm>
            <a:off x="544512" y="2735262"/>
            <a:ext cx="2111375" cy="473075"/>
            <a:chOff x="544512" y="2735262"/>
            <a:chExt cx="2111375" cy="473075"/>
          </a:xfrm>
        </p:grpSpPr>
        <p:sp>
          <p:nvSpPr>
            <p:cNvPr id="7" name="object 7"/>
            <p:cNvSpPr/>
            <p:nvPr/>
          </p:nvSpPr>
          <p:spPr>
            <a:xfrm>
              <a:off x="552450" y="2743200"/>
              <a:ext cx="2095500" cy="457200"/>
            </a:xfrm>
            <a:custGeom>
              <a:avLst/>
              <a:gdLst/>
              <a:ahLst/>
              <a:cxnLst/>
              <a:rect l="l" t="t" r="r" b="b"/>
              <a:pathLst>
                <a:path w="2095500" h="457200">
                  <a:moveTo>
                    <a:pt x="1866900" y="0"/>
                  </a:moveTo>
                  <a:lnTo>
                    <a:pt x="228600" y="0"/>
                  </a:ln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1866900" y="457200"/>
                  </a:lnTo>
                  <a:lnTo>
                    <a:pt x="1912966" y="452555"/>
                  </a:lnTo>
                  <a:lnTo>
                    <a:pt x="1955875" y="439233"/>
                  </a:lnTo>
                  <a:lnTo>
                    <a:pt x="1994706" y="418154"/>
                  </a:lnTo>
                  <a:lnTo>
                    <a:pt x="2028539" y="390239"/>
                  </a:lnTo>
                  <a:lnTo>
                    <a:pt x="2056454" y="356406"/>
                  </a:lnTo>
                  <a:lnTo>
                    <a:pt x="2077533" y="317575"/>
                  </a:lnTo>
                  <a:lnTo>
                    <a:pt x="2090855" y="274666"/>
                  </a:lnTo>
                  <a:lnTo>
                    <a:pt x="2095500" y="228600"/>
                  </a:lnTo>
                  <a:lnTo>
                    <a:pt x="2090855" y="182533"/>
                  </a:lnTo>
                  <a:lnTo>
                    <a:pt x="2077533" y="139624"/>
                  </a:lnTo>
                  <a:lnTo>
                    <a:pt x="2056454" y="100793"/>
                  </a:lnTo>
                  <a:lnTo>
                    <a:pt x="2028539" y="66960"/>
                  </a:lnTo>
                  <a:lnTo>
                    <a:pt x="1994706" y="39045"/>
                  </a:lnTo>
                  <a:lnTo>
                    <a:pt x="1955875" y="17966"/>
                  </a:lnTo>
                  <a:lnTo>
                    <a:pt x="1912966" y="4644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450" y="2743200"/>
              <a:ext cx="2095500" cy="457200"/>
            </a:xfrm>
            <a:custGeom>
              <a:avLst/>
              <a:gdLst/>
              <a:ahLst/>
              <a:cxnLst/>
              <a:rect l="l" t="t" r="r" b="b"/>
              <a:pathLst>
                <a:path w="20955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1866900" y="0"/>
                  </a:lnTo>
                  <a:lnTo>
                    <a:pt x="1912966" y="4644"/>
                  </a:lnTo>
                  <a:lnTo>
                    <a:pt x="1955875" y="17966"/>
                  </a:lnTo>
                  <a:lnTo>
                    <a:pt x="1994706" y="39045"/>
                  </a:lnTo>
                  <a:lnTo>
                    <a:pt x="2028539" y="66960"/>
                  </a:lnTo>
                  <a:lnTo>
                    <a:pt x="2056454" y="100793"/>
                  </a:lnTo>
                  <a:lnTo>
                    <a:pt x="2077533" y="139624"/>
                  </a:lnTo>
                  <a:lnTo>
                    <a:pt x="2090855" y="182533"/>
                  </a:lnTo>
                  <a:lnTo>
                    <a:pt x="2095500" y="228600"/>
                  </a:lnTo>
                  <a:lnTo>
                    <a:pt x="2090855" y="274666"/>
                  </a:lnTo>
                  <a:lnTo>
                    <a:pt x="2077533" y="317575"/>
                  </a:lnTo>
                  <a:lnTo>
                    <a:pt x="2056454" y="356406"/>
                  </a:lnTo>
                  <a:lnTo>
                    <a:pt x="2028539" y="390239"/>
                  </a:lnTo>
                  <a:lnTo>
                    <a:pt x="1994706" y="418154"/>
                  </a:lnTo>
                  <a:lnTo>
                    <a:pt x="1955875" y="439233"/>
                  </a:lnTo>
                  <a:lnTo>
                    <a:pt x="1912966" y="452555"/>
                  </a:lnTo>
                  <a:lnTo>
                    <a:pt x="1866900" y="457200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5875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0"/>
            <a:ext cx="5791200" cy="685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6257" y="2861881"/>
            <a:ext cx="6337935" cy="279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b="1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200" b="1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2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A</a:t>
            </a:r>
            <a:r>
              <a:rPr sz="1550" i="1" spc="6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Rural-Focused</a:t>
            </a:r>
            <a:r>
              <a:rPr sz="1550" i="1" spc="9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Health</a:t>
            </a:r>
            <a:r>
              <a:rPr sz="1550" i="1" spc="9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Identity</a:t>
            </a:r>
            <a:r>
              <a:rPr sz="1550" i="1" spc="12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and</a:t>
            </a:r>
            <a:r>
              <a:rPr sz="1550" i="1" spc="95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Emergency</a:t>
            </a:r>
            <a:r>
              <a:rPr sz="1550" i="1" spc="13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Record</a:t>
            </a:r>
            <a:r>
              <a:rPr sz="1550" i="1" spc="9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D4EBDF"/>
                </a:solidFill>
                <a:latin typeface="Calibri"/>
                <a:cs typeface="Calibri"/>
              </a:rPr>
              <a:t>Access</a:t>
            </a:r>
            <a:r>
              <a:rPr sz="1550" i="1" spc="60" dirty="0">
                <a:solidFill>
                  <a:srgbClr val="D4EBDF"/>
                </a:solidFill>
                <a:latin typeface="Calibri"/>
                <a:cs typeface="Calibri"/>
              </a:rPr>
              <a:t> </a:t>
            </a:r>
            <a:r>
              <a:rPr sz="1550" i="1" spc="-10" dirty="0">
                <a:solidFill>
                  <a:srgbClr val="D4EBDF"/>
                </a:solidFill>
                <a:latin typeface="Calibri"/>
                <a:cs typeface="Calibri"/>
              </a:rPr>
              <a:t>System</a:t>
            </a:r>
            <a:endParaRPr sz="15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590"/>
              </a:spcBef>
              <a:buFont typeface="Calibri"/>
              <a:buChar char="•"/>
              <a:tabLst>
                <a:tab pos="241300" algn="l"/>
              </a:tabLst>
            </a:pP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Team</a:t>
            </a:r>
            <a:r>
              <a:rPr sz="1550" b="1" spc="2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Name</a:t>
            </a:r>
            <a:r>
              <a:rPr sz="1550" b="1" spc="3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–</a:t>
            </a:r>
            <a:r>
              <a:rPr sz="1550" b="1" spc="4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lang="en-IN" sz="15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550" spc="-10" dirty="0">
                <a:solidFill>
                  <a:srgbClr val="FFFFFF"/>
                </a:solidFill>
                <a:latin typeface="Calibri"/>
                <a:cs typeface="Calibri"/>
              </a:rPr>
              <a:t>TEAM PR</a:t>
            </a:r>
            <a:endParaRPr sz="1550" dirty="0">
              <a:latin typeface="Calibri"/>
              <a:cs typeface="Calibri"/>
            </a:endParaRPr>
          </a:p>
          <a:p>
            <a:pPr marL="241300" marR="594995" indent="-229235">
              <a:lnSpc>
                <a:spcPct val="101000"/>
              </a:lnSpc>
              <a:spcBef>
                <a:spcPts val="975"/>
              </a:spcBef>
              <a:buFont typeface="Calibri"/>
              <a:buChar char="•"/>
              <a:tabLst>
                <a:tab pos="241300" algn="l"/>
              </a:tabLst>
            </a:pP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Team</a:t>
            </a:r>
            <a:r>
              <a:rPr sz="1550" b="1" spc="4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Members</a:t>
            </a:r>
            <a:r>
              <a:rPr sz="1550" b="1" spc="8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–</a:t>
            </a:r>
            <a:r>
              <a:rPr sz="1550" b="1" spc="6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Hanumithan.AL</a:t>
            </a:r>
            <a:r>
              <a:rPr sz="15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(Team</a:t>
            </a:r>
            <a:r>
              <a:rPr sz="15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Leader),</a:t>
            </a:r>
            <a:r>
              <a:rPr sz="15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Nivedh.T,</a:t>
            </a:r>
            <a:r>
              <a:rPr sz="15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Shruthi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Ranjane</a:t>
            </a:r>
            <a:r>
              <a:rPr sz="15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B.S,</a:t>
            </a:r>
            <a:r>
              <a:rPr sz="15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Sunil</a:t>
            </a:r>
            <a:r>
              <a:rPr sz="155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Krishna</a:t>
            </a:r>
            <a:endParaRPr sz="155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995"/>
              </a:spcBef>
              <a:buFont typeface="Calibri"/>
              <a:buChar char="•"/>
              <a:tabLst>
                <a:tab pos="241300" algn="l"/>
              </a:tabLst>
            </a:pP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Selected</a:t>
            </a:r>
            <a:r>
              <a:rPr sz="1550" b="1" spc="11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Domain</a:t>
            </a:r>
            <a:r>
              <a:rPr sz="1550" b="1" spc="6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–</a:t>
            </a:r>
            <a:r>
              <a:rPr sz="1550" b="1" spc="5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MedTech</a:t>
            </a:r>
            <a:r>
              <a:rPr sz="15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55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HealthTech</a:t>
            </a:r>
            <a:endParaRPr sz="1550" dirty="0">
              <a:latin typeface="Calibri"/>
              <a:cs typeface="Calibri"/>
            </a:endParaRPr>
          </a:p>
          <a:p>
            <a:pPr marL="241300" marR="5080" indent="-229235">
              <a:lnSpc>
                <a:spcPct val="104900"/>
              </a:lnSpc>
              <a:spcBef>
                <a:spcPts val="825"/>
              </a:spcBef>
              <a:buFont typeface="Calibri"/>
              <a:buChar char="•"/>
              <a:tabLst>
                <a:tab pos="241300" algn="l"/>
              </a:tabLst>
            </a:pP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Problem</a:t>
            </a:r>
            <a:r>
              <a:rPr sz="1550" b="1" spc="6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Statement</a:t>
            </a:r>
            <a:r>
              <a:rPr sz="1550" b="1" spc="13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76C043"/>
                </a:solidFill>
                <a:latin typeface="Calibri"/>
                <a:cs typeface="Calibri"/>
              </a:rPr>
              <a:t>–</a:t>
            </a:r>
            <a:r>
              <a:rPr sz="1550" b="1" spc="8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Identifying</a:t>
            </a:r>
            <a:r>
              <a:rPr sz="15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5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patient</a:t>
            </a:r>
            <a:r>
              <a:rPr sz="15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5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155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15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identify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themselves,</a:t>
            </a:r>
            <a:r>
              <a:rPr sz="15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accessing</a:t>
            </a:r>
            <a:r>
              <a:rPr sz="15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sz="155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medical</a:t>
            </a:r>
            <a:r>
              <a:rPr sz="1550" spc="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15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5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5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5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Calibri"/>
                <a:cs typeface="Calibri"/>
              </a:rPr>
              <a:t>needed.</a:t>
            </a:r>
            <a:endParaRPr sz="15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46871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TEAM PR</a:t>
            </a:r>
            <a:endParaRPr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00"/>
              </a:spcBef>
            </a:pPr>
            <a:r>
              <a:rPr dirty="0"/>
              <a:t>DOMAIN</a:t>
            </a:r>
            <a:r>
              <a:rPr spc="-30" dirty="0"/>
              <a:t> </a:t>
            </a:r>
            <a:r>
              <a:rPr spc="-10" dirty="0"/>
              <a:t>PROBLEM</a:t>
            </a:r>
            <a:r>
              <a:rPr spc="-5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OUR</a:t>
            </a:r>
            <a:r>
              <a:rPr spc="-55" dirty="0"/>
              <a:t> </a:t>
            </a:r>
            <a:r>
              <a:rPr spc="-10" dirty="0"/>
              <a:t>WORDS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59404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Explain</a:t>
            </a:r>
            <a:r>
              <a:rPr sz="1800" b="1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800" b="1" spc="-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problem</a:t>
            </a:r>
            <a:r>
              <a:rPr sz="1800" b="1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in</a:t>
            </a:r>
            <a:r>
              <a:rPr sz="18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your</a:t>
            </a:r>
            <a:r>
              <a:rPr sz="18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domain</a:t>
            </a:r>
            <a:r>
              <a:rPr sz="18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simply,</a:t>
            </a:r>
            <a:r>
              <a:rPr sz="18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in</a:t>
            </a:r>
            <a:r>
              <a:rPr sz="18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your</a:t>
            </a:r>
            <a:r>
              <a:rPr sz="1800" b="1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own</a:t>
            </a:r>
            <a:r>
              <a:rPr sz="18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257" y="2011121"/>
            <a:ext cx="5537200" cy="17437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What</a:t>
            </a:r>
            <a:r>
              <a:rPr sz="1550" b="1" spc="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exactly</a:t>
            </a:r>
            <a:r>
              <a:rPr sz="1550" b="1" spc="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needs</a:t>
            </a:r>
            <a:r>
              <a:rPr sz="1550" b="1" spc="1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to</a:t>
            </a:r>
            <a:r>
              <a:rPr sz="1550" b="1" spc="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be</a:t>
            </a:r>
            <a:r>
              <a:rPr sz="1550" b="1" spc="2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695A"/>
                </a:solidFill>
                <a:latin typeface="Calibri"/>
                <a:cs typeface="Calibri"/>
              </a:rPr>
              <a:t>solved?</a:t>
            </a:r>
            <a:endParaRPr sz="1550">
              <a:latin typeface="Calibri"/>
              <a:cs typeface="Calibri"/>
            </a:endParaRPr>
          </a:p>
          <a:p>
            <a:pPr marL="213360" marR="5080" indent="-201295">
              <a:lnSpc>
                <a:spcPct val="100600"/>
              </a:lnSpc>
              <a:spcBef>
                <a:spcPts val="455"/>
              </a:spcBef>
              <a:buChar char="•"/>
              <a:tabLst>
                <a:tab pos="215900" algn="l"/>
              </a:tabLst>
            </a:pP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Two</a:t>
            </a:r>
            <a:r>
              <a:rPr sz="14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connected</a:t>
            </a:r>
            <a:r>
              <a:rPr sz="14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challenges:</a:t>
            </a:r>
            <a:r>
              <a:rPr sz="14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identifying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r>
              <a:rPr sz="14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they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cannot</a:t>
            </a:r>
            <a:r>
              <a:rPr sz="1400" spc="500" dirty="0">
                <a:solidFill>
                  <a:srgbClr val="0A4F49"/>
                </a:solidFill>
                <a:latin typeface="Calibri"/>
                <a:cs typeface="Calibri"/>
              </a:rPr>
              <a:t> 	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identify</a:t>
            </a:r>
            <a:r>
              <a:rPr sz="1400" spc="-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themselves,</a:t>
            </a:r>
            <a:r>
              <a:rPr sz="14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accessing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reliable</a:t>
            </a:r>
            <a:r>
              <a:rPr sz="14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4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information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it</a:t>
            </a:r>
            <a:r>
              <a:rPr sz="14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is 	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needed.</a:t>
            </a:r>
            <a:endParaRPr sz="1400">
              <a:latin typeface="Calibri"/>
              <a:cs typeface="Calibri"/>
            </a:endParaRPr>
          </a:p>
          <a:p>
            <a:pPr marL="213360" marR="104139" indent="-201295">
              <a:lnSpc>
                <a:spcPts val="1650"/>
              </a:lnSpc>
              <a:spcBef>
                <a:spcPts val="725"/>
              </a:spcBef>
              <a:buChar char="•"/>
              <a:tabLst>
                <a:tab pos="215900" algn="l"/>
              </a:tabLst>
            </a:pP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Can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rural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healthcare</a:t>
            </a:r>
            <a:r>
              <a:rPr sz="14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worker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establish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patient’s</a:t>
            </a:r>
            <a:r>
              <a:rPr sz="1400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identity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more</a:t>
            </a:r>
            <a:r>
              <a:rPr sz="14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safely 	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relevant,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previously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recorded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health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information,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even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when 	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40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cannot</a:t>
            </a:r>
            <a:r>
              <a:rPr sz="14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communicate</a:t>
            </a:r>
            <a:r>
              <a:rPr sz="14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or</a:t>
            </a:r>
            <a:r>
              <a:rPr sz="14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internet</a:t>
            </a:r>
            <a:r>
              <a:rPr sz="1400" spc="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connectivity</a:t>
            </a:r>
            <a:r>
              <a:rPr sz="14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4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unavailable?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3179" y="2072004"/>
            <a:ext cx="1119505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Picture</a:t>
            </a:r>
            <a:r>
              <a:rPr sz="1550" b="1" spc="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00695A"/>
                </a:solidFill>
                <a:latin typeface="Calibri"/>
                <a:cs typeface="Calibri"/>
              </a:rPr>
              <a:t>this…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6257" y="4116551"/>
            <a:ext cx="5511800" cy="15347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Why</a:t>
            </a:r>
            <a:r>
              <a:rPr sz="1550" b="1" spc="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is</a:t>
            </a:r>
            <a:r>
              <a:rPr sz="1550" b="1" spc="4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it</a:t>
            </a:r>
            <a:r>
              <a:rPr sz="1550" b="1" spc="4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important</a:t>
            </a:r>
            <a:r>
              <a:rPr sz="1550" b="1" spc="1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right</a:t>
            </a:r>
            <a:r>
              <a:rPr sz="1550" b="1" spc="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00695A"/>
                </a:solidFill>
                <a:latin typeface="Calibri"/>
                <a:cs typeface="Calibri"/>
              </a:rPr>
              <a:t>now?</a:t>
            </a:r>
            <a:endParaRPr sz="1550">
              <a:latin typeface="Calibri"/>
              <a:cs typeface="Calibri"/>
            </a:endParaRPr>
          </a:p>
          <a:p>
            <a:pPr marL="213360" marR="5080" indent="-201295">
              <a:lnSpc>
                <a:spcPct val="100600"/>
              </a:lnSpc>
              <a:spcBef>
                <a:spcPts val="459"/>
              </a:spcBef>
              <a:buChar char="•"/>
              <a:tabLst>
                <a:tab pos="215900" algn="l"/>
              </a:tabLst>
            </a:pP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4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4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receive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care</a:t>
            </a:r>
            <a:r>
              <a:rPr sz="14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from</a:t>
            </a:r>
            <a:r>
              <a:rPr sz="14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more</a:t>
            </a:r>
            <a:r>
              <a:rPr sz="1400" spc="-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than</a:t>
            </a:r>
            <a:r>
              <a:rPr sz="14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one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facility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over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course</a:t>
            </a:r>
            <a:r>
              <a:rPr sz="14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of 	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their</a:t>
            </a:r>
            <a:r>
              <a:rPr sz="14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life,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but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their</a:t>
            </a:r>
            <a:r>
              <a:rPr sz="14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information</a:t>
            </a:r>
            <a:r>
              <a:rPr sz="14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not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always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be</a:t>
            </a:r>
            <a:r>
              <a:rPr sz="1400" spc="-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immediately 	available</a:t>
            </a:r>
            <a:r>
              <a:rPr sz="14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at</a:t>
            </a:r>
            <a:r>
              <a:rPr sz="14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every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point of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care.</a:t>
            </a:r>
            <a:endParaRPr sz="1400">
              <a:latin typeface="Calibri"/>
              <a:cs typeface="Calibri"/>
            </a:endParaRPr>
          </a:p>
          <a:p>
            <a:pPr marL="213360" marR="433070" indent="-201295">
              <a:lnSpc>
                <a:spcPts val="1650"/>
              </a:lnSpc>
              <a:spcBef>
                <a:spcPts val="725"/>
              </a:spcBef>
              <a:buChar char="•"/>
              <a:tabLst>
                <a:tab pos="215900" algn="l"/>
              </a:tabLst>
            </a:pP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Paper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records,</a:t>
            </a:r>
            <a:r>
              <a:rPr sz="14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separate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systems,</a:t>
            </a:r>
            <a:r>
              <a:rPr sz="14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limited</a:t>
            </a:r>
            <a:r>
              <a:rPr sz="14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connectivity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A4F49"/>
                </a:solidFill>
                <a:latin typeface="Calibri"/>
                <a:cs typeface="Calibri"/>
              </a:rPr>
              <a:t>and 	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difficulties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using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4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services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can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make</a:t>
            </a:r>
            <a:r>
              <a:rPr sz="14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continuity</a:t>
            </a:r>
            <a:r>
              <a:rPr sz="1400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of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care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harder.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99276" y="2446401"/>
            <a:ext cx="5222875" cy="3333750"/>
            <a:chOff x="6399276" y="2446401"/>
            <a:chExt cx="5222875" cy="3333750"/>
          </a:xfrm>
        </p:grpSpPr>
        <p:sp>
          <p:nvSpPr>
            <p:cNvPr id="11" name="object 11"/>
            <p:cNvSpPr/>
            <p:nvPr/>
          </p:nvSpPr>
          <p:spPr>
            <a:xfrm>
              <a:off x="6910451" y="2929001"/>
              <a:ext cx="0" cy="2838450"/>
            </a:xfrm>
            <a:custGeom>
              <a:avLst/>
              <a:gdLst/>
              <a:ahLst/>
              <a:cxnLst/>
              <a:rect l="l" t="t" r="r" b="b"/>
              <a:pathLst>
                <a:path h="2838450">
                  <a:moveTo>
                    <a:pt x="0" y="0"/>
                  </a:moveTo>
                  <a:lnTo>
                    <a:pt x="0" y="2838386"/>
                  </a:lnTo>
                </a:path>
              </a:pathLst>
            </a:custGeom>
            <a:ln w="25400">
              <a:solidFill>
                <a:srgbClr val="2D9E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5626" y="2452751"/>
              <a:ext cx="5210175" cy="828675"/>
            </a:xfrm>
            <a:custGeom>
              <a:avLst/>
              <a:gdLst/>
              <a:ahLst/>
              <a:cxnLst/>
              <a:rect l="l" t="t" r="r" b="b"/>
              <a:pathLst>
                <a:path w="5210175" h="828675">
                  <a:moveTo>
                    <a:pt x="5136388" y="0"/>
                  </a:moveTo>
                  <a:lnTo>
                    <a:pt x="73660" y="0"/>
                  </a:lnTo>
                  <a:lnTo>
                    <a:pt x="44952" y="5776"/>
                  </a:lnTo>
                  <a:lnTo>
                    <a:pt x="21542" y="21542"/>
                  </a:lnTo>
                  <a:lnTo>
                    <a:pt x="5776" y="44952"/>
                  </a:lnTo>
                  <a:lnTo>
                    <a:pt x="0" y="73660"/>
                  </a:lnTo>
                  <a:lnTo>
                    <a:pt x="0" y="754888"/>
                  </a:lnTo>
                  <a:lnTo>
                    <a:pt x="5776" y="783615"/>
                  </a:lnTo>
                  <a:lnTo>
                    <a:pt x="21542" y="807069"/>
                  </a:lnTo>
                  <a:lnTo>
                    <a:pt x="44952" y="822878"/>
                  </a:lnTo>
                  <a:lnTo>
                    <a:pt x="73660" y="828675"/>
                  </a:lnTo>
                  <a:lnTo>
                    <a:pt x="5136388" y="828675"/>
                  </a:lnTo>
                  <a:lnTo>
                    <a:pt x="5165115" y="822878"/>
                  </a:lnTo>
                  <a:lnTo>
                    <a:pt x="5188569" y="807069"/>
                  </a:lnTo>
                  <a:lnTo>
                    <a:pt x="5204378" y="783615"/>
                  </a:lnTo>
                  <a:lnTo>
                    <a:pt x="5210175" y="754888"/>
                  </a:lnTo>
                  <a:lnTo>
                    <a:pt x="5210175" y="73660"/>
                  </a:lnTo>
                  <a:lnTo>
                    <a:pt x="5204378" y="44952"/>
                  </a:lnTo>
                  <a:lnTo>
                    <a:pt x="5188569" y="21542"/>
                  </a:lnTo>
                  <a:lnTo>
                    <a:pt x="5165115" y="5776"/>
                  </a:lnTo>
                  <a:lnTo>
                    <a:pt x="5136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5626" y="2452751"/>
              <a:ext cx="5210175" cy="828675"/>
            </a:xfrm>
            <a:custGeom>
              <a:avLst/>
              <a:gdLst/>
              <a:ahLst/>
              <a:cxnLst/>
              <a:rect l="l" t="t" r="r" b="b"/>
              <a:pathLst>
                <a:path w="5210175" h="828675">
                  <a:moveTo>
                    <a:pt x="0" y="73660"/>
                  </a:moveTo>
                  <a:lnTo>
                    <a:pt x="5776" y="44952"/>
                  </a:lnTo>
                  <a:lnTo>
                    <a:pt x="21542" y="21542"/>
                  </a:lnTo>
                  <a:lnTo>
                    <a:pt x="44952" y="5776"/>
                  </a:lnTo>
                  <a:lnTo>
                    <a:pt x="73660" y="0"/>
                  </a:lnTo>
                  <a:lnTo>
                    <a:pt x="5136388" y="0"/>
                  </a:lnTo>
                  <a:lnTo>
                    <a:pt x="5165115" y="5776"/>
                  </a:lnTo>
                  <a:lnTo>
                    <a:pt x="5188569" y="21542"/>
                  </a:lnTo>
                  <a:lnTo>
                    <a:pt x="5204378" y="44952"/>
                  </a:lnTo>
                  <a:lnTo>
                    <a:pt x="5210175" y="73660"/>
                  </a:lnTo>
                  <a:lnTo>
                    <a:pt x="5210175" y="754888"/>
                  </a:lnTo>
                  <a:lnTo>
                    <a:pt x="5204378" y="783615"/>
                  </a:lnTo>
                  <a:lnTo>
                    <a:pt x="5188569" y="807069"/>
                  </a:lnTo>
                  <a:lnTo>
                    <a:pt x="5165115" y="822878"/>
                  </a:lnTo>
                  <a:lnTo>
                    <a:pt x="5136388" y="828675"/>
                  </a:lnTo>
                  <a:lnTo>
                    <a:pt x="73660" y="828675"/>
                  </a:lnTo>
                  <a:lnTo>
                    <a:pt x="44952" y="822878"/>
                  </a:lnTo>
                  <a:lnTo>
                    <a:pt x="21542" y="807069"/>
                  </a:lnTo>
                  <a:lnTo>
                    <a:pt x="5776" y="783615"/>
                  </a:lnTo>
                  <a:lnTo>
                    <a:pt x="0" y="754888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53276" y="2614676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257175" y="0"/>
                  </a:moveTo>
                  <a:lnTo>
                    <a:pt x="210926" y="4063"/>
                  </a:lnTo>
                  <a:lnTo>
                    <a:pt x="167406" y="15778"/>
                  </a:lnTo>
                  <a:lnTo>
                    <a:pt x="127338" y="34435"/>
                  </a:lnTo>
                  <a:lnTo>
                    <a:pt x="91447" y="59323"/>
                  </a:lnTo>
                  <a:lnTo>
                    <a:pt x="60458" y="89731"/>
                  </a:lnTo>
                  <a:lnTo>
                    <a:pt x="35094" y="124949"/>
                  </a:lnTo>
                  <a:lnTo>
                    <a:pt x="16080" y="164265"/>
                  </a:lnTo>
                  <a:lnTo>
                    <a:pt x="4140" y="206968"/>
                  </a:lnTo>
                  <a:lnTo>
                    <a:pt x="0" y="252349"/>
                  </a:lnTo>
                  <a:lnTo>
                    <a:pt x="4140" y="297733"/>
                  </a:lnTo>
                  <a:lnTo>
                    <a:pt x="16080" y="340449"/>
                  </a:lnTo>
                  <a:lnTo>
                    <a:pt x="35094" y="379781"/>
                  </a:lnTo>
                  <a:lnTo>
                    <a:pt x="60458" y="415019"/>
                  </a:lnTo>
                  <a:lnTo>
                    <a:pt x="91447" y="445448"/>
                  </a:lnTo>
                  <a:lnTo>
                    <a:pt x="127338" y="470356"/>
                  </a:lnTo>
                  <a:lnTo>
                    <a:pt x="167406" y="489030"/>
                  </a:lnTo>
                  <a:lnTo>
                    <a:pt x="210926" y="500757"/>
                  </a:lnTo>
                  <a:lnTo>
                    <a:pt x="257175" y="504825"/>
                  </a:lnTo>
                  <a:lnTo>
                    <a:pt x="303389" y="500757"/>
                  </a:lnTo>
                  <a:lnTo>
                    <a:pt x="346892" y="489030"/>
                  </a:lnTo>
                  <a:lnTo>
                    <a:pt x="386954" y="470356"/>
                  </a:lnTo>
                  <a:lnTo>
                    <a:pt x="422849" y="445448"/>
                  </a:lnTo>
                  <a:lnTo>
                    <a:pt x="453849" y="415019"/>
                  </a:lnTo>
                  <a:lnTo>
                    <a:pt x="479227" y="379781"/>
                  </a:lnTo>
                  <a:lnTo>
                    <a:pt x="498254" y="340449"/>
                  </a:lnTo>
                  <a:lnTo>
                    <a:pt x="510204" y="297733"/>
                  </a:lnTo>
                  <a:lnTo>
                    <a:pt x="514350" y="252349"/>
                  </a:lnTo>
                  <a:lnTo>
                    <a:pt x="510204" y="206968"/>
                  </a:lnTo>
                  <a:lnTo>
                    <a:pt x="498254" y="164265"/>
                  </a:lnTo>
                  <a:lnTo>
                    <a:pt x="479227" y="124949"/>
                  </a:lnTo>
                  <a:lnTo>
                    <a:pt x="453849" y="89731"/>
                  </a:lnTo>
                  <a:lnTo>
                    <a:pt x="422849" y="59323"/>
                  </a:lnTo>
                  <a:lnTo>
                    <a:pt x="386954" y="34435"/>
                  </a:lnTo>
                  <a:lnTo>
                    <a:pt x="346892" y="15778"/>
                  </a:lnTo>
                  <a:lnTo>
                    <a:pt x="303389" y="4063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53276" y="2614676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0" y="252349"/>
                  </a:moveTo>
                  <a:lnTo>
                    <a:pt x="4140" y="206968"/>
                  </a:lnTo>
                  <a:lnTo>
                    <a:pt x="16080" y="164265"/>
                  </a:lnTo>
                  <a:lnTo>
                    <a:pt x="35094" y="124949"/>
                  </a:lnTo>
                  <a:lnTo>
                    <a:pt x="60458" y="89731"/>
                  </a:lnTo>
                  <a:lnTo>
                    <a:pt x="91447" y="59323"/>
                  </a:lnTo>
                  <a:lnTo>
                    <a:pt x="127338" y="34435"/>
                  </a:lnTo>
                  <a:lnTo>
                    <a:pt x="167406" y="15778"/>
                  </a:lnTo>
                  <a:lnTo>
                    <a:pt x="210926" y="4063"/>
                  </a:lnTo>
                  <a:lnTo>
                    <a:pt x="257175" y="0"/>
                  </a:lnTo>
                  <a:lnTo>
                    <a:pt x="303389" y="4063"/>
                  </a:lnTo>
                  <a:lnTo>
                    <a:pt x="346892" y="15778"/>
                  </a:lnTo>
                  <a:lnTo>
                    <a:pt x="386954" y="34435"/>
                  </a:lnTo>
                  <a:lnTo>
                    <a:pt x="422849" y="59323"/>
                  </a:lnTo>
                  <a:lnTo>
                    <a:pt x="453849" y="89731"/>
                  </a:lnTo>
                  <a:lnTo>
                    <a:pt x="479227" y="124949"/>
                  </a:lnTo>
                  <a:lnTo>
                    <a:pt x="498254" y="164265"/>
                  </a:lnTo>
                  <a:lnTo>
                    <a:pt x="510204" y="206968"/>
                  </a:lnTo>
                  <a:lnTo>
                    <a:pt x="514350" y="252349"/>
                  </a:lnTo>
                  <a:lnTo>
                    <a:pt x="510204" y="297733"/>
                  </a:lnTo>
                  <a:lnTo>
                    <a:pt x="498254" y="340449"/>
                  </a:lnTo>
                  <a:lnTo>
                    <a:pt x="479227" y="379781"/>
                  </a:lnTo>
                  <a:lnTo>
                    <a:pt x="453849" y="415019"/>
                  </a:lnTo>
                  <a:lnTo>
                    <a:pt x="422849" y="445448"/>
                  </a:lnTo>
                  <a:lnTo>
                    <a:pt x="386954" y="470356"/>
                  </a:lnTo>
                  <a:lnTo>
                    <a:pt x="346892" y="489030"/>
                  </a:lnTo>
                  <a:lnTo>
                    <a:pt x="303389" y="500757"/>
                  </a:lnTo>
                  <a:lnTo>
                    <a:pt x="257175" y="504825"/>
                  </a:lnTo>
                  <a:lnTo>
                    <a:pt x="210926" y="500757"/>
                  </a:lnTo>
                  <a:lnTo>
                    <a:pt x="167406" y="489030"/>
                  </a:lnTo>
                  <a:lnTo>
                    <a:pt x="127338" y="470356"/>
                  </a:lnTo>
                  <a:lnTo>
                    <a:pt x="91447" y="445448"/>
                  </a:lnTo>
                  <a:lnTo>
                    <a:pt x="60458" y="415019"/>
                  </a:lnTo>
                  <a:lnTo>
                    <a:pt x="35094" y="379781"/>
                  </a:lnTo>
                  <a:lnTo>
                    <a:pt x="16080" y="340449"/>
                  </a:lnTo>
                  <a:lnTo>
                    <a:pt x="4140" y="297733"/>
                  </a:lnTo>
                  <a:lnTo>
                    <a:pt x="0" y="252349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2275" y="2733675"/>
              <a:ext cx="257175" cy="2571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353934" y="2553398"/>
            <a:ext cx="3815079" cy="619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A</a:t>
            </a:r>
            <a:r>
              <a:rPr sz="1400" b="1" spc="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regular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at</a:t>
            </a:r>
            <a:r>
              <a:rPr sz="1400" b="1" spc="-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the</a:t>
            </a:r>
            <a:r>
              <a:rPr sz="1400" b="1" spc="-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village </a:t>
            </a:r>
            <a:r>
              <a:rPr sz="1400" b="1" spc="-25" dirty="0">
                <a:solidFill>
                  <a:srgbClr val="00695A"/>
                </a:solidFill>
                <a:latin typeface="Calibri"/>
                <a:cs typeface="Calibri"/>
              </a:rPr>
              <a:t>PHC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500"/>
              </a:lnSpc>
              <a:spcBef>
                <a:spcPts val="2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elderly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man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from</a:t>
            </a:r>
            <a:r>
              <a:rPr sz="1200" spc="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village</a:t>
            </a:r>
            <a:r>
              <a:rPr sz="1200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regularly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visits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Primary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Health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Centre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(PHC)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for</a:t>
            </a:r>
            <a:r>
              <a:rPr sz="12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his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blood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pressure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medication.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399276" y="3389376"/>
            <a:ext cx="5222875" cy="841375"/>
            <a:chOff x="6399276" y="3389376"/>
            <a:chExt cx="5222875" cy="841375"/>
          </a:xfrm>
        </p:grpSpPr>
        <p:sp>
          <p:nvSpPr>
            <p:cNvPr id="19" name="object 19"/>
            <p:cNvSpPr/>
            <p:nvPr/>
          </p:nvSpPr>
          <p:spPr>
            <a:xfrm>
              <a:off x="6405626" y="3395726"/>
              <a:ext cx="5210175" cy="828675"/>
            </a:xfrm>
            <a:custGeom>
              <a:avLst/>
              <a:gdLst/>
              <a:ahLst/>
              <a:cxnLst/>
              <a:rect l="l" t="t" r="r" b="b"/>
              <a:pathLst>
                <a:path w="5210175" h="828675">
                  <a:moveTo>
                    <a:pt x="5136388" y="0"/>
                  </a:moveTo>
                  <a:lnTo>
                    <a:pt x="73660" y="0"/>
                  </a:lnTo>
                  <a:lnTo>
                    <a:pt x="44952" y="5776"/>
                  </a:lnTo>
                  <a:lnTo>
                    <a:pt x="21542" y="21542"/>
                  </a:lnTo>
                  <a:lnTo>
                    <a:pt x="5776" y="44952"/>
                  </a:lnTo>
                  <a:lnTo>
                    <a:pt x="0" y="73660"/>
                  </a:lnTo>
                  <a:lnTo>
                    <a:pt x="0" y="754888"/>
                  </a:lnTo>
                  <a:lnTo>
                    <a:pt x="5776" y="783615"/>
                  </a:lnTo>
                  <a:lnTo>
                    <a:pt x="21542" y="807069"/>
                  </a:lnTo>
                  <a:lnTo>
                    <a:pt x="44952" y="822878"/>
                  </a:lnTo>
                  <a:lnTo>
                    <a:pt x="73660" y="828675"/>
                  </a:lnTo>
                  <a:lnTo>
                    <a:pt x="5136388" y="828675"/>
                  </a:lnTo>
                  <a:lnTo>
                    <a:pt x="5165115" y="822878"/>
                  </a:lnTo>
                  <a:lnTo>
                    <a:pt x="5188569" y="807069"/>
                  </a:lnTo>
                  <a:lnTo>
                    <a:pt x="5204378" y="783615"/>
                  </a:lnTo>
                  <a:lnTo>
                    <a:pt x="5210175" y="754888"/>
                  </a:lnTo>
                  <a:lnTo>
                    <a:pt x="5210175" y="73660"/>
                  </a:lnTo>
                  <a:lnTo>
                    <a:pt x="5204378" y="44952"/>
                  </a:lnTo>
                  <a:lnTo>
                    <a:pt x="5188569" y="21542"/>
                  </a:lnTo>
                  <a:lnTo>
                    <a:pt x="5165115" y="5776"/>
                  </a:lnTo>
                  <a:lnTo>
                    <a:pt x="5136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05626" y="3395726"/>
              <a:ext cx="5210175" cy="828675"/>
            </a:xfrm>
            <a:custGeom>
              <a:avLst/>
              <a:gdLst/>
              <a:ahLst/>
              <a:cxnLst/>
              <a:rect l="l" t="t" r="r" b="b"/>
              <a:pathLst>
                <a:path w="5210175" h="828675">
                  <a:moveTo>
                    <a:pt x="0" y="73660"/>
                  </a:moveTo>
                  <a:lnTo>
                    <a:pt x="5776" y="44952"/>
                  </a:lnTo>
                  <a:lnTo>
                    <a:pt x="21542" y="21542"/>
                  </a:lnTo>
                  <a:lnTo>
                    <a:pt x="44952" y="5776"/>
                  </a:lnTo>
                  <a:lnTo>
                    <a:pt x="73660" y="0"/>
                  </a:lnTo>
                  <a:lnTo>
                    <a:pt x="5136388" y="0"/>
                  </a:lnTo>
                  <a:lnTo>
                    <a:pt x="5165115" y="5776"/>
                  </a:lnTo>
                  <a:lnTo>
                    <a:pt x="5188569" y="21542"/>
                  </a:lnTo>
                  <a:lnTo>
                    <a:pt x="5204378" y="44952"/>
                  </a:lnTo>
                  <a:lnTo>
                    <a:pt x="5210175" y="73660"/>
                  </a:lnTo>
                  <a:lnTo>
                    <a:pt x="5210175" y="754888"/>
                  </a:lnTo>
                  <a:lnTo>
                    <a:pt x="5204378" y="783615"/>
                  </a:lnTo>
                  <a:lnTo>
                    <a:pt x="5188569" y="807069"/>
                  </a:lnTo>
                  <a:lnTo>
                    <a:pt x="5165115" y="822878"/>
                  </a:lnTo>
                  <a:lnTo>
                    <a:pt x="5136388" y="828675"/>
                  </a:lnTo>
                  <a:lnTo>
                    <a:pt x="73660" y="828675"/>
                  </a:lnTo>
                  <a:lnTo>
                    <a:pt x="44952" y="822878"/>
                  </a:lnTo>
                  <a:lnTo>
                    <a:pt x="21542" y="807069"/>
                  </a:lnTo>
                  <a:lnTo>
                    <a:pt x="5776" y="783615"/>
                  </a:lnTo>
                  <a:lnTo>
                    <a:pt x="0" y="754888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3276" y="3548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0"/>
                  </a:lnTo>
                  <a:lnTo>
                    <a:pt x="167406" y="16080"/>
                  </a:lnTo>
                  <a:lnTo>
                    <a:pt x="127338" y="35094"/>
                  </a:lnTo>
                  <a:lnTo>
                    <a:pt x="91447" y="60458"/>
                  </a:lnTo>
                  <a:lnTo>
                    <a:pt x="60458" y="91447"/>
                  </a:lnTo>
                  <a:lnTo>
                    <a:pt x="35094" y="127338"/>
                  </a:lnTo>
                  <a:lnTo>
                    <a:pt x="16080" y="167406"/>
                  </a:lnTo>
                  <a:lnTo>
                    <a:pt x="4140" y="210926"/>
                  </a:lnTo>
                  <a:lnTo>
                    <a:pt x="0" y="257175"/>
                  </a:lnTo>
                  <a:lnTo>
                    <a:pt x="4140" y="303389"/>
                  </a:lnTo>
                  <a:lnTo>
                    <a:pt x="16080" y="346892"/>
                  </a:lnTo>
                  <a:lnTo>
                    <a:pt x="35094" y="386954"/>
                  </a:lnTo>
                  <a:lnTo>
                    <a:pt x="60458" y="422849"/>
                  </a:lnTo>
                  <a:lnTo>
                    <a:pt x="91447" y="453849"/>
                  </a:lnTo>
                  <a:lnTo>
                    <a:pt x="127338" y="479227"/>
                  </a:lnTo>
                  <a:lnTo>
                    <a:pt x="167406" y="498254"/>
                  </a:lnTo>
                  <a:lnTo>
                    <a:pt x="21092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53276" y="35481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0" y="210926"/>
                  </a:lnTo>
                  <a:lnTo>
                    <a:pt x="16080" y="167406"/>
                  </a:lnTo>
                  <a:lnTo>
                    <a:pt x="35094" y="127338"/>
                  </a:lnTo>
                  <a:lnTo>
                    <a:pt x="60458" y="91447"/>
                  </a:lnTo>
                  <a:lnTo>
                    <a:pt x="91447" y="60458"/>
                  </a:lnTo>
                  <a:lnTo>
                    <a:pt x="127338" y="35094"/>
                  </a:lnTo>
                  <a:lnTo>
                    <a:pt x="167406" y="16080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26" y="510204"/>
                  </a:lnTo>
                  <a:lnTo>
                    <a:pt x="167406" y="498254"/>
                  </a:lnTo>
                  <a:lnTo>
                    <a:pt x="127338" y="479227"/>
                  </a:lnTo>
                  <a:lnTo>
                    <a:pt x="91447" y="453849"/>
                  </a:lnTo>
                  <a:lnTo>
                    <a:pt x="60458" y="422849"/>
                  </a:lnTo>
                  <a:lnTo>
                    <a:pt x="35094" y="386954"/>
                  </a:lnTo>
                  <a:lnTo>
                    <a:pt x="16080" y="346892"/>
                  </a:lnTo>
                  <a:lnTo>
                    <a:pt x="4140" y="303389"/>
                  </a:lnTo>
                  <a:lnTo>
                    <a:pt x="0" y="257175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2275" y="3676650"/>
              <a:ext cx="257175" cy="25717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353934" y="3496945"/>
            <a:ext cx="4102100" cy="618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An</a:t>
            </a:r>
            <a:r>
              <a:rPr sz="1400" b="1" spc="1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accident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1500"/>
              </a:lnSpc>
              <a:spcBef>
                <a:spcPts val="20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He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taken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another</a:t>
            </a:r>
            <a:r>
              <a:rPr sz="1200" spc="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hospital.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He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unable</a:t>
            </a:r>
            <a:r>
              <a:rPr sz="12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00" spc="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communicate,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and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his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family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 has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not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arrived 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yet.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99276" y="4332351"/>
            <a:ext cx="5222875" cy="831850"/>
            <a:chOff x="6399276" y="4332351"/>
            <a:chExt cx="5222875" cy="831850"/>
          </a:xfrm>
        </p:grpSpPr>
        <p:sp>
          <p:nvSpPr>
            <p:cNvPr id="26" name="object 26"/>
            <p:cNvSpPr/>
            <p:nvPr/>
          </p:nvSpPr>
          <p:spPr>
            <a:xfrm>
              <a:off x="6405626" y="4338701"/>
              <a:ext cx="5210175" cy="819150"/>
            </a:xfrm>
            <a:custGeom>
              <a:avLst/>
              <a:gdLst/>
              <a:ahLst/>
              <a:cxnLst/>
              <a:rect l="l" t="t" r="r" b="b"/>
              <a:pathLst>
                <a:path w="5210175" h="819150">
                  <a:moveTo>
                    <a:pt x="5137277" y="0"/>
                  </a:moveTo>
                  <a:lnTo>
                    <a:pt x="72771" y="0"/>
                  </a:lnTo>
                  <a:lnTo>
                    <a:pt x="44416" y="5709"/>
                  </a:lnTo>
                  <a:lnTo>
                    <a:pt x="21288" y="21288"/>
                  </a:lnTo>
                  <a:lnTo>
                    <a:pt x="5709" y="44416"/>
                  </a:lnTo>
                  <a:lnTo>
                    <a:pt x="0" y="72771"/>
                  </a:lnTo>
                  <a:lnTo>
                    <a:pt x="0" y="746251"/>
                  </a:lnTo>
                  <a:lnTo>
                    <a:pt x="5709" y="774626"/>
                  </a:lnTo>
                  <a:lnTo>
                    <a:pt x="21288" y="797798"/>
                  </a:lnTo>
                  <a:lnTo>
                    <a:pt x="44416" y="813421"/>
                  </a:lnTo>
                  <a:lnTo>
                    <a:pt x="72771" y="819150"/>
                  </a:lnTo>
                  <a:lnTo>
                    <a:pt x="5137277" y="819150"/>
                  </a:lnTo>
                  <a:lnTo>
                    <a:pt x="5165651" y="813421"/>
                  </a:lnTo>
                  <a:lnTo>
                    <a:pt x="5188823" y="797798"/>
                  </a:lnTo>
                  <a:lnTo>
                    <a:pt x="5204446" y="774626"/>
                  </a:lnTo>
                  <a:lnTo>
                    <a:pt x="5210175" y="746251"/>
                  </a:lnTo>
                  <a:lnTo>
                    <a:pt x="5210175" y="72771"/>
                  </a:lnTo>
                  <a:lnTo>
                    <a:pt x="5204446" y="44416"/>
                  </a:lnTo>
                  <a:lnTo>
                    <a:pt x="5188823" y="21288"/>
                  </a:lnTo>
                  <a:lnTo>
                    <a:pt x="5165651" y="5709"/>
                  </a:lnTo>
                  <a:lnTo>
                    <a:pt x="51372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05626" y="4338701"/>
              <a:ext cx="5210175" cy="819150"/>
            </a:xfrm>
            <a:custGeom>
              <a:avLst/>
              <a:gdLst/>
              <a:ahLst/>
              <a:cxnLst/>
              <a:rect l="l" t="t" r="r" b="b"/>
              <a:pathLst>
                <a:path w="5210175" h="819150">
                  <a:moveTo>
                    <a:pt x="0" y="72771"/>
                  </a:moveTo>
                  <a:lnTo>
                    <a:pt x="5709" y="44416"/>
                  </a:lnTo>
                  <a:lnTo>
                    <a:pt x="21288" y="21288"/>
                  </a:lnTo>
                  <a:lnTo>
                    <a:pt x="44416" y="5709"/>
                  </a:lnTo>
                  <a:lnTo>
                    <a:pt x="72771" y="0"/>
                  </a:lnTo>
                  <a:lnTo>
                    <a:pt x="5137277" y="0"/>
                  </a:lnTo>
                  <a:lnTo>
                    <a:pt x="5165651" y="5709"/>
                  </a:lnTo>
                  <a:lnTo>
                    <a:pt x="5188823" y="21288"/>
                  </a:lnTo>
                  <a:lnTo>
                    <a:pt x="5204446" y="44416"/>
                  </a:lnTo>
                  <a:lnTo>
                    <a:pt x="5210175" y="72771"/>
                  </a:lnTo>
                  <a:lnTo>
                    <a:pt x="5210175" y="746251"/>
                  </a:lnTo>
                  <a:lnTo>
                    <a:pt x="5204446" y="774626"/>
                  </a:lnTo>
                  <a:lnTo>
                    <a:pt x="5188823" y="797798"/>
                  </a:lnTo>
                  <a:lnTo>
                    <a:pt x="5165651" y="813421"/>
                  </a:lnTo>
                  <a:lnTo>
                    <a:pt x="5137277" y="819150"/>
                  </a:lnTo>
                  <a:lnTo>
                    <a:pt x="72771" y="819150"/>
                  </a:lnTo>
                  <a:lnTo>
                    <a:pt x="44416" y="813421"/>
                  </a:lnTo>
                  <a:lnTo>
                    <a:pt x="21288" y="797798"/>
                  </a:lnTo>
                  <a:lnTo>
                    <a:pt x="5709" y="774626"/>
                  </a:lnTo>
                  <a:lnTo>
                    <a:pt x="0" y="746251"/>
                  </a:lnTo>
                  <a:lnTo>
                    <a:pt x="0" y="7277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53276" y="4491101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0"/>
                  </a:lnTo>
                  <a:lnTo>
                    <a:pt x="167406" y="16080"/>
                  </a:lnTo>
                  <a:lnTo>
                    <a:pt x="127338" y="35094"/>
                  </a:lnTo>
                  <a:lnTo>
                    <a:pt x="91447" y="60458"/>
                  </a:lnTo>
                  <a:lnTo>
                    <a:pt x="60458" y="91447"/>
                  </a:lnTo>
                  <a:lnTo>
                    <a:pt x="35094" y="127338"/>
                  </a:lnTo>
                  <a:lnTo>
                    <a:pt x="16080" y="167406"/>
                  </a:lnTo>
                  <a:lnTo>
                    <a:pt x="4140" y="210926"/>
                  </a:lnTo>
                  <a:lnTo>
                    <a:pt x="0" y="257175"/>
                  </a:lnTo>
                  <a:lnTo>
                    <a:pt x="4140" y="303389"/>
                  </a:lnTo>
                  <a:lnTo>
                    <a:pt x="16080" y="346892"/>
                  </a:lnTo>
                  <a:lnTo>
                    <a:pt x="35094" y="386954"/>
                  </a:lnTo>
                  <a:lnTo>
                    <a:pt x="60458" y="422849"/>
                  </a:lnTo>
                  <a:lnTo>
                    <a:pt x="91447" y="453849"/>
                  </a:lnTo>
                  <a:lnTo>
                    <a:pt x="127338" y="479227"/>
                  </a:lnTo>
                  <a:lnTo>
                    <a:pt x="167406" y="498254"/>
                  </a:lnTo>
                  <a:lnTo>
                    <a:pt x="21092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53276" y="4491101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0" y="210926"/>
                  </a:lnTo>
                  <a:lnTo>
                    <a:pt x="16080" y="167406"/>
                  </a:lnTo>
                  <a:lnTo>
                    <a:pt x="35094" y="127338"/>
                  </a:lnTo>
                  <a:lnTo>
                    <a:pt x="60458" y="91447"/>
                  </a:lnTo>
                  <a:lnTo>
                    <a:pt x="91447" y="60458"/>
                  </a:lnTo>
                  <a:lnTo>
                    <a:pt x="127338" y="35094"/>
                  </a:lnTo>
                  <a:lnTo>
                    <a:pt x="167406" y="16080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26" y="510204"/>
                  </a:lnTo>
                  <a:lnTo>
                    <a:pt x="167406" y="498254"/>
                  </a:lnTo>
                  <a:lnTo>
                    <a:pt x="127338" y="479227"/>
                  </a:lnTo>
                  <a:lnTo>
                    <a:pt x="91447" y="453849"/>
                  </a:lnTo>
                  <a:lnTo>
                    <a:pt x="60458" y="422849"/>
                  </a:lnTo>
                  <a:lnTo>
                    <a:pt x="35094" y="386954"/>
                  </a:lnTo>
                  <a:lnTo>
                    <a:pt x="16080" y="346892"/>
                  </a:lnTo>
                  <a:lnTo>
                    <a:pt x="4140" y="303389"/>
                  </a:lnTo>
                  <a:lnTo>
                    <a:pt x="0" y="257175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2275" y="4619625"/>
              <a:ext cx="257175" cy="25717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353934" y="4531741"/>
            <a:ext cx="3164840" cy="427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Nothing</a:t>
            </a:r>
            <a:r>
              <a:rPr sz="1400" b="1" spc="-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in</a:t>
            </a:r>
            <a:r>
              <a:rPr sz="1400" b="1" spc="-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his</a:t>
            </a:r>
            <a:r>
              <a:rPr sz="1400" b="1" spc="-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695A"/>
                </a:solidFill>
                <a:latin typeface="Calibri"/>
                <a:cs typeface="Calibri"/>
              </a:rPr>
              <a:t>hands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He</a:t>
            </a:r>
            <a:r>
              <a:rPr sz="1200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has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no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accessible</a:t>
            </a:r>
            <a:r>
              <a:rPr sz="1200" spc="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documents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with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him.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399276" y="5275326"/>
            <a:ext cx="5222875" cy="831850"/>
            <a:chOff x="6399276" y="5275326"/>
            <a:chExt cx="5222875" cy="831850"/>
          </a:xfrm>
        </p:grpSpPr>
        <p:sp>
          <p:nvSpPr>
            <p:cNvPr id="33" name="object 33"/>
            <p:cNvSpPr/>
            <p:nvPr/>
          </p:nvSpPr>
          <p:spPr>
            <a:xfrm>
              <a:off x="6405626" y="5281676"/>
              <a:ext cx="5210175" cy="819150"/>
            </a:xfrm>
            <a:custGeom>
              <a:avLst/>
              <a:gdLst/>
              <a:ahLst/>
              <a:cxnLst/>
              <a:rect l="l" t="t" r="r" b="b"/>
              <a:pathLst>
                <a:path w="5210175" h="819150">
                  <a:moveTo>
                    <a:pt x="5137277" y="0"/>
                  </a:moveTo>
                  <a:lnTo>
                    <a:pt x="72771" y="0"/>
                  </a:lnTo>
                  <a:lnTo>
                    <a:pt x="44416" y="5709"/>
                  </a:lnTo>
                  <a:lnTo>
                    <a:pt x="21288" y="21288"/>
                  </a:lnTo>
                  <a:lnTo>
                    <a:pt x="5709" y="44416"/>
                  </a:lnTo>
                  <a:lnTo>
                    <a:pt x="0" y="72771"/>
                  </a:lnTo>
                  <a:lnTo>
                    <a:pt x="0" y="746277"/>
                  </a:lnTo>
                  <a:lnTo>
                    <a:pt x="5709" y="774616"/>
                  </a:lnTo>
                  <a:lnTo>
                    <a:pt x="21288" y="797760"/>
                  </a:lnTo>
                  <a:lnTo>
                    <a:pt x="44416" y="813364"/>
                  </a:lnTo>
                  <a:lnTo>
                    <a:pt x="72771" y="819086"/>
                  </a:lnTo>
                  <a:lnTo>
                    <a:pt x="5137277" y="819086"/>
                  </a:lnTo>
                  <a:lnTo>
                    <a:pt x="5165651" y="813364"/>
                  </a:lnTo>
                  <a:lnTo>
                    <a:pt x="5188823" y="797760"/>
                  </a:lnTo>
                  <a:lnTo>
                    <a:pt x="5204446" y="774616"/>
                  </a:lnTo>
                  <a:lnTo>
                    <a:pt x="5210175" y="746277"/>
                  </a:lnTo>
                  <a:lnTo>
                    <a:pt x="5210175" y="72771"/>
                  </a:lnTo>
                  <a:lnTo>
                    <a:pt x="5204446" y="44416"/>
                  </a:lnTo>
                  <a:lnTo>
                    <a:pt x="5188823" y="21288"/>
                  </a:lnTo>
                  <a:lnTo>
                    <a:pt x="5165651" y="5709"/>
                  </a:lnTo>
                  <a:lnTo>
                    <a:pt x="51372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05626" y="5281676"/>
              <a:ext cx="5210175" cy="819150"/>
            </a:xfrm>
            <a:custGeom>
              <a:avLst/>
              <a:gdLst/>
              <a:ahLst/>
              <a:cxnLst/>
              <a:rect l="l" t="t" r="r" b="b"/>
              <a:pathLst>
                <a:path w="5210175" h="819150">
                  <a:moveTo>
                    <a:pt x="0" y="72771"/>
                  </a:moveTo>
                  <a:lnTo>
                    <a:pt x="5709" y="44416"/>
                  </a:lnTo>
                  <a:lnTo>
                    <a:pt x="21288" y="21288"/>
                  </a:lnTo>
                  <a:lnTo>
                    <a:pt x="44416" y="5709"/>
                  </a:lnTo>
                  <a:lnTo>
                    <a:pt x="72771" y="0"/>
                  </a:lnTo>
                  <a:lnTo>
                    <a:pt x="5137277" y="0"/>
                  </a:lnTo>
                  <a:lnTo>
                    <a:pt x="5165651" y="5709"/>
                  </a:lnTo>
                  <a:lnTo>
                    <a:pt x="5188823" y="21288"/>
                  </a:lnTo>
                  <a:lnTo>
                    <a:pt x="5204446" y="44416"/>
                  </a:lnTo>
                  <a:lnTo>
                    <a:pt x="5210175" y="72771"/>
                  </a:lnTo>
                  <a:lnTo>
                    <a:pt x="5210175" y="746277"/>
                  </a:lnTo>
                  <a:lnTo>
                    <a:pt x="5204446" y="774616"/>
                  </a:lnTo>
                  <a:lnTo>
                    <a:pt x="5188823" y="797760"/>
                  </a:lnTo>
                  <a:lnTo>
                    <a:pt x="5165651" y="813364"/>
                  </a:lnTo>
                  <a:lnTo>
                    <a:pt x="5137277" y="819086"/>
                  </a:lnTo>
                  <a:lnTo>
                    <a:pt x="72771" y="819086"/>
                  </a:lnTo>
                  <a:lnTo>
                    <a:pt x="44416" y="813364"/>
                  </a:lnTo>
                  <a:lnTo>
                    <a:pt x="21288" y="797760"/>
                  </a:lnTo>
                  <a:lnTo>
                    <a:pt x="5709" y="774616"/>
                  </a:lnTo>
                  <a:lnTo>
                    <a:pt x="0" y="746277"/>
                  </a:lnTo>
                  <a:lnTo>
                    <a:pt x="0" y="7277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653276" y="54340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0"/>
                  </a:lnTo>
                  <a:lnTo>
                    <a:pt x="167406" y="16079"/>
                  </a:lnTo>
                  <a:lnTo>
                    <a:pt x="127338" y="35091"/>
                  </a:lnTo>
                  <a:lnTo>
                    <a:pt x="91447" y="60452"/>
                  </a:lnTo>
                  <a:lnTo>
                    <a:pt x="60458" y="91436"/>
                  </a:lnTo>
                  <a:lnTo>
                    <a:pt x="35094" y="127319"/>
                  </a:lnTo>
                  <a:lnTo>
                    <a:pt x="16080" y="167376"/>
                  </a:lnTo>
                  <a:lnTo>
                    <a:pt x="4140" y="210882"/>
                  </a:lnTo>
                  <a:lnTo>
                    <a:pt x="0" y="257111"/>
                  </a:lnTo>
                  <a:lnTo>
                    <a:pt x="4140" y="303339"/>
                  </a:lnTo>
                  <a:lnTo>
                    <a:pt x="16080" y="346849"/>
                  </a:lnTo>
                  <a:lnTo>
                    <a:pt x="35094" y="386913"/>
                  </a:lnTo>
                  <a:lnTo>
                    <a:pt x="60458" y="422807"/>
                  </a:lnTo>
                  <a:lnTo>
                    <a:pt x="91447" y="453803"/>
                  </a:lnTo>
                  <a:lnTo>
                    <a:pt x="127338" y="479175"/>
                  </a:lnTo>
                  <a:lnTo>
                    <a:pt x="167406" y="498197"/>
                  </a:lnTo>
                  <a:lnTo>
                    <a:pt x="210926" y="510143"/>
                  </a:lnTo>
                  <a:lnTo>
                    <a:pt x="257175" y="514286"/>
                  </a:lnTo>
                  <a:lnTo>
                    <a:pt x="303389" y="510143"/>
                  </a:lnTo>
                  <a:lnTo>
                    <a:pt x="346892" y="498197"/>
                  </a:lnTo>
                  <a:lnTo>
                    <a:pt x="386954" y="479175"/>
                  </a:lnTo>
                  <a:lnTo>
                    <a:pt x="422849" y="453803"/>
                  </a:lnTo>
                  <a:lnTo>
                    <a:pt x="453849" y="422807"/>
                  </a:lnTo>
                  <a:lnTo>
                    <a:pt x="479227" y="386913"/>
                  </a:lnTo>
                  <a:lnTo>
                    <a:pt x="498254" y="346849"/>
                  </a:lnTo>
                  <a:lnTo>
                    <a:pt x="510204" y="303339"/>
                  </a:lnTo>
                  <a:lnTo>
                    <a:pt x="514350" y="257111"/>
                  </a:lnTo>
                  <a:lnTo>
                    <a:pt x="510204" y="210882"/>
                  </a:lnTo>
                  <a:lnTo>
                    <a:pt x="498254" y="167376"/>
                  </a:lnTo>
                  <a:lnTo>
                    <a:pt x="479227" y="127319"/>
                  </a:lnTo>
                  <a:lnTo>
                    <a:pt x="453849" y="91436"/>
                  </a:lnTo>
                  <a:lnTo>
                    <a:pt x="422849" y="60452"/>
                  </a:lnTo>
                  <a:lnTo>
                    <a:pt x="386954" y="35091"/>
                  </a:lnTo>
                  <a:lnTo>
                    <a:pt x="346892" y="16079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53276" y="543407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11"/>
                  </a:moveTo>
                  <a:lnTo>
                    <a:pt x="4140" y="210882"/>
                  </a:lnTo>
                  <a:lnTo>
                    <a:pt x="16080" y="167376"/>
                  </a:lnTo>
                  <a:lnTo>
                    <a:pt x="35094" y="127319"/>
                  </a:lnTo>
                  <a:lnTo>
                    <a:pt x="60458" y="91436"/>
                  </a:lnTo>
                  <a:lnTo>
                    <a:pt x="91447" y="60452"/>
                  </a:lnTo>
                  <a:lnTo>
                    <a:pt x="127338" y="35091"/>
                  </a:lnTo>
                  <a:lnTo>
                    <a:pt x="167406" y="16079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79"/>
                  </a:lnTo>
                  <a:lnTo>
                    <a:pt x="386954" y="35091"/>
                  </a:lnTo>
                  <a:lnTo>
                    <a:pt x="422849" y="60452"/>
                  </a:lnTo>
                  <a:lnTo>
                    <a:pt x="453849" y="91436"/>
                  </a:lnTo>
                  <a:lnTo>
                    <a:pt x="479227" y="127319"/>
                  </a:lnTo>
                  <a:lnTo>
                    <a:pt x="498254" y="167376"/>
                  </a:lnTo>
                  <a:lnTo>
                    <a:pt x="510204" y="210882"/>
                  </a:lnTo>
                  <a:lnTo>
                    <a:pt x="514350" y="257111"/>
                  </a:lnTo>
                  <a:lnTo>
                    <a:pt x="510204" y="303339"/>
                  </a:lnTo>
                  <a:lnTo>
                    <a:pt x="498254" y="346849"/>
                  </a:lnTo>
                  <a:lnTo>
                    <a:pt x="479227" y="386913"/>
                  </a:lnTo>
                  <a:lnTo>
                    <a:pt x="453849" y="422807"/>
                  </a:lnTo>
                  <a:lnTo>
                    <a:pt x="422849" y="453803"/>
                  </a:lnTo>
                  <a:lnTo>
                    <a:pt x="386954" y="479175"/>
                  </a:lnTo>
                  <a:lnTo>
                    <a:pt x="346892" y="498197"/>
                  </a:lnTo>
                  <a:lnTo>
                    <a:pt x="303389" y="510143"/>
                  </a:lnTo>
                  <a:lnTo>
                    <a:pt x="257175" y="514286"/>
                  </a:lnTo>
                  <a:lnTo>
                    <a:pt x="210926" y="510143"/>
                  </a:lnTo>
                  <a:lnTo>
                    <a:pt x="167406" y="498197"/>
                  </a:lnTo>
                  <a:lnTo>
                    <a:pt x="127338" y="479175"/>
                  </a:lnTo>
                  <a:lnTo>
                    <a:pt x="91447" y="453803"/>
                  </a:lnTo>
                  <a:lnTo>
                    <a:pt x="60458" y="422807"/>
                  </a:lnTo>
                  <a:lnTo>
                    <a:pt x="35094" y="386913"/>
                  </a:lnTo>
                  <a:lnTo>
                    <a:pt x="16080" y="346849"/>
                  </a:lnTo>
                  <a:lnTo>
                    <a:pt x="4140" y="303339"/>
                  </a:lnTo>
                  <a:lnTo>
                    <a:pt x="0" y="257111"/>
                  </a:lnTo>
                  <a:close/>
                </a:path>
              </a:pathLst>
            </a:custGeom>
            <a:ln w="6349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72275" y="5562600"/>
              <a:ext cx="257175" cy="25717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353934" y="5474334"/>
            <a:ext cx="3764915" cy="428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No</a:t>
            </a:r>
            <a:r>
              <a:rPr sz="1400" b="1" spc="2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way</a:t>
            </a:r>
            <a:r>
              <a:rPr sz="1400" b="1" spc="-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to</a:t>
            </a:r>
            <a:r>
              <a:rPr sz="1400" b="1" spc="-4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look</a:t>
            </a:r>
            <a:r>
              <a:rPr sz="1400" b="1" spc="-4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him</a:t>
            </a:r>
            <a:r>
              <a:rPr sz="1400" b="1" spc="-6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695A"/>
                </a:solidFill>
                <a:latin typeface="Calibri"/>
                <a:cs typeface="Calibri"/>
              </a:rPr>
              <a:t>up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00" spc="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hospital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cannot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immediately</a:t>
            </a:r>
            <a:r>
              <a:rPr sz="12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locate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his</a:t>
            </a:r>
            <a:r>
              <a:rPr sz="12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previous</a:t>
            </a:r>
            <a:r>
              <a:rPr sz="12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records.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75854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lang="en-IN" sz="900" b="1" spc="-50" dirty="0">
              <a:solidFill>
                <a:srgbClr val="0A4F49"/>
              </a:solidFill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IN" sz="1550" b="1" spc="-10" dirty="0">
                <a:solidFill>
                  <a:srgbClr val="00695A"/>
                </a:solidFill>
                <a:latin typeface="Calibri"/>
                <a:cs typeface="Calibri"/>
              </a:rPr>
              <a:t>T</a:t>
            </a: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EAM PR</a:t>
            </a:r>
            <a:endParaRPr lang="en-US"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endParaRPr lang="en-IN"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66570">
              <a:lnSpc>
                <a:spcPct val="100000"/>
              </a:lnSpc>
              <a:spcBef>
                <a:spcPts val="100"/>
              </a:spcBef>
            </a:pPr>
            <a:r>
              <a:rPr dirty="0"/>
              <a:t>WHO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10" dirty="0"/>
              <a:t>AFFECTED?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37807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0A4F49"/>
                </a:solidFill>
                <a:latin typeface="Calibri"/>
                <a:cs typeface="Calibri"/>
              </a:rPr>
              <a:t>Target</a:t>
            </a:r>
            <a:r>
              <a:rPr sz="18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users,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A4F49"/>
                </a:solidFill>
                <a:latin typeface="Calibri"/>
                <a:cs typeface="Calibri"/>
              </a:rPr>
              <a:t>stakeholders,</a:t>
            </a:r>
            <a:r>
              <a:rPr sz="1800" b="1" spc="-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beneficiaries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862" y="2055876"/>
            <a:ext cx="4128135" cy="1250950"/>
            <a:chOff x="550862" y="2055876"/>
            <a:chExt cx="4128135" cy="1250950"/>
          </a:xfrm>
        </p:grpSpPr>
        <p:sp>
          <p:nvSpPr>
            <p:cNvPr id="8" name="object 8"/>
            <p:cNvSpPr/>
            <p:nvPr/>
          </p:nvSpPr>
          <p:spPr>
            <a:xfrm>
              <a:off x="557212" y="2062226"/>
              <a:ext cx="4115435" cy="1238250"/>
            </a:xfrm>
            <a:custGeom>
              <a:avLst/>
              <a:gdLst/>
              <a:ahLst/>
              <a:cxnLst/>
              <a:rect l="l" t="t" r="r" b="b"/>
              <a:pathLst>
                <a:path w="4115435" h="1238250">
                  <a:moveTo>
                    <a:pt x="4041457" y="0"/>
                  </a:moveTo>
                  <a:lnTo>
                    <a:pt x="73380" y="0"/>
                  </a:lnTo>
                  <a:lnTo>
                    <a:pt x="44818" y="5752"/>
                  </a:lnTo>
                  <a:lnTo>
                    <a:pt x="21493" y="21447"/>
                  </a:lnTo>
                  <a:lnTo>
                    <a:pt x="5766" y="44737"/>
                  </a:lnTo>
                  <a:lnTo>
                    <a:pt x="0" y="73278"/>
                  </a:lnTo>
                  <a:lnTo>
                    <a:pt x="0" y="1164844"/>
                  </a:lnTo>
                  <a:lnTo>
                    <a:pt x="5766" y="1193405"/>
                  </a:lnTo>
                  <a:lnTo>
                    <a:pt x="21493" y="1216739"/>
                  </a:lnTo>
                  <a:lnTo>
                    <a:pt x="44818" y="1232477"/>
                  </a:lnTo>
                  <a:lnTo>
                    <a:pt x="73380" y="1238250"/>
                  </a:lnTo>
                  <a:lnTo>
                    <a:pt x="4041457" y="1238250"/>
                  </a:lnTo>
                  <a:lnTo>
                    <a:pt x="4070018" y="1232477"/>
                  </a:lnTo>
                  <a:lnTo>
                    <a:pt x="4093352" y="1216739"/>
                  </a:lnTo>
                  <a:lnTo>
                    <a:pt x="4109090" y="1193405"/>
                  </a:lnTo>
                  <a:lnTo>
                    <a:pt x="4114863" y="1164844"/>
                  </a:lnTo>
                  <a:lnTo>
                    <a:pt x="4114863" y="73278"/>
                  </a:lnTo>
                  <a:lnTo>
                    <a:pt x="4109090" y="44737"/>
                  </a:lnTo>
                  <a:lnTo>
                    <a:pt x="4093352" y="21447"/>
                  </a:lnTo>
                  <a:lnTo>
                    <a:pt x="4070018" y="5752"/>
                  </a:lnTo>
                  <a:lnTo>
                    <a:pt x="40414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212" y="2062226"/>
              <a:ext cx="4115435" cy="1238250"/>
            </a:xfrm>
            <a:custGeom>
              <a:avLst/>
              <a:gdLst/>
              <a:ahLst/>
              <a:cxnLst/>
              <a:rect l="l" t="t" r="r" b="b"/>
              <a:pathLst>
                <a:path w="4115435" h="1238250">
                  <a:moveTo>
                    <a:pt x="0" y="73278"/>
                  </a:moveTo>
                  <a:lnTo>
                    <a:pt x="5766" y="44737"/>
                  </a:lnTo>
                  <a:lnTo>
                    <a:pt x="21493" y="21447"/>
                  </a:lnTo>
                  <a:lnTo>
                    <a:pt x="44818" y="5752"/>
                  </a:lnTo>
                  <a:lnTo>
                    <a:pt x="73380" y="0"/>
                  </a:lnTo>
                  <a:lnTo>
                    <a:pt x="4041457" y="0"/>
                  </a:lnTo>
                  <a:lnTo>
                    <a:pt x="4070018" y="5752"/>
                  </a:lnTo>
                  <a:lnTo>
                    <a:pt x="4093352" y="21447"/>
                  </a:lnTo>
                  <a:lnTo>
                    <a:pt x="4109090" y="44737"/>
                  </a:lnTo>
                  <a:lnTo>
                    <a:pt x="4114863" y="73278"/>
                  </a:lnTo>
                  <a:lnTo>
                    <a:pt x="4114863" y="1164844"/>
                  </a:lnTo>
                  <a:lnTo>
                    <a:pt x="4109090" y="1193405"/>
                  </a:lnTo>
                  <a:lnTo>
                    <a:pt x="4093352" y="1216739"/>
                  </a:lnTo>
                  <a:lnTo>
                    <a:pt x="4070018" y="1232477"/>
                  </a:lnTo>
                  <a:lnTo>
                    <a:pt x="4041457" y="1238250"/>
                  </a:lnTo>
                  <a:lnTo>
                    <a:pt x="73380" y="1238250"/>
                  </a:lnTo>
                  <a:lnTo>
                    <a:pt x="44818" y="1232477"/>
                  </a:lnTo>
                  <a:lnTo>
                    <a:pt x="21493" y="1216739"/>
                  </a:lnTo>
                  <a:lnTo>
                    <a:pt x="5766" y="1193405"/>
                  </a:lnTo>
                  <a:lnTo>
                    <a:pt x="0" y="1164844"/>
                  </a:lnTo>
                  <a:lnTo>
                    <a:pt x="0" y="73278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8187" y="2243201"/>
              <a:ext cx="562610" cy="571500"/>
            </a:xfrm>
            <a:custGeom>
              <a:avLst/>
              <a:gdLst/>
              <a:ahLst/>
              <a:cxnLst/>
              <a:rect l="l" t="t" r="r" b="b"/>
              <a:pathLst>
                <a:path w="562610" h="571500">
                  <a:moveTo>
                    <a:pt x="280987" y="0"/>
                  </a:moveTo>
                  <a:lnTo>
                    <a:pt x="235410" y="3738"/>
                  </a:lnTo>
                  <a:lnTo>
                    <a:pt x="192175" y="14563"/>
                  </a:lnTo>
                  <a:lnTo>
                    <a:pt x="151859" y="31886"/>
                  </a:lnTo>
                  <a:lnTo>
                    <a:pt x="115041" y="55120"/>
                  </a:lnTo>
                  <a:lnTo>
                    <a:pt x="82300" y="83677"/>
                  </a:lnTo>
                  <a:lnTo>
                    <a:pt x="54215" y="116970"/>
                  </a:lnTo>
                  <a:lnTo>
                    <a:pt x="31364" y="154411"/>
                  </a:lnTo>
                  <a:lnTo>
                    <a:pt x="14325" y="195413"/>
                  </a:lnTo>
                  <a:lnTo>
                    <a:pt x="3677" y="239388"/>
                  </a:lnTo>
                  <a:lnTo>
                    <a:pt x="0" y="285750"/>
                  </a:lnTo>
                  <a:lnTo>
                    <a:pt x="3677" y="332080"/>
                  </a:lnTo>
                  <a:lnTo>
                    <a:pt x="14325" y="376037"/>
                  </a:lnTo>
                  <a:lnTo>
                    <a:pt x="31364" y="417032"/>
                  </a:lnTo>
                  <a:lnTo>
                    <a:pt x="54215" y="454475"/>
                  </a:lnTo>
                  <a:lnTo>
                    <a:pt x="82300" y="487775"/>
                  </a:lnTo>
                  <a:lnTo>
                    <a:pt x="115041" y="516343"/>
                  </a:lnTo>
                  <a:lnTo>
                    <a:pt x="151859" y="539589"/>
                  </a:lnTo>
                  <a:lnTo>
                    <a:pt x="192175" y="556924"/>
                  </a:lnTo>
                  <a:lnTo>
                    <a:pt x="235410" y="567757"/>
                  </a:lnTo>
                  <a:lnTo>
                    <a:pt x="280987" y="571500"/>
                  </a:lnTo>
                  <a:lnTo>
                    <a:pt x="326565" y="567757"/>
                  </a:lnTo>
                  <a:lnTo>
                    <a:pt x="369806" y="556924"/>
                  </a:lnTo>
                  <a:lnTo>
                    <a:pt x="410129" y="539589"/>
                  </a:lnTo>
                  <a:lnTo>
                    <a:pt x="446955" y="516343"/>
                  </a:lnTo>
                  <a:lnTo>
                    <a:pt x="479705" y="487775"/>
                  </a:lnTo>
                  <a:lnTo>
                    <a:pt x="507800" y="454475"/>
                  </a:lnTo>
                  <a:lnTo>
                    <a:pt x="530660" y="417032"/>
                  </a:lnTo>
                  <a:lnTo>
                    <a:pt x="547706" y="376037"/>
                  </a:lnTo>
                  <a:lnTo>
                    <a:pt x="558358" y="332080"/>
                  </a:lnTo>
                  <a:lnTo>
                    <a:pt x="562038" y="285750"/>
                  </a:lnTo>
                  <a:lnTo>
                    <a:pt x="558358" y="239388"/>
                  </a:lnTo>
                  <a:lnTo>
                    <a:pt x="547706" y="195413"/>
                  </a:lnTo>
                  <a:lnTo>
                    <a:pt x="530660" y="154411"/>
                  </a:lnTo>
                  <a:lnTo>
                    <a:pt x="507800" y="116970"/>
                  </a:lnTo>
                  <a:lnTo>
                    <a:pt x="479705" y="83677"/>
                  </a:lnTo>
                  <a:lnTo>
                    <a:pt x="446955" y="55120"/>
                  </a:lnTo>
                  <a:lnTo>
                    <a:pt x="410129" y="31886"/>
                  </a:lnTo>
                  <a:lnTo>
                    <a:pt x="369806" y="14563"/>
                  </a:lnTo>
                  <a:lnTo>
                    <a:pt x="326565" y="373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8187" y="2243201"/>
              <a:ext cx="562610" cy="571500"/>
            </a:xfrm>
            <a:custGeom>
              <a:avLst/>
              <a:gdLst/>
              <a:ahLst/>
              <a:cxnLst/>
              <a:rect l="l" t="t" r="r" b="b"/>
              <a:pathLst>
                <a:path w="562610" h="571500">
                  <a:moveTo>
                    <a:pt x="0" y="285750"/>
                  </a:moveTo>
                  <a:lnTo>
                    <a:pt x="3677" y="239388"/>
                  </a:lnTo>
                  <a:lnTo>
                    <a:pt x="14325" y="195413"/>
                  </a:lnTo>
                  <a:lnTo>
                    <a:pt x="31364" y="154411"/>
                  </a:lnTo>
                  <a:lnTo>
                    <a:pt x="54215" y="116970"/>
                  </a:lnTo>
                  <a:lnTo>
                    <a:pt x="82300" y="83677"/>
                  </a:lnTo>
                  <a:lnTo>
                    <a:pt x="115041" y="55120"/>
                  </a:lnTo>
                  <a:lnTo>
                    <a:pt x="151859" y="31886"/>
                  </a:lnTo>
                  <a:lnTo>
                    <a:pt x="192175" y="14563"/>
                  </a:lnTo>
                  <a:lnTo>
                    <a:pt x="235410" y="3738"/>
                  </a:lnTo>
                  <a:lnTo>
                    <a:pt x="280987" y="0"/>
                  </a:lnTo>
                  <a:lnTo>
                    <a:pt x="326565" y="3738"/>
                  </a:lnTo>
                  <a:lnTo>
                    <a:pt x="369806" y="14563"/>
                  </a:lnTo>
                  <a:lnTo>
                    <a:pt x="410129" y="31886"/>
                  </a:lnTo>
                  <a:lnTo>
                    <a:pt x="446955" y="55120"/>
                  </a:lnTo>
                  <a:lnTo>
                    <a:pt x="479705" y="83677"/>
                  </a:lnTo>
                  <a:lnTo>
                    <a:pt x="507800" y="116970"/>
                  </a:lnTo>
                  <a:lnTo>
                    <a:pt x="530660" y="154411"/>
                  </a:lnTo>
                  <a:lnTo>
                    <a:pt x="547706" y="195413"/>
                  </a:lnTo>
                  <a:lnTo>
                    <a:pt x="558358" y="239388"/>
                  </a:lnTo>
                  <a:lnTo>
                    <a:pt x="562038" y="285750"/>
                  </a:lnTo>
                  <a:lnTo>
                    <a:pt x="558358" y="332080"/>
                  </a:lnTo>
                  <a:lnTo>
                    <a:pt x="547706" y="376037"/>
                  </a:lnTo>
                  <a:lnTo>
                    <a:pt x="530660" y="417032"/>
                  </a:lnTo>
                  <a:lnTo>
                    <a:pt x="507800" y="454475"/>
                  </a:lnTo>
                  <a:lnTo>
                    <a:pt x="479705" y="487775"/>
                  </a:lnTo>
                  <a:lnTo>
                    <a:pt x="446955" y="516343"/>
                  </a:lnTo>
                  <a:lnTo>
                    <a:pt x="410129" y="539589"/>
                  </a:lnTo>
                  <a:lnTo>
                    <a:pt x="369806" y="556924"/>
                  </a:lnTo>
                  <a:lnTo>
                    <a:pt x="326565" y="567757"/>
                  </a:lnTo>
                  <a:lnTo>
                    <a:pt x="280987" y="571500"/>
                  </a:lnTo>
                  <a:lnTo>
                    <a:pt x="235410" y="567757"/>
                  </a:lnTo>
                  <a:lnTo>
                    <a:pt x="192175" y="556924"/>
                  </a:lnTo>
                  <a:lnTo>
                    <a:pt x="151859" y="539589"/>
                  </a:lnTo>
                  <a:lnTo>
                    <a:pt x="115041" y="516343"/>
                  </a:lnTo>
                  <a:lnTo>
                    <a:pt x="82300" y="487775"/>
                  </a:lnTo>
                  <a:lnTo>
                    <a:pt x="54215" y="454475"/>
                  </a:lnTo>
                  <a:lnTo>
                    <a:pt x="31364" y="417032"/>
                  </a:lnTo>
                  <a:lnTo>
                    <a:pt x="14325" y="376037"/>
                  </a:lnTo>
                  <a:lnTo>
                    <a:pt x="3677" y="332080"/>
                  </a:lnTo>
                  <a:lnTo>
                    <a:pt x="0" y="28575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300" y="2381250"/>
              <a:ext cx="276225" cy="2857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451610" y="2113009"/>
            <a:ext cx="3044825" cy="985519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Primary</a:t>
            </a:r>
            <a:r>
              <a:rPr sz="1550" b="1" spc="16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00695A"/>
                </a:solidFill>
                <a:latin typeface="Calibri"/>
                <a:cs typeface="Calibri"/>
              </a:rPr>
              <a:t>users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05200"/>
              </a:lnSpc>
              <a:spcBef>
                <a:spcPts val="395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Healthcare</a:t>
            </a:r>
            <a:r>
              <a:rPr sz="1250" spc="10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workers</a:t>
            </a:r>
            <a:r>
              <a:rPr sz="1250" spc="9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are</a:t>
            </a:r>
            <a:r>
              <a:rPr sz="125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50" spc="10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main</a:t>
            </a:r>
            <a:r>
              <a:rPr sz="1250" spc="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users</a:t>
            </a:r>
            <a:r>
              <a:rPr sz="1250" spc="9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of</a:t>
            </a:r>
            <a:r>
              <a:rPr sz="1250" spc="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the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system:</a:t>
            </a:r>
            <a:r>
              <a:rPr sz="1250" spc="1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doctors,</a:t>
            </a:r>
            <a:r>
              <a:rPr sz="1250" spc="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nurses</a:t>
            </a:r>
            <a:r>
              <a:rPr sz="1250" spc="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50" spc="10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frontline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healthcare</a:t>
            </a:r>
            <a:r>
              <a:rPr sz="1250" spc="1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workers.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28870" y="2072004"/>
            <a:ext cx="3266440" cy="2654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Who</a:t>
            </a:r>
            <a:r>
              <a:rPr sz="1550" b="1" spc="6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benefits</a:t>
            </a:r>
            <a:r>
              <a:rPr sz="1550" b="1" spc="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if</a:t>
            </a:r>
            <a:r>
              <a:rPr sz="1550" b="1" spc="114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the</a:t>
            </a:r>
            <a:r>
              <a:rPr sz="1550" b="1" spc="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problem</a:t>
            </a:r>
            <a:r>
              <a:rPr sz="1550" b="1" spc="8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is</a:t>
            </a:r>
            <a:r>
              <a:rPr sz="1550" b="1" spc="1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695A"/>
                </a:solidFill>
                <a:latin typeface="Calibri"/>
                <a:cs typeface="Calibri"/>
              </a:rPr>
              <a:t>solved?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32426" y="2446401"/>
            <a:ext cx="6718300" cy="708025"/>
            <a:chOff x="4932426" y="2446401"/>
            <a:chExt cx="6718300" cy="708025"/>
          </a:xfrm>
        </p:grpSpPr>
        <p:sp>
          <p:nvSpPr>
            <p:cNvPr id="30" name="object 30"/>
            <p:cNvSpPr/>
            <p:nvPr/>
          </p:nvSpPr>
          <p:spPr>
            <a:xfrm>
              <a:off x="4938776" y="2452751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66323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22046"/>
                  </a:lnTo>
                  <a:lnTo>
                    <a:pt x="5750" y="650533"/>
                  </a:lnTo>
                  <a:lnTo>
                    <a:pt x="21431" y="673830"/>
                  </a:lnTo>
                  <a:lnTo>
                    <a:pt x="44684" y="689554"/>
                  </a:lnTo>
                  <a:lnTo>
                    <a:pt x="73151" y="695325"/>
                  </a:lnTo>
                  <a:lnTo>
                    <a:pt x="6632321" y="695325"/>
                  </a:lnTo>
                  <a:lnTo>
                    <a:pt x="6660808" y="689554"/>
                  </a:lnTo>
                  <a:lnTo>
                    <a:pt x="6684105" y="673830"/>
                  </a:lnTo>
                  <a:lnTo>
                    <a:pt x="6699829" y="650533"/>
                  </a:lnTo>
                  <a:lnTo>
                    <a:pt x="6705600" y="622046"/>
                  </a:lnTo>
                  <a:lnTo>
                    <a:pt x="6705600" y="73151"/>
                  </a:lnTo>
                  <a:lnTo>
                    <a:pt x="6699829" y="44684"/>
                  </a:lnTo>
                  <a:lnTo>
                    <a:pt x="6684105" y="21431"/>
                  </a:lnTo>
                  <a:lnTo>
                    <a:pt x="6660808" y="5750"/>
                  </a:lnTo>
                  <a:lnTo>
                    <a:pt x="6632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38776" y="2452751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632321" y="0"/>
                  </a:lnTo>
                  <a:lnTo>
                    <a:pt x="6660808" y="5750"/>
                  </a:lnTo>
                  <a:lnTo>
                    <a:pt x="6684105" y="21431"/>
                  </a:lnTo>
                  <a:lnTo>
                    <a:pt x="6699829" y="44684"/>
                  </a:lnTo>
                  <a:lnTo>
                    <a:pt x="6705600" y="73151"/>
                  </a:lnTo>
                  <a:lnTo>
                    <a:pt x="6705600" y="622046"/>
                  </a:lnTo>
                  <a:lnTo>
                    <a:pt x="6699829" y="650533"/>
                  </a:lnTo>
                  <a:lnTo>
                    <a:pt x="6684105" y="673830"/>
                  </a:lnTo>
                  <a:lnTo>
                    <a:pt x="6660808" y="689554"/>
                  </a:lnTo>
                  <a:lnTo>
                    <a:pt x="6632321" y="695325"/>
                  </a:lnTo>
                  <a:lnTo>
                    <a:pt x="73151" y="695325"/>
                  </a:lnTo>
                  <a:lnTo>
                    <a:pt x="44684" y="689554"/>
                  </a:lnTo>
                  <a:lnTo>
                    <a:pt x="21431" y="673830"/>
                  </a:lnTo>
                  <a:lnTo>
                    <a:pt x="5750" y="650533"/>
                  </a:lnTo>
                  <a:lnTo>
                    <a:pt x="0" y="622046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81651" y="2548001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0"/>
                  </a:lnTo>
                  <a:lnTo>
                    <a:pt x="167406" y="16080"/>
                  </a:lnTo>
                  <a:lnTo>
                    <a:pt x="127338" y="35094"/>
                  </a:lnTo>
                  <a:lnTo>
                    <a:pt x="91447" y="60458"/>
                  </a:lnTo>
                  <a:lnTo>
                    <a:pt x="60458" y="91447"/>
                  </a:lnTo>
                  <a:lnTo>
                    <a:pt x="35094" y="127338"/>
                  </a:lnTo>
                  <a:lnTo>
                    <a:pt x="16080" y="167406"/>
                  </a:lnTo>
                  <a:lnTo>
                    <a:pt x="4140" y="210926"/>
                  </a:lnTo>
                  <a:lnTo>
                    <a:pt x="0" y="257175"/>
                  </a:lnTo>
                  <a:lnTo>
                    <a:pt x="4140" y="303389"/>
                  </a:lnTo>
                  <a:lnTo>
                    <a:pt x="16080" y="346892"/>
                  </a:lnTo>
                  <a:lnTo>
                    <a:pt x="35094" y="386954"/>
                  </a:lnTo>
                  <a:lnTo>
                    <a:pt x="60458" y="422849"/>
                  </a:lnTo>
                  <a:lnTo>
                    <a:pt x="91447" y="453849"/>
                  </a:lnTo>
                  <a:lnTo>
                    <a:pt x="127338" y="479227"/>
                  </a:lnTo>
                  <a:lnTo>
                    <a:pt x="167406" y="498254"/>
                  </a:lnTo>
                  <a:lnTo>
                    <a:pt x="21092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081651" y="2548001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0" y="210926"/>
                  </a:lnTo>
                  <a:lnTo>
                    <a:pt x="16080" y="167406"/>
                  </a:lnTo>
                  <a:lnTo>
                    <a:pt x="35094" y="127338"/>
                  </a:lnTo>
                  <a:lnTo>
                    <a:pt x="60458" y="91447"/>
                  </a:lnTo>
                  <a:lnTo>
                    <a:pt x="91447" y="60458"/>
                  </a:lnTo>
                  <a:lnTo>
                    <a:pt x="127338" y="35094"/>
                  </a:lnTo>
                  <a:lnTo>
                    <a:pt x="167406" y="16080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26" y="510204"/>
                  </a:lnTo>
                  <a:lnTo>
                    <a:pt x="167406" y="498254"/>
                  </a:lnTo>
                  <a:lnTo>
                    <a:pt x="127338" y="479227"/>
                  </a:lnTo>
                  <a:lnTo>
                    <a:pt x="91447" y="453849"/>
                  </a:lnTo>
                  <a:lnTo>
                    <a:pt x="60458" y="422849"/>
                  </a:lnTo>
                  <a:lnTo>
                    <a:pt x="35094" y="386954"/>
                  </a:lnTo>
                  <a:lnTo>
                    <a:pt x="16080" y="346892"/>
                  </a:lnTo>
                  <a:lnTo>
                    <a:pt x="4140" y="303389"/>
                  </a:lnTo>
                  <a:lnTo>
                    <a:pt x="0" y="257175"/>
                  </a:lnTo>
                  <a:close/>
                </a:path>
              </a:pathLst>
            </a:custGeom>
            <a:ln w="635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00650" y="2667000"/>
              <a:ext cx="257175" cy="25717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706745" y="2497137"/>
            <a:ext cx="5690235" cy="590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Patients</a:t>
            </a:r>
            <a:r>
              <a:rPr sz="1250" b="1" spc="9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with</a:t>
            </a:r>
            <a:r>
              <a:rPr sz="1250" b="1" spc="1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long-term</a:t>
            </a:r>
            <a:r>
              <a:rPr sz="1250" b="1" spc="9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health</a:t>
            </a:r>
            <a:r>
              <a:rPr sz="1250" b="1" spc="6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0695A"/>
                </a:solidFill>
                <a:latin typeface="Calibri"/>
                <a:cs typeface="Calibri"/>
              </a:rPr>
              <a:t>conditions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110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People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receiving</a:t>
            </a:r>
            <a:r>
              <a:rPr sz="12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ongoing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treatment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for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diabetes,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hypertension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or</a:t>
            </a:r>
            <a:r>
              <a:rPr sz="1200" spc="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other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conditions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visit different</a:t>
            </a:r>
            <a:r>
              <a:rPr sz="12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healthcare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facilities.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0862" y="3427476"/>
            <a:ext cx="4128135" cy="1250950"/>
            <a:chOff x="550862" y="3427476"/>
            <a:chExt cx="4128135" cy="1250950"/>
          </a:xfrm>
        </p:grpSpPr>
        <p:sp>
          <p:nvSpPr>
            <p:cNvPr id="15" name="object 15"/>
            <p:cNvSpPr/>
            <p:nvPr/>
          </p:nvSpPr>
          <p:spPr>
            <a:xfrm>
              <a:off x="557212" y="3433826"/>
              <a:ext cx="4115435" cy="1238250"/>
            </a:xfrm>
            <a:custGeom>
              <a:avLst/>
              <a:gdLst/>
              <a:ahLst/>
              <a:cxnLst/>
              <a:rect l="l" t="t" r="r" b="b"/>
              <a:pathLst>
                <a:path w="4115435" h="1238250">
                  <a:moveTo>
                    <a:pt x="4041457" y="0"/>
                  </a:moveTo>
                  <a:lnTo>
                    <a:pt x="73380" y="0"/>
                  </a:lnTo>
                  <a:lnTo>
                    <a:pt x="44818" y="5752"/>
                  </a:lnTo>
                  <a:lnTo>
                    <a:pt x="21493" y="21447"/>
                  </a:lnTo>
                  <a:lnTo>
                    <a:pt x="5766" y="44737"/>
                  </a:lnTo>
                  <a:lnTo>
                    <a:pt x="0" y="73278"/>
                  </a:lnTo>
                  <a:lnTo>
                    <a:pt x="0" y="1164844"/>
                  </a:lnTo>
                  <a:lnTo>
                    <a:pt x="5766" y="1193405"/>
                  </a:lnTo>
                  <a:lnTo>
                    <a:pt x="21493" y="1216739"/>
                  </a:lnTo>
                  <a:lnTo>
                    <a:pt x="44818" y="1232477"/>
                  </a:lnTo>
                  <a:lnTo>
                    <a:pt x="73380" y="1238250"/>
                  </a:lnTo>
                  <a:lnTo>
                    <a:pt x="4041457" y="1238250"/>
                  </a:lnTo>
                  <a:lnTo>
                    <a:pt x="4070018" y="1232477"/>
                  </a:lnTo>
                  <a:lnTo>
                    <a:pt x="4093352" y="1216739"/>
                  </a:lnTo>
                  <a:lnTo>
                    <a:pt x="4109090" y="1193405"/>
                  </a:lnTo>
                  <a:lnTo>
                    <a:pt x="4114863" y="1164844"/>
                  </a:lnTo>
                  <a:lnTo>
                    <a:pt x="4114863" y="73278"/>
                  </a:lnTo>
                  <a:lnTo>
                    <a:pt x="4109090" y="44737"/>
                  </a:lnTo>
                  <a:lnTo>
                    <a:pt x="4093352" y="21447"/>
                  </a:lnTo>
                  <a:lnTo>
                    <a:pt x="4070018" y="5752"/>
                  </a:lnTo>
                  <a:lnTo>
                    <a:pt x="40414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212" y="3433826"/>
              <a:ext cx="4115435" cy="1238250"/>
            </a:xfrm>
            <a:custGeom>
              <a:avLst/>
              <a:gdLst/>
              <a:ahLst/>
              <a:cxnLst/>
              <a:rect l="l" t="t" r="r" b="b"/>
              <a:pathLst>
                <a:path w="4115435" h="1238250">
                  <a:moveTo>
                    <a:pt x="0" y="73278"/>
                  </a:moveTo>
                  <a:lnTo>
                    <a:pt x="5766" y="44737"/>
                  </a:lnTo>
                  <a:lnTo>
                    <a:pt x="21493" y="21447"/>
                  </a:lnTo>
                  <a:lnTo>
                    <a:pt x="44818" y="5752"/>
                  </a:lnTo>
                  <a:lnTo>
                    <a:pt x="73380" y="0"/>
                  </a:lnTo>
                  <a:lnTo>
                    <a:pt x="4041457" y="0"/>
                  </a:lnTo>
                  <a:lnTo>
                    <a:pt x="4070018" y="5752"/>
                  </a:lnTo>
                  <a:lnTo>
                    <a:pt x="4093352" y="21447"/>
                  </a:lnTo>
                  <a:lnTo>
                    <a:pt x="4109090" y="44737"/>
                  </a:lnTo>
                  <a:lnTo>
                    <a:pt x="4114863" y="73278"/>
                  </a:lnTo>
                  <a:lnTo>
                    <a:pt x="4114863" y="1164844"/>
                  </a:lnTo>
                  <a:lnTo>
                    <a:pt x="4109090" y="1193405"/>
                  </a:lnTo>
                  <a:lnTo>
                    <a:pt x="4093352" y="1216739"/>
                  </a:lnTo>
                  <a:lnTo>
                    <a:pt x="4070018" y="1232477"/>
                  </a:lnTo>
                  <a:lnTo>
                    <a:pt x="4041457" y="1238250"/>
                  </a:lnTo>
                  <a:lnTo>
                    <a:pt x="73380" y="1238250"/>
                  </a:lnTo>
                  <a:lnTo>
                    <a:pt x="44818" y="1232477"/>
                  </a:lnTo>
                  <a:lnTo>
                    <a:pt x="21493" y="1216739"/>
                  </a:lnTo>
                  <a:lnTo>
                    <a:pt x="5766" y="1193405"/>
                  </a:lnTo>
                  <a:lnTo>
                    <a:pt x="0" y="1164844"/>
                  </a:lnTo>
                  <a:lnTo>
                    <a:pt x="0" y="73278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38187" y="3614801"/>
              <a:ext cx="562610" cy="571500"/>
            </a:xfrm>
            <a:custGeom>
              <a:avLst/>
              <a:gdLst/>
              <a:ahLst/>
              <a:cxnLst/>
              <a:rect l="l" t="t" r="r" b="b"/>
              <a:pathLst>
                <a:path w="562610" h="571500">
                  <a:moveTo>
                    <a:pt x="280987" y="0"/>
                  </a:moveTo>
                  <a:lnTo>
                    <a:pt x="235410" y="3738"/>
                  </a:lnTo>
                  <a:lnTo>
                    <a:pt x="192175" y="14563"/>
                  </a:lnTo>
                  <a:lnTo>
                    <a:pt x="151859" y="31886"/>
                  </a:lnTo>
                  <a:lnTo>
                    <a:pt x="115041" y="55120"/>
                  </a:lnTo>
                  <a:lnTo>
                    <a:pt x="82300" y="83677"/>
                  </a:lnTo>
                  <a:lnTo>
                    <a:pt x="54215" y="116970"/>
                  </a:lnTo>
                  <a:lnTo>
                    <a:pt x="31364" y="154411"/>
                  </a:lnTo>
                  <a:lnTo>
                    <a:pt x="14325" y="195413"/>
                  </a:lnTo>
                  <a:lnTo>
                    <a:pt x="3677" y="239388"/>
                  </a:lnTo>
                  <a:lnTo>
                    <a:pt x="0" y="285750"/>
                  </a:lnTo>
                  <a:lnTo>
                    <a:pt x="3677" y="332080"/>
                  </a:lnTo>
                  <a:lnTo>
                    <a:pt x="14325" y="376037"/>
                  </a:lnTo>
                  <a:lnTo>
                    <a:pt x="31364" y="417032"/>
                  </a:lnTo>
                  <a:lnTo>
                    <a:pt x="54215" y="454475"/>
                  </a:lnTo>
                  <a:lnTo>
                    <a:pt x="82300" y="487775"/>
                  </a:lnTo>
                  <a:lnTo>
                    <a:pt x="115041" y="516343"/>
                  </a:lnTo>
                  <a:lnTo>
                    <a:pt x="151859" y="539589"/>
                  </a:lnTo>
                  <a:lnTo>
                    <a:pt x="192175" y="556924"/>
                  </a:lnTo>
                  <a:lnTo>
                    <a:pt x="235410" y="567757"/>
                  </a:lnTo>
                  <a:lnTo>
                    <a:pt x="280987" y="571500"/>
                  </a:lnTo>
                  <a:lnTo>
                    <a:pt x="326565" y="567757"/>
                  </a:lnTo>
                  <a:lnTo>
                    <a:pt x="369806" y="556924"/>
                  </a:lnTo>
                  <a:lnTo>
                    <a:pt x="410129" y="539589"/>
                  </a:lnTo>
                  <a:lnTo>
                    <a:pt x="446955" y="516343"/>
                  </a:lnTo>
                  <a:lnTo>
                    <a:pt x="479705" y="487775"/>
                  </a:lnTo>
                  <a:lnTo>
                    <a:pt x="507800" y="454475"/>
                  </a:lnTo>
                  <a:lnTo>
                    <a:pt x="530660" y="417032"/>
                  </a:lnTo>
                  <a:lnTo>
                    <a:pt x="547706" y="376037"/>
                  </a:lnTo>
                  <a:lnTo>
                    <a:pt x="558358" y="332080"/>
                  </a:lnTo>
                  <a:lnTo>
                    <a:pt x="562038" y="285750"/>
                  </a:lnTo>
                  <a:lnTo>
                    <a:pt x="558358" y="239388"/>
                  </a:lnTo>
                  <a:lnTo>
                    <a:pt x="547706" y="195413"/>
                  </a:lnTo>
                  <a:lnTo>
                    <a:pt x="530660" y="154411"/>
                  </a:lnTo>
                  <a:lnTo>
                    <a:pt x="507800" y="116970"/>
                  </a:lnTo>
                  <a:lnTo>
                    <a:pt x="479705" y="83677"/>
                  </a:lnTo>
                  <a:lnTo>
                    <a:pt x="446955" y="55120"/>
                  </a:lnTo>
                  <a:lnTo>
                    <a:pt x="410129" y="31886"/>
                  </a:lnTo>
                  <a:lnTo>
                    <a:pt x="369806" y="14563"/>
                  </a:lnTo>
                  <a:lnTo>
                    <a:pt x="326565" y="373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8187" y="3614801"/>
              <a:ext cx="562610" cy="571500"/>
            </a:xfrm>
            <a:custGeom>
              <a:avLst/>
              <a:gdLst/>
              <a:ahLst/>
              <a:cxnLst/>
              <a:rect l="l" t="t" r="r" b="b"/>
              <a:pathLst>
                <a:path w="562610" h="571500">
                  <a:moveTo>
                    <a:pt x="0" y="285750"/>
                  </a:moveTo>
                  <a:lnTo>
                    <a:pt x="3677" y="239388"/>
                  </a:lnTo>
                  <a:lnTo>
                    <a:pt x="14325" y="195413"/>
                  </a:lnTo>
                  <a:lnTo>
                    <a:pt x="31364" y="154411"/>
                  </a:lnTo>
                  <a:lnTo>
                    <a:pt x="54215" y="116970"/>
                  </a:lnTo>
                  <a:lnTo>
                    <a:pt x="82300" y="83677"/>
                  </a:lnTo>
                  <a:lnTo>
                    <a:pt x="115041" y="55120"/>
                  </a:lnTo>
                  <a:lnTo>
                    <a:pt x="151859" y="31886"/>
                  </a:lnTo>
                  <a:lnTo>
                    <a:pt x="192175" y="14563"/>
                  </a:lnTo>
                  <a:lnTo>
                    <a:pt x="235410" y="3738"/>
                  </a:lnTo>
                  <a:lnTo>
                    <a:pt x="280987" y="0"/>
                  </a:lnTo>
                  <a:lnTo>
                    <a:pt x="326565" y="3738"/>
                  </a:lnTo>
                  <a:lnTo>
                    <a:pt x="369806" y="14563"/>
                  </a:lnTo>
                  <a:lnTo>
                    <a:pt x="410129" y="31886"/>
                  </a:lnTo>
                  <a:lnTo>
                    <a:pt x="446955" y="55120"/>
                  </a:lnTo>
                  <a:lnTo>
                    <a:pt x="479705" y="83677"/>
                  </a:lnTo>
                  <a:lnTo>
                    <a:pt x="507800" y="116970"/>
                  </a:lnTo>
                  <a:lnTo>
                    <a:pt x="530660" y="154411"/>
                  </a:lnTo>
                  <a:lnTo>
                    <a:pt x="547706" y="195413"/>
                  </a:lnTo>
                  <a:lnTo>
                    <a:pt x="558358" y="239388"/>
                  </a:lnTo>
                  <a:lnTo>
                    <a:pt x="562038" y="285750"/>
                  </a:lnTo>
                  <a:lnTo>
                    <a:pt x="558358" y="332080"/>
                  </a:lnTo>
                  <a:lnTo>
                    <a:pt x="547706" y="376037"/>
                  </a:lnTo>
                  <a:lnTo>
                    <a:pt x="530660" y="417032"/>
                  </a:lnTo>
                  <a:lnTo>
                    <a:pt x="507800" y="454475"/>
                  </a:lnTo>
                  <a:lnTo>
                    <a:pt x="479705" y="487775"/>
                  </a:lnTo>
                  <a:lnTo>
                    <a:pt x="446955" y="516343"/>
                  </a:lnTo>
                  <a:lnTo>
                    <a:pt x="410129" y="539589"/>
                  </a:lnTo>
                  <a:lnTo>
                    <a:pt x="369806" y="556924"/>
                  </a:lnTo>
                  <a:lnTo>
                    <a:pt x="326565" y="567757"/>
                  </a:lnTo>
                  <a:lnTo>
                    <a:pt x="280987" y="571500"/>
                  </a:lnTo>
                  <a:lnTo>
                    <a:pt x="235410" y="567757"/>
                  </a:lnTo>
                  <a:lnTo>
                    <a:pt x="192175" y="556924"/>
                  </a:lnTo>
                  <a:lnTo>
                    <a:pt x="151859" y="539589"/>
                  </a:lnTo>
                  <a:lnTo>
                    <a:pt x="115041" y="516343"/>
                  </a:lnTo>
                  <a:lnTo>
                    <a:pt x="82300" y="487775"/>
                  </a:lnTo>
                  <a:lnTo>
                    <a:pt x="54215" y="454475"/>
                  </a:lnTo>
                  <a:lnTo>
                    <a:pt x="31364" y="417032"/>
                  </a:lnTo>
                  <a:lnTo>
                    <a:pt x="14325" y="376037"/>
                  </a:lnTo>
                  <a:lnTo>
                    <a:pt x="3677" y="332080"/>
                  </a:lnTo>
                  <a:lnTo>
                    <a:pt x="0" y="28575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6300" y="3752850"/>
              <a:ext cx="276225" cy="2857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451610" y="3486863"/>
            <a:ext cx="2975610" cy="58420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b="1" spc="-10" dirty="0">
                <a:solidFill>
                  <a:srgbClr val="00695A"/>
                </a:solidFill>
                <a:latin typeface="Calibri"/>
                <a:cs typeface="Calibri"/>
              </a:rPr>
              <a:t>Target</a:t>
            </a:r>
            <a:r>
              <a:rPr sz="1550" b="1" spc="-4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00695A"/>
                </a:solidFill>
                <a:latin typeface="Calibri"/>
                <a:cs typeface="Calibri"/>
              </a:rPr>
              <a:t>group</a:t>
            </a: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Rural</a:t>
            </a:r>
            <a:r>
              <a:rPr sz="1250" spc="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patients</a:t>
            </a:r>
            <a:r>
              <a:rPr sz="1250" spc="1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are</a:t>
            </a:r>
            <a:r>
              <a:rPr sz="1250" spc="1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50" spc="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primary</a:t>
            </a:r>
            <a:r>
              <a:rPr sz="1250" spc="10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beneficiaries.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932426" y="3217926"/>
            <a:ext cx="6718300" cy="708025"/>
            <a:chOff x="4932426" y="3217926"/>
            <a:chExt cx="6718300" cy="708025"/>
          </a:xfrm>
        </p:grpSpPr>
        <p:sp>
          <p:nvSpPr>
            <p:cNvPr id="37" name="object 37"/>
            <p:cNvSpPr/>
            <p:nvPr/>
          </p:nvSpPr>
          <p:spPr>
            <a:xfrm>
              <a:off x="4938776" y="3224276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66323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22046"/>
                  </a:lnTo>
                  <a:lnTo>
                    <a:pt x="5750" y="650533"/>
                  </a:lnTo>
                  <a:lnTo>
                    <a:pt x="21431" y="673830"/>
                  </a:lnTo>
                  <a:lnTo>
                    <a:pt x="44684" y="689554"/>
                  </a:lnTo>
                  <a:lnTo>
                    <a:pt x="73151" y="695325"/>
                  </a:lnTo>
                  <a:lnTo>
                    <a:pt x="6632321" y="695325"/>
                  </a:lnTo>
                  <a:lnTo>
                    <a:pt x="6660808" y="689554"/>
                  </a:lnTo>
                  <a:lnTo>
                    <a:pt x="6684105" y="673830"/>
                  </a:lnTo>
                  <a:lnTo>
                    <a:pt x="6699829" y="650533"/>
                  </a:lnTo>
                  <a:lnTo>
                    <a:pt x="6705600" y="622046"/>
                  </a:lnTo>
                  <a:lnTo>
                    <a:pt x="6705600" y="73151"/>
                  </a:lnTo>
                  <a:lnTo>
                    <a:pt x="6699829" y="44684"/>
                  </a:lnTo>
                  <a:lnTo>
                    <a:pt x="6684105" y="21431"/>
                  </a:lnTo>
                  <a:lnTo>
                    <a:pt x="6660808" y="5750"/>
                  </a:lnTo>
                  <a:lnTo>
                    <a:pt x="6632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38776" y="3224276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632321" y="0"/>
                  </a:lnTo>
                  <a:lnTo>
                    <a:pt x="6660808" y="5750"/>
                  </a:lnTo>
                  <a:lnTo>
                    <a:pt x="6684105" y="21431"/>
                  </a:lnTo>
                  <a:lnTo>
                    <a:pt x="6699829" y="44684"/>
                  </a:lnTo>
                  <a:lnTo>
                    <a:pt x="6705600" y="73151"/>
                  </a:lnTo>
                  <a:lnTo>
                    <a:pt x="6705600" y="622046"/>
                  </a:lnTo>
                  <a:lnTo>
                    <a:pt x="6699829" y="650533"/>
                  </a:lnTo>
                  <a:lnTo>
                    <a:pt x="6684105" y="673830"/>
                  </a:lnTo>
                  <a:lnTo>
                    <a:pt x="6660808" y="689554"/>
                  </a:lnTo>
                  <a:lnTo>
                    <a:pt x="6632321" y="695325"/>
                  </a:lnTo>
                  <a:lnTo>
                    <a:pt x="73151" y="695325"/>
                  </a:lnTo>
                  <a:lnTo>
                    <a:pt x="44684" y="689554"/>
                  </a:lnTo>
                  <a:lnTo>
                    <a:pt x="21431" y="673830"/>
                  </a:lnTo>
                  <a:lnTo>
                    <a:pt x="5750" y="650533"/>
                  </a:lnTo>
                  <a:lnTo>
                    <a:pt x="0" y="622046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81651" y="3319526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257175" y="0"/>
                  </a:moveTo>
                  <a:lnTo>
                    <a:pt x="210926" y="4063"/>
                  </a:lnTo>
                  <a:lnTo>
                    <a:pt x="167406" y="15778"/>
                  </a:lnTo>
                  <a:lnTo>
                    <a:pt x="127338" y="34435"/>
                  </a:lnTo>
                  <a:lnTo>
                    <a:pt x="91447" y="59323"/>
                  </a:lnTo>
                  <a:lnTo>
                    <a:pt x="60458" y="89731"/>
                  </a:lnTo>
                  <a:lnTo>
                    <a:pt x="35094" y="124949"/>
                  </a:lnTo>
                  <a:lnTo>
                    <a:pt x="16080" y="164265"/>
                  </a:lnTo>
                  <a:lnTo>
                    <a:pt x="4140" y="206968"/>
                  </a:lnTo>
                  <a:lnTo>
                    <a:pt x="0" y="252349"/>
                  </a:lnTo>
                  <a:lnTo>
                    <a:pt x="4140" y="297733"/>
                  </a:lnTo>
                  <a:lnTo>
                    <a:pt x="16080" y="340449"/>
                  </a:lnTo>
                  <a:lnTo>
                    <a:pt x="35094" y="379781"/>
                  </a:lnTo>
                  <a:lnTo>
                    <a:pt x="60458" y="415019"/>
                  </a:lnTo>
                  <a:lnTo>
                    <a:pt x="91447" y="445448"/>
                  </a:lnTo>
                  <a:lnTo>
                    <a:pt x="127338" y="470356"/>
                  </a:lnTo>
                  <a:lnTo>
                    <a:pt x="167406" y="489030"/>
                  </a:lnTo>
                  <a:lnTo>
                    <a:pt x="210926" y="500757"/>
                  </a:lnTo>
                  <a:lnTo>
                    <a:pt x="257175" y="504825"/>
                  </a:lnTo>
                  <a:lnTo>
                    <a:pt x="303389" y="500757"/>
                  </a:lnTo>
                  <a:lnTo>
                    <a:pt x="346892" y="489030"/>
                  </a:lnTo>
                  <a:lnTo>
                    <a:pt x="386954" y="470356"/>
                  </a:lnTo>
                  <a:lnTo>
                    <a:pt x="422849" y="445448"/>
                  </a:lnTo>
                  <a:lnTo>
                    <a:pt x="453849" y="415019"/>
                  </a:lnTo>
                  <a:lnTo>
                    <a:pt x="479227" y="379781"/>
                  </a:lnTo>
                  <a:lnTo>
                    <a:pt x="498254" y="340449"/>
                  </a:lnTo>
                  <a:lnTo>
                    <a:pt x="510204" y="297733"/>
                  </a:lnTo>
                  <a:lnTo>
                    <a:pt x="514350" y="252349"/>
                  </a:lnTo>
                  <a:lnTo>
                    <a:pt x="510204" y="206968"/>
                  </a:lnTo>
                  <a:lnTo>
                    <a:pt x="498254" y="164265"/>
                  </a:lnTo>
                  <a:lnTo>
                    <a:pt x="479227" y="124949"/>
                  </a:lnTo>
                  <a:lnTo>
                    <a:pt x="453849" y="89731"/>
                  </a:lnTo>
                  <a:lnTo>
                    <a:pt x="422849" y="59323"/>
                  </a:lnTo>
                  <a:lnTo>
                    <a:pt x="386954" y="34435"/>
                  </a:lnTo>
                  <a:lnTo>
                    <a:pt x="346892" y="15778"/>
                  </a:lnTo>
                  <a:lnTo>
                    <a:pt x="303389" y="4063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81651" y="3319526"/>
              <a:ext cx="514350" cy="504825"/>
            </a:xfrm>
            <a:custGeom>
              <a:avLst/>
              <a:gdLst/>
              <a:ahLst/>
              <a:cxnLst/>
              <a:rect l="l" t="t" r="r" b="b"/>
              <a:pathLst>
                <a:path w="514350" h="504825">
                  <a:moveTo>
                    <a:pt x="0" y="252349"/>
                  </a:moveTo>
                  <a:lnTo>
                    <a:pt x="4140" y="206968"/>
                  </a:lnTo>
                  <a:lnTo>
                    <a:pt x="16080" y="164265"/>
                  </a:lnTo>
                  <a:lnTo>
                    <a:pt x="35094" y="124949"/>
                  </a:lnTo>
                  <a:lnTo>
                    <a:pt x="60458" y="89731"/>
                  </a:lnTo>
                  <a:lnTo>
                    <a:pt x="91447" y="59323"/>
                  </a:lnTo>
                  <a:lnTo>
                    <a:pt x="127338" y="34435"/>
                  </a:lnTo>
                  <a:lnTo>
                    <a:pt x="167406" y="15778"/>
                  </a:lnTo>
                  <a:lnTo>
                    <a:pt x="210926" y="4063"/>
                  </a:lnTo>
                  <a:lnTo>
                    <a:pt x="257175" y="0"/>
                  </a:lnTo>
                  <a:lnTo>
                    <a:pt x="303389" y="4063"/>
                  </a:lnTo>
                  <a:lnTo>
                    <a:pt x="346892" y="15778"/>
                  </a:lnTo>
                  <a:lnTo>
                    <a:pt x="386954" y="34435"/>
                  </a:lnTo>
                  <a:lnTo>
                    <a:pt x="422849" y="59323"/>
                  </a:lnTo>
                  <a:lnTo>
                    <a:pt x="453849" y="89731"/>
                  </a:lnTo>
                  <a:lnTo>
                    <a:pt x="479227" y="124949"/>
                  </a:lnTo>
                  <a:lnTo>
                    <a:pt x="498254" y="164265"/>
                  </a:lnTo>
                  <a:lnTo>
                    <a:pt x="510204" y="206968"/>
                  </a:lnTo>
                  <a:lnTo>
                    <a:pt x="514350" y="252349"/>
                  </a:lnTo>
                  <a:lnTo>
                    <a:pt x="510204" y="297733"/>
                  </a:lnTo>
                  <a:lnTo>
                    <a:pt x="498254" y="340449"/>
                  </a:lnTo>
                  <a:lnTo>
                    <a:pt x="479227" y="379781"/>
                  </a:lnTo>
                  <a:lnTo>
                    <a:pt x="453849" y="415019"/>
                  </a:lnTo>
                  <a:lnTo>
                    <a:pt x="422849" y="445448"/>
                  </a:lnTo>
                  <a:lnTo>
                    <a:pt x="386954" y="470356"/>
                  </a:lnTo>
                  <a:lnTo>
                    <a:pt x="346892" y="489030"/>
                  </a:lnTo>
                  <a:lnTo>
                    <a:pt x="303389" y="500757"/>
                  </a:lnTo>
                  <a:lnTo>
                    <a:pt x="257175" y="504825"/>
                  </a:lnTo>
                  <a:lnTo>
                    <a:pt x="210926" y="500757"/>
                  </a:lnTo>
                  <a:lnTo>
                    <a:pt x="167406" y="489030"/>
                  </a:lnTo>
                  <a:lnTo>
                    <a:pt x="127338" y="470356"/>
                  </a:lnTo>
                  <a:lnTo>
                    <a:pt x="91447" y="445448"/>
                  </a:lnTo>
                  <a:lnTo>
                    <a:pt x="60458" y="415019"/>
                  </a:lnTo>
                  <a:lnTo>
                    <a:pt x="35094" y="379781"/>
                  </a:lnTo>
                  <a:lnTo>
                    <a:pt x="16080" y="340449"/>
                  </a:lnTo>
                  <a:lnTo>
                    <a:pt x="4140" y="297733"/>
                  </a:lnTo>
                  <a:lnTo>
                    <a:pt x="0" y="252349"/>
                  </a:lnTo>
                  <a:close/>
                </a:path>
              </a:pathLst>
            </a:custGeom>
            <a:ln w="635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0650" y="3438525"/>
              <a:ext cx="257175" cy="25717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706745" y="3266503"/>
            <a:ext cx="5605145" cy="590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Older</a:t>
            </a:r>
            <a:r>
              <a:rPr sz="1250" b="1" spc="8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adults</a:t>
            </a:r>
            <a:r>
              <a:rPr sz="1250" b="1" spc="114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and</a:t>
            </a:r>
            <a:r>
              <a:rPr sz="1250" b="1" spc="1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people</a:t>
            </a:r>
            <a:r>
              <a:rPr sz="1250" b="1" spc="4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who</a:t>
            </a:r>
            <a:r>
              <a:rPr sz="1250" b="1" spc="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struggle</a:t>
            </a:r>
            <a:r>
              <a:rPr sz="1250" b="1" spc="4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to</a:t>
            </a:r>
            <a:r>
              <a:rPr sz="1250" b="1" spc="1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remember</a:t>
            </a:r>
            <a:r>
              <a:rPr sz="1250" b="1" spc="9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medical</a:t>
            </a:r>
            <a:r>
              <a:rPr sz="1250" b="1" spc="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0695A"/>
                </a:solidFill>
                <a:latin typeface="Calibri"/>
                <a:cs typeface="Calibri"/>
              </a:rPr>
              <a:t>details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110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forget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medicine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names,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lose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prescription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or</a:t>
            </a:r>
            <a:r>
              <a:rPr sz="12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have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difficulty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explaining</a:t>
            </a:r>
            <a:r>
              <a:rPr sz="12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their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history.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32426" y="3989451"/>
            <a:ext cx="6718300" cy="708025"/>
            <a:chOff x="4932426" y="3989451"/>
            <a:chExt cx="6718300" cy="708025"/>
          </a:xfrm>
        </p:grpSpPr>
        <p:sp>
          <p:nvSpPr>
            <p:cNvPr id="44" name="object 44"/>
            <p:cNvSpPr/>
            <p:nvPr/>
          </p:nvSpPr>
          <p:spPr>
            <a:xfrm>
              <a:off x="4938776" y="3995801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66323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22046"/>
                  </a:lnTo>
                  <a:lnTo>
                    <a:pt x="5750" y="650533"/>
                  </a:lnTo>
                  <a:lnTo>
                    <a:pt x="21431" y="673830"/>
                  </a:lnTo>
                  <a:lnTo>
                    <a:pt x="44684" y="689554"/>
                  </a:lnTo>
                  <a:lnTo>
                    <a:pt x="73151" y="695325"/>
                  </a:lnTo>
                  <a:lnTo>
                    <a:pt x="6632321" y="695325"/>
                  </a:lnTo>
                  <a:lnTo>
                    <a:pt x="6660808" y="689554"/>
                  </a:lnTo>
                  <a:lnTo>
                    <a:pt x="6684105" y="673830"/>
                  </a:lnTo>
                  <a:lnTo>
                    <a:pt x="6699829" y="650533"/>
                  </a:lnTo>
                  <a:lnTo>
                    <a:pt x="6705600" y="622046"/>
                  </a:lnTo>
                  <a:lnTo>
                    <a:pt x="6705600" y="73151"/>
                  </a:lnTo>
                  <a:lnTo>
                    <a:pt x="6699829" y="44684"/>
                  </a:lnTo>
                  <a:lnTo>
                    <a:pt x="6684105" y="21431"/>
                  </a:lnTo>
                  <a:lnTo>
                    <a:pt x="6660808" y="5750"/>
                  </a:lnTo>
                  <a:lnTo>
                    <a:pt x="6632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38776" y="3995801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632321" y="0"/>
                  </a:lnTo>
                  <a:lnTo>
                    <a:pt x="6660808" y="5750"/>
                  </a:lnTo>
                  <a:lnTo>
                    <a:pt x="6684105" y="21431"/>
                  </a:lnTo>
                  <a:lnTo>
                    <a:pt x="6699829" y="44684"/>
                  </a:lnTo>
                  <a:lnTo>
                    <a:pt x="6705600" y="73151"/>
                  </a:lnTo>
                  <a:lnTo>
                    <a:pt x="6705600" y="622046"/>
                  </a:lnTo>
                  <a:lnTo>
                    <a:pt x="6699829" y="650533"/>
                  </a:lnTo>
                  <a:lnTo>
                    <a:pt x="6684105" y="673830"/>
                  </a:lnTo>
                  <a:lnTo>
                    <a:pt x="6660808" y="689554"/>
                  </a:lnTo>
                  <a:lnTo>
                    <a:pt x="6632321" y="695325"/>
                  </a:lnTo>
                  <a:lnTo>
                    <a:pt x="73151" y="695325"/>
                  </a:lnTo>
                  <a:lnTo>
                    <a:pt x="44684" y="689554"/>
                  </a:lnTo>
                  <a:lnTo>
                    <a:pt x="21431" y="673830"/>
                  </a:lnTo>
                  <a:lnTo>
                    <a:pt x="5750" y="650533"/>
                  </a:lnTo>
                  <a:lnTo>
                    <a:pt x="0" y="622046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081651" y="40815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0"/>
                  </a:lnTo>
                  <a:lnTo>
                    <a:pt x="167406" y="16080"/>
                  </a:lnTo>
                  <a:lnTo>
                    <a:pt x="127338" y="35094"/>
                  </a:lnTo>
                  <a:lnTo>
                    <a:pt x="91447" y="60458"/>
                  </a:lnTo>
                  <a:lnTo>
                    <a:pt x="60458" y="91447"/>
                  </a:lnTo>
                  <a:lnTo>
                    <a:pt x="35094" y="127338"/>
                  </a:lnTo>
                  <a:lnTo>
                    <a:pt x="16080" y="167406"/>
                  </a:lnTo>
                  <a:lnTo>
                    <a:pt x="4140" y="210926"/>
                  </a:lnTo>
                  <a:lnTo>
                    <a:pt x="0" y="257175"/>
                  </a:lnTo>
                  <a:lnTo>
                    <a:pt x="4140" y="303389"/>
                  </a:lnTo>
                  <a:lnTo>
                    <a:pt x="16080" y="346892"/>
                  </a:lnTo>
                  <a:lnTo>
                    <a:pt x="35094" y="386954"/>
                  </a:lnTo>
                  <a:lnTo>
                    <a:pt x="60458" y="422849"/>
                  </a:lnTo>
                  <a:lnTo>
                    <a:pt x="91447" y="453849"/>
                  </a:lnTo>
                  <a:lnTo>
                    <a:pt x="127338" y="479227"/>
                  </a:lnTo>
                  <a:lnTo>
                    <a:pt x="167406" y="498254"/>
                  </a:lnTo>
                  <a:lnTo>
                    <a:pt x="21092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081651" y="4081526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0" y="210926"/>
                  </a:lnTo>
                  <a:lnTo>
                    <a:pt x="16080" y="167406"/>
                  </a:lnTo>
                  <a:lnTo>
                    <a:pt x="35094" y="127338"/>
                  </a:lnTo>
                  <a:lnTo>
                    <a:pt x="60458" y="91447"/>
                  </a:lnTo>
                  <a:lnTo>
                    <a:pt x="91447" y="60458"/>
                  </a:lnTo>
                  <a:lnTo>
                    <a:pt x="127338" y="35094"/>
                  </a:lnTo>
                  <a:lnTo>
                    <a:pt x="167406" y="16080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26" y="510204"/>
                  </a:lnTo>
                  <a:lnTo>
                    <a:pt x="167406" y="498254"/>
                  </a:lnTo>
                  <a:lnTo>
                    <a:pt x="127338" y="479227"/>
                  </a:lnTo>
                  <a:lnTo>
                    <a:pt x="91447" y="453849"/>
                  </a:lnTo>
                  <a:lnTo>
                    <a:pt x="60458" y="422849"/>
                  </a:lnTo>
                  <a:lnTo>
                    <a:pt x="35094" y="386954"/>
                  </a:lnTo>
                  <a:lnTo>
                    <a:pt x="16080" y="346892"/>
                  </a:lnTo>
                  <a:lnTo>
                    <a:pt x="4140" y="303389"/>
                  </a:lnTo>
                  <a:lnTo>
                    <a:pt x="0" y="257175"/>
                  </a:lnTo>
                  <a:close/>
                </a:path>
              </a:pathLst>
            </a:custGeom>
            <a:ln w="635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00650" y="4210050"/>
              <a:ext cx="257175" cy="24765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5706745" y="4127182"/>
            <a:ext cx="5838190" cy="409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Patients</a:t>
            </a:r>
            <a:r>
              <a:rPr sz="1250" b="1" spc="6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who</a:t>
            </a:r>
            <a:r>
              <a:rPr sz="1250" b="1" spc="114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arrive</a:t>
            </a:r>
            <a:r>
              <a:rPr sz="1250" b="1" spc="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unconscious</a:t>
            </a:r>
            <a:r>
              <a:rPr sz="1250" b="1" spc="6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or</a:t>
            </a:r>
            <a:r>
              <a:rPr sz="1250" b="1" spc="12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cannot</a:t>
            </a:r>
            <a:r>
              <a:rPr sz="1250" b="1" spc="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0695A"/>
                </a:solidFill>
                <a:latin typeface="Calibri"/>
                <a:cs typeface="Calibri"/>
              </a:rPr>
              <a:t>communicate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This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could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be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especially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relevant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has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no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identification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documents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with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them.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0862" y="4799076"/>
            <a:ext cx="4128135" cy="1250950"/>
            <a:chOff x="550862" y="4799076"/>
            <a:chExt cx="4128135" cy="1250950"/>
          </a:xfrm>
        </p:grpSpPr>
        <p:sp>
          <p:nvSpPr>
            <p:cNvPr id="22" name="object 22"/>
            <p:cNvSpPr/>
            <p:nvPr/>
          </p:nvSpPr>
          <p:spPr>
            <a:xfrm>
              <a:off x="557212" y="4805426"/>
              <a:ext cx="4115435" cy="1238250"/>
            </a:xfrm>
            <a:custGeom>
              <a:avLst/>
              <a:gdLst/>
              <a:ahLst/>
              <a:cxnLst/>
              <a:rect l="l" t="t" r="r" b="b"/>
              <a:pathLst>
                <a:path w="4115435" h="1238250">
                  <a:moveTo>
                    <a:pt x="4041457" y="0"/>
                  </a:moveTo>
                  <a:lnTo>
                    <a:pt x="73380" y="0"/>
                  </a:lnTo>
                  <a:lnTo>
                    <a:pt x="44818" y="5752"/>
                  </a:lnTo>
                  <a:lnTo>
                    <a:pt x="21493" y="21447"/>
                  </a:lnTo>
                  <a:lnTo>
                    <a:pt x="5766" y="44737"/>
                  </a:lnTo>
                  <a:lnTo>
                    <a:pt x="0" y="73279"/>
                  </a:lnTo>
                  <a:lnTo>
                    <a:pt x="0" y="1164805"/>
                  </a:lnTo>
                  <a:lnTo>
                    <a:pt x="5766" y="1193368"/>
                  </a:lnTo>
                  <a:lnTo>
                    <a:pt x="21493" y="1216693"/>
                  </a:lnTo>
                  <a:lnTo>
                    <a:pt x="44818" y="1232419"/>
                  </a:lnTo>
                  <a:lnTo>
                    <a:pt x="73380" y="1238186"/>
                  </a:lnTo>
                  <a:lnTo>
                    <a:pt x="4041457" y="1238186"/>
                  </a:lnTo>
                  <a:lnTo>
                    <a:pt x="4070018" y="1232419"/>
                  </a:lnTo>
                  <a:lnTo>
                    <a:pt x="4093352" y="1216693"/>
                  </a:lnTo>
                  <a:lnTo>
                    <a:pt x="4109090" y="1193368"/>
                  </a:lnTo>
                  <a:lnTo>
                    <a:pt x="4114863" y="1164805"/>
                  </a:lnTo>
                  <a:lnTo>
                    <a:pt x="4114863" y="73279"/>
                  </a:lnTo>
                  <a:lnTo>
                    <a:pt x="4109090" y="44737"/>
                  </a:lnTo>
                  <a:lnTo>
                    <a:pt x="4093352" y="21447"/>
                  </a:lnTo>
                  <a:lnTo>
                    <a:pt x="4070018" y="5752"/>
                  </a:lnTo>
                  <a:lnTo>
                    <a:pt x="40414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7212" y="4805426"/>
              <a:ext cx="4115435" cy="1238250"/>
            </a:xfrm>
            <a:custGeom>
              <a:avLst/>
              <a:gdLst/>
              <a:ahLst/>
              <a:cxnLst/>
              <a:rect l="l" t="t" r="r" b="b"/>
              <a:pathLst>
                <a:path w="4115435" h="1238250">
                  <a:moveTo>
                    <a:pt x="0" y="73279"/>
                  </a:moveTo>
                  <a:lnTo>
                    <a:pt x="5766" y="44737"/>
                  </a:lnTo>
                  <a:lnTo>
                    <a:pt x="21493" y="21447"/>
                  </a:lnTo>
                  <a:lnTo>
                    <a:pt x="44818" y="5752"/>
                  </a:lnTo>
                  <a:lnTo>
                    <a:pt x="73380" y="0"/>
                  </a:lnTo>
                  <a:lnTo>
                    <a:pt x="4041457" y="0"/>
                  </a:lnTo>
                  <a:lnTo>
                    <a:pt x="4070018" y="5752"/>
                  </a:lnTo>
                  <a:lnTo>
                    <a:pt x="4093352" y="21447"/>
                  </a:lnTo>
                  <a:lnTo>
                    <a:pt x="4109090" y="44737"/>
                  </a:lnTo>
                  <a:lnTo>
                    <a:pt x="4114863" y="73279"/>
                  </a:lnTo>
                  <a:lnTo>
                    <a:pt x="4114863" y="1164805"/>
                  </a:lnTo>
                  <a:lnTo>
                    <a:pt x="4109090" y="1193368"/>
                  </a:lnTo>
                  <a:lnTo>
                    <a:pt x="4093352" y="1216693"/>
                  </a:lnTo>
                  <a:lnTo>
                    <a:pt x="4070018" y="1232419"/>
                  </a:lnTo>
                  <a:lnTo>
                    <a:pt x="4041457" y="1238186"/>
                  </a:lnTo>
                  <a:lnTo>
                    <a:pt x="73380" y="1238186"/>
                  </a:lnTo>
                  <a:lnTo>
                    <a:pt x="44818" y="1232419"/>
                  </a:lnTo>
                  <a:lnTo>
                    <a:pt x="21493" y="1216693"/>
                  </a:lnTo>
                  <a:lnTo>
                    <a:pt x="5766" y="1193368"/>
                  </a:lnTo>
                  <a:lnTo>
                    <a:pt x="0" y="1164805"/>
                  </a:lnTo>
                  <a:lnTo>
                    <a:pt x="0" y="73279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8187" y="4986401"/>
              <a:ext cx="562610" cy="571500"/>
            </a:xfrm>
            <a:custGeom>
              <a:avLst/>
              <a:gdLst/>
              <a:ahLst/>
              <a:cxnLst/>
              <a:rect l="l" t="t" r="r" b="b"/>
              <a:pathLst>
                <a:path w="562610" h="571500">
                  <a:moveTo>
                    <a:pt x="280987" y="0"/>
                  </a:moveTo>
                  <a:lnTo>
                    <a:pt x="235410" y="3738"/>
                  </a:lnTo>
                  <a:lnTo>
                    <a:pt x="192175" y="14563"/>
                  </a:lnTo>
                  <a:lnTo>
                    <a:pt x="151859" y="31886"/>
                  </a:lnTo>
                  <a:lnTo>
                    <a:pt x="115041" y="55120"/>
                  </a:lnTo>
                  <a:lnTo>
                    <a:pt x="82300" y="83677"/>
                  </a:lnTo>
                  <a:lnTo>
                    <a:pt x="54215" y="116970"/>
                  </a:lnTo>
                  <a:lnTo>
                    <a:pt x="31364" y="154411"/>
                  </a:lnTo>
                  <a:lnTo>
                    <a:pt x="14325" y="195413"/>
                  </a:lnTo>
                  <a:lnTo>
                    <a:pt x="3677" y="239388"/>
                  </a:lnTo>
                  <a:lnTo>
                    <a:pt x="0" y="285750"/>
                  </a:lnTo>
                  <a:lnTo>
                    <a:pt x="3677" y="332080"/>
                  </a:lnTo>
                  <a:lnTo>
                    <a:pt x="14325" y="376037"/>
                  </a:lnTo>
                  <a:lnTo>
                    <a:pt x="31364" y="417032"/>
                  </a:lnTo>
                  <a:lnTo>
                    <a:pt x="54215" y="454475"/>
                  </a:lnTo>
                  <a:lnTo>
                    <a:pt x="82300" y="487775"/>
                  </a:lnTo>
                  <a:lnTo>
                    <a:pt x="115041" y="516343"/>
                  </a:lnTo>
                  <a:lnTo>
                    <a:pt x="151859" y="539589"/>
                  </a:lnTo>
                  <a:lnTo>
                    <a:pt x="192175" y="556924"/>
                  </a:lnTo>
                  <a:lnTo>
                    <a:pt x="235410" y="567757"/>
                  </a:lnTo>
                  <a:lnTo>
                    <a:pt x="280987" y="571500"/>
                  </a:lnTo>
                  <a:lnTo>
                    <a:pt x="326565" y="567757"/>
                  </a:lnTo>
                  <a:lnTo>
                    <a:pt x="369806" y="556924"/>
                  </a:lnTo>
                  <a:lnTo>
                    <a:pt x="410129" y="539589"/>
                  </a:lnTo>
                  <a:lnTo>
                    <a:pt x="446955" y="516343"/>
                  </a:lnTo>
                  <a:lnTo>
                    <a:pt x="479705" y="487775"/>
                  </a:lnTo>
                  <a:lnTo>
                    <a:pt x="507800" y="454475"/>
                  </a:lnTo>
                  <a:lnTo>
                    <a:pt x="530660" y="417032"/>
                  </a:lnTo>
                  <a:lnTo>
                    <a:pt x="547706" y="376037"/>
                  </a:lnTo>
                  <a:lnTo>
                    <a:pt x="558358" y="332080"/>
                  </a:lnTo>
                  <a:lnTo>
                    <a:pt x="562038" y="285750"/>
                  </a:lnTo>
                  <a:lnTo>
                    <a:pt x="558358" y="239388"/>
                  </a:lnTo>
                  <a:lnTo>
                    <a:pt x="547706" y="195413"/>
                  </a:lnTo>
                  <a:lnTo>
                    <a:pt x="530660" y="154411"/>
                  </a:lnTo>
                  <a:lnTo>
                    <a:pt x="507800" y="116970"/>
                  </a:lnTo>
                  <a:lnTo>
                    <a:pt x="479705" y="83677"/>
                  </a:lnTo>
                  <a:lnTo>
                    <a:pt x="446955" y="55120"/>
                  </a:lnTo>
                  <a:lnTo>
                    <a:pt x="410129" y="31886"/>
                  </a:lnTo>
                  <a:lnTo>
                    <a:pt x="369806" y="14563"/>
                  </a:lnTo>
                  <a:lnTo>
                    <a:pt x="326565" y="3738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8187" y="4986401"/>
              <a:ext cx="562610" cy="571500"/>
            </a:xfrm>
            <a:custGeom>
              <a:avLst/>
              <a:gdLst/>
              <a:ahLst/>
              <a:cxnLst/>
              <a:rect l="l" t="t" r="r" b="b"/>
              <a:pathLst>
                <a:path w="562610" h="571500">
                  <a:moveTo>
                    <a:pt x="0" y="285750"/>
                  </a:moveTo>
                  <a:lnTo>
                    <a:pt x="3677" y="239388"/>
                  </a:lnTo>
                  <a:lnTo>
                    <a:pt x="14325" y="195413"/>
                  </a:lnTo>
                  <a:lnTo>
                    <a:pt x="31364" y="154411"/>
                  </a:lnTo>
                  <a:lnTo>
                    <a:pt x="54215" y="116970"/>
                  </a:lnTo>
                  <a:lnTo>
                    <a:pt x="82300" y="83677"/>
                  </a:lnTo>
                  <a:lnTo>
                    <a:pt x="115041" y="55120"/>
                  </a:lnTo>
                  <a:lnTo>
                    <a:pt x="151859" y="31886"/>
                  </a:lnTo>
                  <a:lnTo>
                    <a:pt x="192175" y="14563"/>
                  </a:lnTo>
                  <a:lnTo>
                    <a:pt x="235410" y="3738"/>
                  </a:lnTo>
                  <a:lnTo>
                    <a:pt x="280987" y="0"/>
                  </a:lnTo>
                  <a:lnTo>
                    <a:pt x="326565" y="3738"/>
                  </a:lnTo>
                  <a:lnTo>
                    <a:pt x="369806" y="14563"/>
                  </a:lnTo>
                  <a:lnTo>
                    <a:pt x="410129" y="31886"/>
                  </a:lnTo>
                  <a:lnTo>
                    <a:pt x="446955" y="55120"/>
                  </a:lnTo>
                  <a:lnTo>
                    <a:pt x="479705" y="83677"/>
                  </a:lnTo>
                  <a:lnTo>
                    <a:pt x="507800" y="116970"/>
                  </a:lnTo>
                  <a:lnTo>
                    <a:pt x="530660" y="154411"/>
                  </a:lnTo>
                  <a:lnTo>
                    <a:pt x="547706" y="195413"/>
                  </a:lnTo>
                  <a:lnTo>
                    <a:pt x="558358" y="239388"/>
                  </a:lnTo>
                  <a:lnTo>
                    <a:pt x="562038" y="285750"/>
                  </a:lnTo>
                  <a:lnTo>
                    <a:pt x="558358" y="332080"/>
                  </a:lnTo>
                  <a:lnTo>
                    <a:pt x="547706" y="376037"/>
                  </a:lnTo>
                  <a:lnTo>
                    <a:pt x="530660" y="417032"/>
                  </a:lnTo>
                  <a:lnTo>
                    <a:pt x="507800" y="454475"/>
                  </a:lnTo>
                  <a:lnTo>
                    <a:pt x="479705" y="487775"/>
                  </a:lnTo>
                  <a:lnTo>
                    <a:pt x="446955" y="516343"/>
                  </a:lnTo>
                  <a:lnTo>
                    <a:pt x="410129" y="539589"/>
                  </a:lnTo>
                  <a:lnTo>
                    <a:pt x="369806" y="556924"/>
                  </a:lnTo>
                  <a:lnTo>
                    <a:pt x="326565" y="567757"/>
                  </a:lnTo>
                  <a:lnTo>
                    <a:pt x="280987" y="571500"/>
                  </a:lnTo>
                  <a:lnTo>
                    <a:pt x="235410" y="567757"/>
                  </a:lnTo>
                  <a:lnTo>
                    <a:pt x="192175" y="556924"/>
                  </a:lnTo>
                  <a:lnTo>
                    <a:pt x="151859" y="539589"/>
                  </a:lnTo>
                  <a:lnTo>
                    <a:pt x="115041" y="516343"/>
                  </a:lnTo>
                  <a:lnTo>
                    <a:pt x="82300" y="487775"/>
                  </a:lnTo>
                  <a:lnTo>
                    <a:pt x="54215" y="454475"/>
                  </a:lnTo>
                  <a:lnTo>
                    <a:pt x="31364" y="417032"/>
                  </a:lnTo>
                  <a:lnTo>
                    <a:pt x="14325" y="376037"/>
                  </a:lnTo>
                  <a:lnTo>
                    <a:pt x="3677" y="332080"/>
                  </a:lnTo>
                  <a:lnTo>
                    <a:pt x="0" y="28575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6300" y="5124450"/>
              <a:ext cx="276225" cy="28575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51610" y="4860368"/>
            <a:ext cx="3013075" cy="98488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Secondary</a:t>
            </a:r>
            <a:r>
              <a:rPr sz="1550" b="1" spc="1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695A"/>
                </a:solidFill>
                <a:latin typeface="Calibri"/>
                <a:cs typeface="Calibri"/>
              </a:rPr>
              <a:t>stakeholders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05200"/>
              </a:lnSpc>
              <a:spcBef>
                <a:spcPts val="390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Government</a:t>
            </a:r>
            <a:r>
              <a:rPr sz="1250" spc="1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facilities,</a:t>
            </a:r>
            <a:r>
              <a:rPr sz="1250" spc="10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private</a:t>
            </a:r>
            <a:r>
              <a:rPr sz="1250" spc="9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hospitals,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primary</a:t>
            </a:r>
            <a:r>
              <a:rPr sz="1250" spc="1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health</a:t>
            </a:r>
            <a:r>
              <a:rPr sz="1250" spc="1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centres</a:t>
            </a:r>
            <a:r>
              <a:rPr sz="1250" spc="1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50" spc="1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community-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level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services.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32426" y="4751451"/>
            <a:ext cx="6718300" cy="708025"/>
            <a:chOff x="4932426" y="4751451"/>
            <a:chExt cx="6718300" cy="708025"/>
          </a:xfrm>
        </p:grpSpPr>
        <p:sp>
          <p:nvSpPr>
            <p:cNvPr id="51" name="object 51"/>
            <p:cNvSpPr/>
            <p:nvPr/>
          </p:nvSpPr>
          <p:spPr>
            <a:xfrm>
              <a:off x="4938776" y="4757801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66323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622046"/>
                  </a:lnTo>
                  <a:lnTo>
                    <a:pt x="5750" y="650533"/>
                  </a:lnTo>
                  <a:lnTo>
                    <a:pt x="21431" y="673830"/>
                  </a:lnTo>
                  <a:lnTo>
                    <a:pt x="44684" y="689554"/>
                  </a:lnTo>
                  <a:lnTo>
                    <a:pt x="73151" y="695325"/>
                  </a:lnTo>
                  <a:lnTo>
                    <a:pt x="6632321" y="695325"/>
                  </a:lnTo>
                  <a:lnTo>
                    <a:pt x="6660808" y="689554"/>
                  </a:lnTo>
                  <a:lnTo>
                    <a:pt x="6684105" y="673830"/>
                  </a:lnTo>
                  <a:lnTo>
                    <a:pt x="6699829" y="650533"/>
                  </a:lnTo>
                  <a:lnTo>
                    <a:pt x="6705600" y="622046"/>
                  </a:lnTo>
                  <a:lnTo>
                    <a:pt x="6705600" y="73151"/>
                  </a:lnTo>
                  <a:lnTo>
                    <a:pt x="6699829" y="44684"/>
                  </a:lnTo>
                  <a:lnTo>
                    <a:pt x="6684105" y="21431"/>
                  </a:lnTo>
                  <a:lnTo>
                    <a:pt x="6660808" y="5750"/>
                  </a:lnTo>
                  <a:lnTo>
                    <a:pt x="6632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38776" y="4757801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632321" y="0"/>
                  </a:lnTo>
                  <a:lnTo>
                    <a:pt x="6660808" y="5750"/>
                  </a:lnTo>
                  <a:lnTo>
                    <a:pt x="6684105" y="21431"/>
                  </a:lnTo>
                  <a:lnTo>
                    <a:pt x="6699829" y="44684"/>
                  </a:lnTo>
                  <a:lnTo>
                    <a:pt x="6705600" y="73151"/>
                  </a:lnTo>
                  <a:lnTo>
                    <a:pt x="6705600" y="622046"/>
                  </a:lnTo>
                  <a:lnTo>
                    <a:pt x="6699829" y="650533"/>
                  </a:lnTo>
                  <a:lnTo>
                    <a:pt x="6684105" y="673830"/>
                  </a:lnTo>
                  <a:lnTo>
                    <a:pt x="6660808" y="689554"/>
                  </a:lnTo>
                  <a:lnTo>
                    <a:pt x="6632321" y="695325"/>
                  </a:lnTo>
                  <a:lnTo>
                    <a:pt x="73151" y="695325"/>
                  </a:lnTo>
                  <a:lnTo>
                    <a:pt x="44684" y="689554"/>
                  </a:lnTo>
                  <a:lnTo>
                    <a:pt x="21431" y="673830"/>
                  </a:lnTo>
                  <a:lnTo>
                    <a:pt x="5750" y="650533"/>
                  </a:lnTo>
                  <a:lnTo>
                    <a:pt x="0" y="622046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81651" y="4853051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0"/>
                  </a:lnTo>
                  <a:lnTo>
                    <a:pt x="167406" y="16080"/>
                  </a:lnTo>
                  <a:lnTo>
                    <a:pt x="127338" y="35094"/>
                  </a:lnTo>
                  <a:lnTo>
                    <a:pt x="91447" y="60458"/>
                  </a:lnTo>
                  <a:lnTo>
                    <a:pt x="60458" y="91447"/>
                  </a:lnTo>
                  <a:lnTo>
                    <a:pt x="35094" y="127338"/>
                  </a:lnTo>
                  <a:lnTo>
                    <a:pt x="16080" y="167406"/>
                  </a:lnTo>
                  <a:lnTo>
                    <a:pt x="4140" y="210926"/>
                  </a:lnTo>
                  <a:lnTo>
                    <a:pt x="0" y="257175"/>
                  </a:lnTo>
                  <a:lnTo>
                    <a:pt x="4140" y="303389"/>
                  </a:lnTo>
                  <a:lnTo>
                    <a:pt x="16080" y="346892"/>
                  </a:lnTo>
                  <a:lnTo>
                    <a:pt x="35094" y="386954"/>
                  </a:lnTo>
                  <a:lnTo>
                    <a:pt x="60458" y="422849"/>
                  </a:lnTo>
                  <a:lnTo>
                    <a:pt x="91447" y="453849"/>
                  </a:lnTo>
                  <a:lnTo>
                    <a:pt x="127338" y="479227"/>
                  </a:lnTo>
                  <a:lnTo>
                    <a:pt x="167406" y="498254"/>
                  </a:lnTo>
                  <a:lnTo>
                    <a:pt x="210926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081651" y="4853051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0" y="210926"/>
                  </a:lnTo>
                  <a:lnTo>
                    <a:pt x="16080" y="167406"/>
                  </a:lnTo>
                  <a:lnTo>
                    <a:pt x="35094" y="127338"/>
                  </a:lnTo>
                  <a:lnTo>
                    <a:pt x="60458" y="91447"/>
                  </a:lnTo>
                  <a:lnTo>
                    <a:pt x="91447" y="60458"/>
                  </a:lnTo>
                  <a:lnTo>
                    <a:pt x="127338" y="35094"/>
                  </a:lnTo>
                  <a:lnTo>
                    <a:pt x="167406" y="16080"/>
                  </a:lnTo>
                  <a:lnTo>
                    <a:pt x="210926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26" y="510204"/>
                  </a:lnTo>
                  <a:lnTo>
                    <a:pt x="167406" y="498254"/>
                  </a:lnTo>
                  <a:lnTo>
                    <a:pt x="127338" y="479227"/>
                  </a:lnTo>
                  <a:lnTo>
                    <a:pt x="91447" y="453849"/>
                  </a:lnTo>
                  <a:lnTo>
                    <a:pt x="60458" y="422849"/>
                  </a:lnTo>
                  <a:lnTo>
                    <a:pt x="35094" y="386954"/>
                  </a:lnTo>
                  <a:lnTo>
                    <a:pt x="16080" y="346892"/>
                  </a:lnTo>
                  <a:lnTo>
                    <a:pt x="4140" y="303389"/>
                  </a:lnTo>
                  <a:lnTo>
                    <a:pt x="0" y="257175"/>
                  </a:lnTo>
                  <a:close/>
                </a:path>
              </a:pathLst>
            </a:custGeom>
            <a:ln w="635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00650" y="4972050"/>
              <a:ext cx="257175" cy="257175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5706745" y="4804727"/>
            <a:ext cx="5361940" cy="5905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People</a:t>
            </a:r>
            <a:r>
              <a:rPr sz="1250" b="1" spc="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who</a:t>
            </a:r>
            <a:r>
              <a:rPr sz="1250" b="1" spc="20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face</a:t>
            </a:r>
            <a:r>
              <a:rPr sz="1250" b="1" spc="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language</a:t>
            </a:r>
            <a:r>
              <a:rPr sz="1250" b="1" spc="6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or</a:t>
            </a:r>
            <a:r>
              <a:rPr sz="1250" b="1" spc="11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digital-literacy</a:t>
            </a:r>
            <a:r>
              <a:rPr sz="1250" b="1" spc="12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0695A"/>
                </a:solidFill>
                <a:latin typeface="Calibri"/>
                <a:cs typeface="Calibri"/>
              </a:rPr>
              <a:t>barriers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  <a:spcBef>
                <a:spcPts val="55"/>
              </a:spcBef>
            </a:pP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Voice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support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regional-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language</a:t>
            </a:r>
            <a:r>
              <a:rPr sz="12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interfaces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could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help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patients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communicate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their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concerns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understand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basic</a:t>
            </a:r>
            <a:r>
              <a:rPr sz="12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care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instructions.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932426" y="5522976"/>
            <a:ext cx="6718300" cy="708025"/>
            <a:chOff x="4932426" y="5522976"/>
            <a:chExt cx="6718300" cy="708025"/>
          </a:xfrm>
        </p:grpSpPr>
        <p:sp>
          <p:nvSpPr>
            <p:cNvPr id="58" name="object 58"/>
            <p:cNvSpPr/>
            <p:nvPr/>
          </p:nvSpPr>
          <p:spPr>
            <a:xfrm>
              <a:off x="4938776" y="5529326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6632321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28"/>
                  </a:lnTo>
                  <a:lnTo>
                    <a:pt x="5750" y="44673"/>
                  </a:lnTo>
                  <a:lnTo>
                    <a:pt x="0" y="73126"/>
                  </a:lnTo>
                  <a:lnTo>
                    <a:pt x="0" y="622071"/>
                  </a:lnTo>
                  <a:lnTo>
                    <a:pt x="5750" y="650561"/>
                  </a:lnTo>
                  <a:lnTo>
                    <a:pt x="21431" y="673825"/>
                  </a:lnTo>
                  <a:lnTo>
                    <a:pt x="44684" y="689510"/>
                  </a:lnTo>
                  <a:lnTo>
                    <a:pt x="73151" y="695261"/>
                  </a:lnTo>
                  <a:lnTo>
                    <a:pt x="6632321" y="695261"/>
                  </a:lnTo>
                  <a:lnTo>
                    <a:pt x="6660808" y="689510"/>
                  </a:lnTo>
                  <a:lnTo>
                    <a:pt x="6684105" y="673825"/>
                  </a:lnTo>
                  <a:lnTo>
                    <a:pt x="6699829" y="650561"/>
                  </a:lnTo>
                  <a:lnTo>
                    <a:pt x="6705600" y="622071"/>
                  </a:lnTo>
                  <a:lnTo>
                    <a:pt x="6705600" y="73126"/>
                  </a:lnTo>
                  <a:lnTo>
                    <a:pt x="6699829" y="44673"/>
                  </a:lnTo>
                  <a:lnTo>
                    <a:pt x="6684105" y="21428"/>
                  </a:lnTo>
                  <a:lnTo>
                    <a:pt x="6660808" y="5750"/>
                  </a:lnTo>
                  <a:lnTo>
                    <a:pt x="66323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38776" y="5529326"/>
              <a:ext cx="6705600" cy="695325"/>
            </a:xfrm>
            <a:custGeom>
              <a:avLst/>
              <a:gdLst/>
              <a:ahLst/>
              <a:cxnLst/>
              <a:rect l="l" t="t" r="r" b="b"/>
              <a:pathLst>
                <a:path w="6705600" h="695325">
                  <a:moveTo>
                    <a:pt x="0" y="73126"/>
                  </a:moveTo>
                  <a:lnTo>
                    <a:pt x="5750" y="44673"/>
                  </a:lnTo>
                  <a:lnTo>
                    <a:pt x="21431" y="21428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632321" y="0"/>
                  </a:lnTo>
                  <a:lnTo>
                    <a:pt x="6660808" y="5750"/>
                  </a:lnTo>
                  <a:lnTo>
                    <a:pt x="6684105" y="21428"/>
                  </a:lnTo>
                  <a:lnTo>
                    <a:pt x="6699829" y="44673"/>
                  </a:lnTo>
                  <a:lnTo>
                    <a:pt x="6705600" y="73126"/>
                  </a:lnTo>
                  <a:lnTo>
                    <a:pt x="6705600" y="622071"/>
                  </a:lnTo>
                  <a:lnTo>
                    <a:pt x="6699829" y="650561"/>
                  </a:lnTo>
                  <a:lnTo>
                    <a:pt x="6684105" y="673825"/>
                  </a:lnTo>
                  <a:lnTo>
                    <a:pt x="6660808" y="689510"/>
                  </a:lnTo>
                  <a:lnTo>
                    <a:pt x="6632321" y="695261"/>
                  </a:lnTo>
                  <a:lnTo>
                    <a:pt x="73151" y="695261"/>
                  </a:lnTo>
                  <a:lnTo>
                    <a:pt x="44684" y="689510"/>
                  </a:lnTo>
                  <a:lnTo>
                    <a:pt x="21431" y="673825"/>
                  </a:lnTo>
                  <a:lnTo>
                    <a:pt x="5750" y="650561"/>
                  </a:lnTo>
                  <a:lnTo>
                    <a:pt x="0" y="622071"/>
                  </a:lnTo>
                  <a:lnTo>
                    <a:pt x="0" y="73126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81651" y="561498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26" y="4143"/>
                  </a:lnTo>
                  <a:lnTo>
                    <a:pt x="167406" y="16089"/>
                  </a:lnTo>
                  <a:lnTo>
                    <a:pt x="127338" y="35111"/>
                  </a:lnTo>
                  <a:lnTo>
                    <a:pt x="91447" y="60483"/>
                  </a:lnTo>
                  <a:lnTo>
                    <a:pt x="60458" y="91479"/>
                  </a:lnTo>
                  <a:lnTo>
                    <a:pt x="35094" y="127372"/>
                  </a:lnTo>
                  <a:lnTo>
                    <a:pt x="16080" y="167437"/>
                  </a:lnTo>
                  <a:lnTo>
                    <a:pt x="4140" y="210946"/>
                  </a:lnTo>
                  <a:lnTo>
                    <a:pt x="0" y="257175"/>
                  </a:lnTo>
                  <a:lnTo>
                    <a:pt x="4140" y="303403"/>
                  </a:lnTo>
                  <a:lnTo>
                    <a:pt x="16080" y="346912"/>
                  </a:lnTo>
                  <a:lnTo>
                    <a:pt x="35094" y="386977"/>
                  </a:lnTo>
                  <a:lnTo>
                    <a:pt x="60458" y="422870"/>
                  </a:lnTo>
                  <a:lnTo>
                    <a:pt x="91447" y="453866"/>
                  </a:lnTo>
                  <a:lnTo>
                    <a:pt x="127338" y="479238"/>
                  </a:lnTo>
                  <a:lnTo>
                    <a:pt x="167406" y="498260"/>
                  </a:lnTo>
                  <a:lnTo>
                    <a:pt x="210926" y="510206"/>
                  </a:lnTo>
                  <a:lnTo>
                    <a:pt x="257175" y="514350"/>
                  </a:lnTo>
                  <a:lnTo>
                    <a:pt x="303389" y="510206"/>
                  </a:lnTo>
                  <a:lnTo>
                    <a:pt x="346892" y="498260"/>
                  </a:lnTo>
                  <a:lnTo>
                    <a:pt x="386954" y="479238"/>
                  </a:lnTo>
                  <a:lnTo>
                    <a:pt x="422849" y="453866"/>
                  </a:lnTo>
                  <a:lnTo>
                    <a:pt x="453849" y="422870"/>
                  </a:lnTo>
                  <a:lnTo>
                    <a:pt x="479227" y="386977"/>
                  </a:lnTo>
                  <a:lnTo>
                    <a:pt x="498254" y="346912"/>
                  </a:lnTo>
                  <a:lnTo>
                    <a:pt x="510204" y="303403"/>
                  </a:lnTo>
                  <a:lnTo>
                    <a:pt x="514350" y="257175"/>
                  </a:lnTo>
                  <a:lnTo>
                    <a:pt x="510204" y="210946"/>
                  </a:lnTo>
                  <a:lnTo>
                    <a:pt x="498254" y="167437"/>
                  </a:lnTo>
                  <a:lnTo>
                    <a:pt x="479227" y="127372"/>
                  </a:lnTo>
                  <a:lnTo>
                    <a:pt x="453849" y="91479"/>
                  </a:lnTo>
                  <a:lnTo>
                    <a:pt x="422849" y="60483"/>
                  </a:lnTo>
                  <a:lnTo>
                    <a:pt x="386954" y="35111"/>
                  </a:lnTo>
                  <a:lnTo>
                    <a:pt x="346892" y="16089"/>
                  </a:lnTo>
                  <a:lnTo>
                    <a:pt x="303389" y="4143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081651" y="5614987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0" y="210946"/>
                  </a:lnTo>
                  <a:lnTo>
                    <a:pt x="16080" y="167437"/>
                  </a:lnTo>
                  <a:lnTo>
                    <a:pt x="35094" y="127372"/>
                  </a:lnTo>
                  <a:lnTo>
                    <a:pt x="60458" y="91479"/>
                  </a:lnTo>
                  <a:lnTo>
                    <a:pt x="91447" y="60483"/>
                  </a:lnTo>
                  <a:lnTo>
                    <a:pt x="127338" y="35111"/>
                  </a:lnTo>
                  <a:lnTo>
                    <a:pt x="167406" y="16089"/>
                  </a:lnTo>
                  <a:lnTo>
                    <a:pt x="210926" y="4143"/>
                  </a:lnTo>
                  <a:lnTo>
                    <a:pt x="257175" y="0"/>
                  </a:lnTo>
                  <a:lnTo>
                    <a:pt x="303389" y="4143"/>
                  </a:lnTo>
                  <a:lnTo>
                    <a:pt x="346892" y="16089"/>
                  </a:lnTo>
                  <a:lnTo>
                    <a:pt x="386954" y="35111"/>
                  </a:lnTo>
                  <a:lnTo>
                    <a:pt x="422849" y="60483"/>
                  </a:lnTo>
                  <a:lnTo>
                    <a:pt x="453849" y="91479"/>
                  </a:lnTo>
                  <a:lnTo>
                    <a:pt x="479227" y="127372"/>
                  </a:lnTo>
                  <a:lnTo>
                    <a:pt x="498254" y="167437"/>
                  </a:lnTo>
                  <a:lnTo>
                    <a:pt x="510204" y="210946"/>
                  </a:lnTo>
                  <a:lnTo>
                    <a:pt x="514350" y="257175"/>
                  </a:lnTo>
                  <a:lnTo>
                    <a:pt x="510204" y="303403"/>
                  </a:lnTo>
                  <a:lnTo>
                    <a:pt x="498254" y="346912"/>
                  </a:lnTo>
                  <a:lnTo>
                    <a:pt x="479227" y="386977"/>
                  </a:lnTo>
                  <a:lnTo>
                    <a:pt x="453849" y="422870"/>
                  </a:lnTo>
                  <a:lnTo>
                    <a:pt x="422849" y="453866"/>
                  </a:lnTo>
                  <a:lnTo>
                    <a:pt x="386954" y="479238"/>
                  </a:lnTo>
                  <a:lnTo>
                    <a:pt x="346892" y="498260"/>
                  </a:lnTo>
                  <a:lnTo>
                    <a:pt x="303389" y="510206"/>
                  </a:lnTo>
                  <a:lnTo>
                    <a:pt x="257175" y="514350"/>
                  </a:lnTo>
                  <a:lnTo>
                    <a:pt x="210926" y="510206"/>
                  </a:lnTo>
                  <a:lnTo>
                    <a:pt x="167406" y="498260"/>
                  </a:lnTo>
                  <a:lnTo>
                    <a:pt x="127338" y="479238"/>
                  </a:lnTo>
                  <a:lnTo>
                    <a:pt x="91447" y="453866"/>
                  </a:lnTo>
                  <a:lnTo>
                    <a:pt x="60458" y="422870"/>
                  </a:lnTo>
                  <a:lnTo>
                    <a:pt x="35094" y="386977"/>
                  </a:lnTo>
                  <a:lnTo>
                    <a:pt x="16080" y="346912"/>
                  </a:lnTo>
                  <a:lnTo>
                    <a:pt x="4140" y="303403"/>
                  </a:lnTo>
                  <a:lnTo>
                    <a:pt x="0" y="257175"/>
                  </a:lnTo>
                  <a:close/>
                </a:path>
              </a:pathLst>
            </a:custGeom>
            <a:ln w="635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00650" y="5743575"/>
              <a:ext cx="257175" cy="257175"/>
            </a:xfrm>
            <a:prstGeom prst="rect">
              <a:avLst/>
            </a:prstGeom>
          </p:spPr>
        </p:pic>
      </p:grpSp>
      <p:sp>
        <p:nvSpPr>
          <p:cNvPr id="63" name="object 63"/>
          <p:cNvSpPr txBox="1"/>
          <p:nvPr/>
        </p:nvSpPr>
        <p:spPr>
          <a:xfrm>
            <a:off x="5706745" y="5574347"/>
            <a:ext cx="5842000" cy="5899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Doctors,</a:t>
            </a:r>
            <a:r>
              <a:rPr sz="1250" b="1" spc="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nurses</a:t>
            </a:r>
            <a:r>
              <a:rPr sz="1250" b="1" spc="1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and</a:t>
            </a:r>
            <a:r>
              <a:rPr sz="1250" b="1" spc="10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frontline</a:t>
            </a:r>
            <a:r>
              <a:rPr sz="1250" b="1" spc="1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00695A"/>
                </a:solidFill>
                <a:latin typeface="Calibri"/>
                <a:cs typeface="Calibri"/>
              </a:rPr>
              <a:t>healthcare</a:t>
            </a:r>
            <a:r>
              <a:rPr sz="1250" b="1" spc="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00695A"/>
                </a:solidFill>
                <a:latin typeface="Calibri"/>
                <a:cs typeface="Calibri"/>
              </a:rPr>
              <a:t>workers</a:t>
            </a:r>
            <a:endParaRPr sz="125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105"/>
              </a:spcBef>
            </a:pP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Easier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available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could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reduce some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repeated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information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collection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help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staff</a:t>
            </a:r>
            <a:r>
              <a:rPr sz="12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organise</a:t>
            </a:r>
            <a:r>
              <a:rPr sz="12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relevant</a:t>
            </a:r>
            <a:r>
              <a:rPr sz="12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2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information</a:t>
            </a:r>
            <a:r>
              <a:rPr sz="12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more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efficiently.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75854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lang="en-IN" sz="900" b="1" spc="-50" dirty="0">
              <a:solidFill>
                <a:srgbClr val="0A4F49"/>
              </a:solidFill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TEAM PR</a:t>
            </a:r>
            <a:endParaRPr lang="en-US"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endParaRPr lang="en-IN"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115">
              <a:lnSpc>
                <a:spcPct val="100000"/>
              </a:lnSpc>
              <a:spcBef>
                <a:spcPts val="100"/>
              </a:spcBef>
            </a:pPr>
            <a:r>
              <a:rPr dirty="0"/>
              <a:t>CURRENT</a:t>
            </a:r>
            <a:r>
              <a:rPr spc="-65" dirty="0"/>
              <a:t> </a:t>
            </a:r>
            <a:r>
              <a:rPr spc="-40" dirty="0"/>
              <a:t>SITUATION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spc="-10" dirty="0"/>
              <a:t>CONTEXT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54432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Existing</a:t>
            </a:r>
            <a:r>
              <a:rPr sz="1800" b="1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scenario,</a:t>
            </a:r>
            <a:r>
              <a:rPr sz="1800" b="1" spc="-9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background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8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how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things</a:t>
            </a:r>
            <a:r>
              <a:rPr sz="1800" b="1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work</a:t>
            </a:r>
            <a:r>
              <a:rPr sz="1800" b="1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today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862" y="2055876"/>
            <a:ext cx="6680834" cy="2022475"/>
            <a:chOff x="550862" y="2055876"/>
            <a:chExt cx="6680834" cy="2022475"/>
          </a:xfrm>
        </p:grpSpPr>
        <p:sp>
          <p:nvSpPr>
            <p:cNvPr id="8" name="object 8"/>
            <p:cNvSpPr/>
            <p:nvPr/>
          </p:nvSpPr>
          <p:spPr>
            <a:xfrm>
              <a:off x="557212" y="2062226"/>
              <a:ext cx="6668134" cy="2009775"/>
            </a:xfrm>
            <a:custGeom>
              <a:avLst/>
              <a:gdLst/>
              <a:ahLst/>
              <a:cxnLst/>
              <a:rect l="l" t="t" r="r" b="b"/>
              <a:pathLst>
                <a:path w="6668134" h="2009775">
                  <a:moveTo>
                    <a:pt x="6594411" y="0"/>
                  </a:moveTo>
                  <a:lnTo>
                    <a:pt x="73075" y="0"/>
                  </a:lnTo>
                  <a:lnTo>
                    <a:pt x="44630" y="5730"/>
                  </a:lnTo>
                  <a:lnTo>
                    <a:pt x="21402" y="21367"/>
                  </a:lnTo>
                  <a:lnTo>
                    <a:pt x="5742" y="44576"/>
                  </a:lnTo>
                  <a:lnTo>
                    <a:pt x="0" y="73025"/>
                  </a:lnTo>
                  <a:lnTo>
                    <a:pt x="0" y="1936623"/>
                  </a:lnTo>
                  <a:lnTo>
                    <a:pt x="5742" y="1965071"/>
                  </a:lnTo>
                  <a:lnTo>
                    <a:pt x="21402" y="1988280"/>
                  </a:lnTo>
                  <a:lnTo>
                    <a:pt x="44630" y="2003917"/>
                  </a:lnTo>
                  <a:lnTo>
                    <a:pt x="73075" y="2009648"/>
                  </a:lnTo>
                  <a:lnTo>
                    <a:pt x="6594411" y="2009648"/>
                  </a:lnTo>
                  <a:lnTo>
                    <a:pt x="6622879" y="2003917"/>
                  </a:lnTo>
                  <a:lnTo>
                    <a:pt x="6646132" y="1988280"/>
                  </a:lnTo>
                  <a:lnTo>
                    <a:pt x="6661812" y="1965071"/>
                  </a:lnTo>
                  <a:lnTo>
                    <a:pt x="6667563" y="1936623"/>
                  </a:lnTo>
                  <a:lnTo>
                    <a:pt x="6667563" y="73025"/>
                  </a:lnTo>
                  <a:lnTo>
                    <a:pt x="6661812" y="44576"/>
                  </a:lnTo>
                  <a:lnTo>
                    <a:pt x="6646132" y="21367"/>
                  </a:lnTo>
                  <a:lnTo>
                    <a:pt x="6622879" y="5730"/>
                  </a:lnTo>
                  <a:lnTo>
                    <a:pt x="65944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212" y="2062226"/>
              <a:ext cx="6668134" cy="2009775"/>
            </a:xfrm>
            <a:custGeom>
              <a:avLst/>
              <a:gdLst/>
              <a:ahLst/>
              <a:cxnLst/>
              <a:rect l="l" t="t" r="r" b="b"/>
              <a:pathLst>
                <a:path w="6668134" h="2009775">
                  <a:moveTo>
                    <a:pt x="0" y="73025"/>
                  </a:moveTo>
                  <a:lnTo>
                    <a:pt x="5742" y="44576"/>
                  </a:lnTo>
                  <a:lnTo>
                    <a:pt x="21402" y="21367"/>
                  </a:lnTo>
                  <a:lnTo>
                    <a:pt x="44630" y="5730"/>
                  </a:lnTo>
                  <a:lnTo>
                    <a:pt x="73075" y="0"/>
                  </a:lnTo>
                  <a:lnTo>
                    <a:pt x="6594411" y="0"/>
                  </a:lnTo>
                  <a:lnTo>
                    <a:pt x="6622879" y="5730"/>
                  </a:lnTo>
                  <a:lnTo>
                    <a:pt x="6646132" y="21367"/>
                  </a:lnTo>
                  <a:lnTo>
                    <a:pt x="6661812" y="44576"/>
                  </a:lnTo>
                  <a:lnTo>
                    <a:pt x="6667563" y="73025"/>
                  </a:lnTo>
                  <a:lnTo>
                    <a:pt x="6667563" y="1936623"/>
                  </a:lnTo>
                  <a:lnTo>
                    <a:pt x="6661812" y="1965071"/>
                  </a:lnTo>
                  <a:lnTo>
                    <a:pt x="6646132" y="1988280"/>
                  </a:lnTo>
                  <a:lnTo>
                    <a:pt x="6622879" y="2003917"/>
                  </a:lnTo>
                  <a:lnTo>
                    <a:pt x="6594411" y="2009648"/>
                  </a:lnTo>
                  <a:lnTo>
                    <a:pt x="73075" y="2009648"/>
                  </a:lnTo>
                  <a:lnTo>
                    <a:pt x="44630" y="2003917"/>
                  </a:lnTo>
                  <a:lnTo>
                    <a:pt x="21402" y="1988280"/>
                  </a:lnTo>
                  <a:lnTo>
                    <a:pt x="5742" y="1965071"/>
                  </a:lnTo>
                  <a:lnTo>
                    <a:pt x="0" y="1936623"/>
                  </a:lnTo>
                  <a:lnTo>
                    <a:pt x="0" y="73025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9455" y="2063452"/>
            <a:ext cx="6172200" cy="13633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Existing</a:t>
            </a:r>
            <a:r>
              <a:rPr sz="1550" b="1" spc="114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scenario</a:t>
            </a:r>
            <a:r>
              <a:rPr sz="1550" b="1" spc="9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and</a:t>
            </a:r>
            <a:r>
              <a:rPr sz="1550" b="1" spc="9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695A"/>
                </a:solidFill>
                <a:latin typeface="Calibri"/>
                <a:cs typeface="Calibri"/>
              </a:rPr>
              <a:t>background</a:t>
            </a:r>
            <a:endParaRPr sz="1550">
              <a:latin typeface="Calibri"/>
              <a:cs typeface="Calibri"/>
            </a:endParaRPr>
          </a:p>
          <a:p>
            <a:pPr marL="213360" marR="5080" indent="-200660">
              <a:lnSpc>
                <a:spcPct val="102899"/>
              </a:lnSpc>
              <a:spcBef>
                <a:spcPts val="565"/>
              </a:spcBef>
              <a:buChar char="•"/>
              <a:tabLst>
                <a:tab pos="215900" algn="l"/>
              </a:tabLst>
            </a:pP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India’s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healthcare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system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includes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government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facilities,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private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hospitals,</a:t>
            </a:r>
            <a:r>
              <a:rPr sz="14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primary 	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health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centres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community-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level</a:t>
            </a:r>
            <a:r>
              <a:rPr sz="14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services.</a:t>
            </a:r>
            <a:endParaRPr sz="1400">
              <a:latin typeface="Calibri"/>
              <a:cs typeface="Calibri"/>
            </a:endParaRPr>
          </a:p>
          <a:p>
            <a:pPr marL="213360" marR="65405" indent="-200660">
              <a:lnSpc>
                <a:spcPct val="102899"/>
              </a:lnSpc>
              <a:spcBef>
                <a:spcPts val="520"/>
              </a:spcBef>
              <a:buChar char="•"/>
              <a:tabLst>
                <a:tab pos="215900" algn="l"/>
              </a:tabLst>
            </a:pP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India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has</a:t>
            </a:r>
            <a:r>
              <a:rPr sz="14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already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 introduced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4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Ayushman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Bharat</a:t>
            </a:r>
            <a:r>
              <a:rPr sz="14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4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Mission</a:t>
            </a:r>
            <a:r>
              <a:rPr sz="14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(ABDM),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which 	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supports</a:t>
            </a:r>
            <a:r>
              <a:rPr sz="14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40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health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identities</a:t>
            </a:r>
            <a:r>
              <a:rPr sz="14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40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linking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sharing</a:t>
            </a:r>
            <a:r>
              <a:rPr sz="14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of</a:t>
            </a:r>
            <a:r>
              <a:rPr sz="14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4F49"/>
                </a:solidFill>
                <a:latin typeface="Calibri"/>
                <a:cs typeface="Calibri"/>
              </a:rPr>
              <a:t>health</a:t>
            </a:r>
            <a:r>
              <a:rPr sz="14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A4F49"/>
                </a:solidFill>
                <a:latin typeface="Calibri"/>
                <a:cs typeface="Calibri"/>
              </a:rPr>
              <a:t>records.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08926" y="2055876"/>
            <a:ext cx="4241800" cy="2022475"/>
            <a:chOff x="7408926" y="2055876"/>
            <a:chExt cx="4241800" cy="2022475"/>
          </a:xfrm>
        </p:grpSpPr>
        <p:sp>
          <p:nvSpPr>
            <p:cNvPr id="12" name="object 12"/>
            <p:cNvSpPr/>
            <p:nvPr/>
          </p:nvSpPr>
          <p:spPr>
            <a:xfrm>
              <a:off x="7415276" y="2062226"/>
              <a:ext cx="4229100" cy="2009775"/>
            </a:xfrm>
            <a:custGeom>
              <a:avLst/>
              <a:gdLst/>
              <a:ahLst/>
              <a:cxnLst/>
              <a:rect l="l" t="t" r="r" b="b"/>
              <a:pathLst>
                <a:path w="4229100" h="2009775">
                  <a:moveTo>
                    <a:pt x="415594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936623"/>
                  </a:lnTo>
                  <a:lnTo>
                    <a:pt x="5730" y="1965071"/>
                  </a:lnTo>
                  <a:lnTo>
                    <a:pt x="21367" y="1988280"/>
                  </a:lnTo>
                  <a:lnTo>
                    <a:pt x="44576" y="2003917"/>
                  </a:lnTo>
                  <a:lnTo>
                    <a:pt x="73025" y="2009648"/>
                  </a:lnTo>
                  <a:lnTo>
                    <a:pt x="4155948" y="2009648"/>
                  </a:lnTo>
                  <a:lnTo>
                    <a:pt x="4184415" y="2003917"/>
                  </a:lnTo>
                  <a:lnTo>
                    <a:pt x="4207668" y="1988280"/>
                  </a:lnTo>
                  <a:lnTo>
                    <a:pt x="4223349" y="1965071"/>
                  </a:lnTo>
                  <a:lnTo>
                    <a:pt x="4229100" y="1936623"/>
                  </a:lnTo>
                  <a:lnTo>
                    <a:pt x="4229100" y="73025"/>
                  </a:lnTo>
                  <a:lnTo>
                    <a:pt x="4223349" y="44576"/>
                  </a:lnTo>
                  <a:lnTo>
                    <a:pt x="4207668" y="21367"/>
                  </a:lnTo>
                  <a:lnTo>
                    <a:pt x="4184415" y="5730"/>
                  </a:lnTo>
                  <a:lnTo>
                    <a:pt x="4155948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15276" y="2062226"/>
              <a:ext cx="4229100" cy="2009775"/>
            </a:xfrm>
            <a:custGeom>
              <a:avLst/>
              <a:gdLst/>
              <a:ahLst/>
              <a:cxnLst/>
              <a:rect l="l" t="t" r="r" b="b"/>
              <a:pathLst>
                <a:path w="4229100" h="2009775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4155948" y="0"/>
                  </a:lnTo>
                  <a:lnTo>
                    <a:pt x="4184415" y="5730"/>
                  </a:lnTo>
                  <a:lnTo>
                    <a:pt x="4207668" y="21367"/>
                  </a:lnTo>
                  <a:lnTo>
                    <a:pt x="4223349" y="44576"/>
                  </a:lnTo>
                  <a:lnTo>
                    <a:pt x="4229100" y="73025"/>
                  </a:lnTo>
                  <a:lnTo>
                    <a:pt x="4229100" y="1936623"/>
                  </a:lnTo>
                  <a:lnTo>
                    <a:pt x="4223349" y="1965071"/>
                  </a:lnTo>
                  <a:lnTo>
                    <a:pt x="4207668" y="1988280"/>
                  </a:lnTo>
                  <a:lnTo>
                    <a:pt x="4184415" y="2003917"/>
                  </a:lnTo>
                  <a:lnTo>
                    <a:pt x="4155948" y="2009648"/>
                  </a:lnTo>
                  <a:lnTo>
                    <a:pt x="73025" y="2009648"/>
                  </a:lnTo>
                  <a:lnTo>
                    <a:pt x="44576" y="2003917"/>
                  </a:lnTo>
                  <a:lnTo>
                    <a:pt x="21367" y="1988280"/>
                  </a:lnTo>
                  <a:lnTo>
                    <a:pt x="5730" y="1965071"/>
                  </a:lnTo>
                  <a:lnTo>
                    <a:pt x="0" y="1936623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82534" y="2059749"/>
            <a:ext cx="3744595" cy="107124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76C043"/>
                </a:solidFill>
                <a:latin typeface="Calibri"/>
                <a:cs typeface="Calibri"/>
              </a:rPr>
              <a:t>Relevant</a:t>
            </a:r>
            <a:r>
              <a:rPr sz="1400" b="1" spc="-2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76C043"/>
                </a:solidFill>
                <a:latin typeface="Calibri"/>
                <a:cs typeface="Calibri"/>
              </a:rPr>
              <a:t>fact</a:t>
            </a:r>
            <a:r>
              <a:rPr sz="1400" b="1" spc="-4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6C043"/>
                </a:solidFill>
                <a:latin typeface="Calibri"/>
                <a:cs typeface="Calibri"/>
              </a:rPr>
              <a:t>–</a:t>
            </a:r>
            <a:r>
              <a:rPr sz="1400" b="1" spc="-4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6C043"/>
                </a:solidFill>
                <a:latin typeface="Calibri"/>
                <a:cs typeface="Calibri"/>
              </a:rPr>
              <a:t>UIDAI</a:t>
            </a:r>
            <a:r>
              <a:rPr sz="1400" b="1" spc="-5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6C043"/>
                </a:solidFill>
                <a:latin typeface="Calibri"/>
                <a:cs typeface="Calibri"/>
              </a:rPr>
              <a:t>face</a:t>
            </a:r>
            <a:r>
              <a:rPr sz="1400" b="1" spc="-7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76C043"/>
                </a:solidFill>
                <a:latin typeface="Calibri"/>
                <a:cs typeface="Calibri"/>
              </a:rPr>
              <a:t>authentication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600"/>
              </a:lnSpc>
              <a:spcBef>
                <a:spcPts val="7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consent-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1:1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verification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process,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rather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discovers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unknown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person’s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scanning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face.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2534" y="3730307"/>
            <a:ext cx="2451735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u="sng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Source:</a:t>
            </a:r>
            <a:r>
              <a:rPr sz="1100" u="sng" spc="-25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100" u="sng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UIDAI</a:t>
            </a:r>
            <a:r>
              <a:rPr sz="1100" u="sng" spc="-5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100" u="sng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FAQs</a:t>
            </a:r>
            <a:r>
              <a:rPr sz="1100" u="sng" spc="-10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100" u="sng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on</a:t>
            </a:r>
            <a:r>
              <a:rPr sz="1100" u="sng" spc="-10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100" u="sng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face</a:t>
            </a:r>
            <a:r>
              <a:rPr sz="1100" u="sng" spc="25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100" u="sng" spc="-10" dirty="0">
                <a:solidFill>
                  <a:srgbClr val="B8D2C5"/>
                </a:solidFill>
                <a:uFill>
                  <a:solidFill>
                    <a:srgbClr val="B8D2C5"/>
                  </a:solidFill>
                </a:uFill>
                <a:latin typeface="Calibri"/>
                <a:cs typeface="Calibri"/>
                <a:hlinkClick r:id="rId4"/>
              </a:rPr>
              <a:t>authentication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6257" y="4223448"/>
            <a:ext cx="261429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Current</a:t>
            </a:r>
            <a:r>
              <a:rPr sz="1550" b="1" spc="6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workflow,</a:t>
            </a:r>
            <a:r>
              <a:rPr sz="1550" b="1" spc="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step</a:t>
            </a:r>
            <a:r>
              <a:rPr sz="1550" b="1" spc="6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by</a:t>
            </a:r>
            <a:r>
              <a:rPr sz="1550" b="1" spc="10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00695A"/>
                </a:solidFill>
                <a:latin typeface="Calibri"/>
                <a:cs typeface="Calibri"/>
              </a:rPr>
              <a:t>step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0862" y="4570476"/>
            <a:ext cx="2070735" cy="1612900"/>
            <a:chOff x="550862" y="4570476"/>
            <a:chExt cx="2070735" cy="1612900"/>
          </a:xfrm>
        </p:grpSpPr>
        <p:sp>
          <p:nvSpPr>
            <p:cNvPr id="18" name="object 18"/>
            <p:cNvSpPr/>
            <p:nvPr/>
          </p:nvSpPr>
          <p:spPr>
            <a:xfrm>
              <a:off x="557212" y="4576826"/>
              <a:ext cx="2058035" cy="1600200"/>
            </a:xfrm>
            <a:custGeom>
              <a:avLst/>
              <a:gdLst/>
              <a:ahLst/>
              <a:cxnLst/>
              <a:rect l="l" t="t" r="r" b="b"/>
              <a:pathLst>
                <a:path w="2058035" h="1600200">
                  <a:moveTo>
                    <a:pt x="1984311" y="0"/>
                  </a:moveTo>
                  <a:lnTo>
                    <a:pt x="73151" y="0"/>
                  </a:lnTo>
                  <a:lnTo>
                    <a:pt x="44678" y="5730"/>
                  </a:lnTo>
                  <a:lnTo>
                    <a:pt x="21426" y="21367"/>
                  </a:lnTo>
                  <a:lnTo>
                    <a:pt x="5748" y="44576"/>
                  </a:lnTo>
                  <a:lnTo>
                    <a:pt x="0" y="73025"/>
                  </a:lnTo>
                  <a:lnTo>
                    <a:pt x="0" y="1526997"/>
                  </a:lnTo>
                  <a:lnTo>
                    <a:pt x="5748" y="1555463"/>
                  </a:lnTo>
                  <a:lnTo>
                    <a:pt x="21426" y="1578711"/>
                  </a:lnTo>
                  <a:lnTo>
                    <a:pt x="44678" y="1594387"/>
                  </a:lnTo>
                  <a:lnTo>
                    <a:pt x="73151" y="1600136"/>
                  </a:lnTo>
                  <a:lnTo>
                    <a:pt x="1984311" y="1600136"/>
                  </a:lnTo>
                  <a:lnTo>
                    <a:pt x="2012779" y="1594387"/>
                  </a:lnTo>
                  <a:lnTo>
                    <a:pt x="2036032" y="1578711"/>
                  </a:lnTo>
                  <a:lnTo>
                    <a:pt x="2051712" y="1555463"/>
                  </a:lnTo>
                  <a:lnTo>
                    <a:pt x="2057463" y="1526997"/>
                  </a:lnTo>
                  <a:lnTo>
                    <a:pt x="2057463" y="73025"/>
                  </a:lnTo>
                  <a:lnTo>
                    <a:pt x="2051712" y="44576"/>
                  </a:lnTo>
                  <a:lnTo>
                    <a:pt x="2036032" y="21367"/>
                  </a:lnTo>
                  <a:lnTo>
                    <a:pt x="2012779" y="5730"/>
                  </a:lnTo>
                  <a:lnTo>
                    <a:pt x="19843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7212" y="4576826"/>
              <a:ext cx="2058035" cy="1600200"/>
            </a:xfrm>
            <a:custGeom>
              <a:avLst/>
              <a:gdLst/>
              <a:ahLst/>
              <a:cxnLst/>
              <a:rect l="l" t="t" r="r" b="b"/>
              <a:pathLst>
                <a:path w="2058035" h="1600200">
                  <a:moveTo>
                    <a:pt x="0" y="73025"/>
                  </a:moveTo>
                  <a:lnTo>
                    <a:pt x="5748" y="44576"/>
                  </a:lnTo>
                  <a:lnTo>
                    <a:pt x="21426" y="21367"/>
                  </a:lnTo>
                  <a:lnTo>
                    <a:pt x="44678" y="5730"/>
                  </a:lnTo>
                  <a:lnTo>
                    <a:pt x="73151" y="0"/>
                  </a:lnTo>
                  <a:lnTo>
                    <a:pt x="1984311" y="0"/>
                  </a:lnTo>
                  <a:lnTo>
                    <a:pt x="2012779" y="5730"/>
                  </a:lnTo>
                  <a:lnTo>
                    <a:pt x="2036032" y="21367"/>
                  </a:lnTo>
                  <a:lnTo>
                    <a:pt x="2051712" y="44576"/>
                  </a:lnTo>
                  <a:lnTo>
                    <a:pt x="2057463" y="73025"/>
                  </a:lnTo>
                  <a:lnTo>
                    <a:pt x="2057463" y="1526997"/>
                  </a:lnTo>
                  <a:lnTo>
                    <a:pt x="2051712" y="1555463"/>
                  </a:lnTo>
                  <a:lnTo>
                    <a:pt x="2036032" y="1578711"/>
                  </a:lnTo>
                  <a:lnTo>
                    <a:pt x="2012779" y="1594387"/>
                  </a:lnTo>
                  <a:lnTo>
                    <a:pt x="1984311" y="1600136"/>
                  </a:lnTo>
                  <a:lnTo>
                    <a:pt x="73151" y="1600136"/>
                  </a:lnTo>
                  <a:lnTo>
                    <a:pt x="44678" y="1594387"/>
                  </a:lnTo>
                  <a:lnTo>
                    <a:pt x="21426" y="1578711"/>
                  </a:lnTo>
                  <a:lnTo>
                    <a:pt x="5748" y="1555463"/>
                  </a:lnTo>
                  <a:lnTo>
                    <a:pt x="0" y="1526997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987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39"/>
                  </a:lnTo>
                  <a:lnTo>
                    <a:pt x="139619" y="17948"/>
                  </a:lnTo>
                  <a:lnTo>
                    <a:pt x="100788" y="39011"/>
                  </a:lnTo>
                  <a:lnTo>
                    <a:pt x="66955" y="66913"/>
                  </a:lnTo>
                  <a:lnTo>
                    <a:pt x="39041" y="100738"/>
                  </a:lnTo>
                  <a:lnTo>
                    <a:pt x="17964" y="139571"/>
                  </a:lnTo>
                  <a:lnTo>
                    <a:pt x="4644" y="182496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5" y="139571"/>
                  </a:lnTo>
                  <a:lnTo>
                    <a:pt x="418158" y="100738"/>
                  </a:lnTo>
                  <a:lnTo>
                    <a:pt x="390244" y="66913"/>
                  </a:lnTo>
                  <a:lnTo>
                    <a:pt x="356411" y="39011"/>
                  </a:lnTo>
                  <a:lnTo>
                    <a:pt x="317580" y="17948"/>
                  </a:lnTo>
                  <a:lnTo>
                    <a:pt x="274670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1987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496"/>
                  </a:lnTo>
                  <a:lnTo>
                    <a:pt x="17964" y="139571"/>
                  </a:lnTo>
                  <a:lnTo>
                    <a:pt x="39041" y="100738"/>
                  </a:lnTo>
                  <a:lnTo>
                    <a:pt x="66955" y="66913"/>
                  </a:lnTo>
                  <a:lnTo>
                    <a:pt x="100788" y="39011"/>
                  </a:lnTo>
                  <a:lnTo>
                    <a:pt x="139619" y="17948"/>
                  </a:lnTo>
                  <a:lnTo>
                    <a:pt x="182529" y="4639"/>
                  </a:lnTo>
                  <a:lnTo>
                    <a:pt x="228600" y="0"/>
                  </a:lnTo>
                  <a:lnTo>
                    <a:pt x="274670" y="4639"/>
                  </a:lnTo>
                  <a:lnTo>
                    <a:pt x="317580" y="17948"/>
                  </a:lnTo>
                  <a:lnTo>
                    <a:pt x="356411" y="39011"/>
                  </a:lnTo>
                  <a:lnTo>
                    <a:pt x="390244" y="66913"/>
                  </a:lnTo>
                  <a:lnTo>
                    <a:pt x="418158" y="100738"/>
                  </a:lnTo>
                  <a:lnTo>
                    <a:pt x="439235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5" y="4781550"/>
              <a:ext cx="228600" cy="2286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292350" y="4708842"/>
            <a:ext cx="18923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50" dirty="0">
                <a:solidFill>
                  <a:srgbClr val="2D9E79"/>
                </a:solidFill>
                <a:latin typeface="Cambria"/>
                <a:cs typeface="Cambria"/>
              </a:rPr>
              <a:t>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6112" y="5179059"/>
            <a:ext cx="160147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Taken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another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hospital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after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accident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630551" y="4570476"/>
            <a:ext cx="2247900" cy="1612900"/>
            <a:chOff x="2630551" y="4570476"/>
            <a:chExt cx="2247900" cy="1612900"/>
          </a:xfrm>
        </p:grpSpPr>
        <p:sp>
          <p:nvSpPr>
            <p:cNvPr id="26" name="object 26"/>
            <p:cNvSpPr/>
            <p:nvPr/>
          </p:nvSpPr>
          <p:spPr>
            <a:xfrm>
              <a:off x="2633726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33726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814701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198424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526997"/>
                  </a:lnTo>
                  <a:lnTo>
                    <a:pt x="5730" y="1555463"/>
                  </a:lnTo>
                  <a:lnTo>
                    <a:pt x="21367" y="1578711"/>
                  </a:lnTo>
                  <a:lnTo>
                    <a:pt x="44576" y="1594387"/>
                  </a:lnTo>
                  <a:lnTo>
                    <a:pt x="73025" y="1600136"/>
                  </a:lnTo>
                  <a:lnTo>
                    <a:pt x="1984248" y="1600136"/>
                  </a:lnTo>
                  <a:lnTo>
                    <a:pt x="2012715" y="1594387"/>
                  </a:lnTo>
                  <a:lnTo>
                    <a:pt x="2035968" y="1578711"/>
                  </a:lnTo>
                  <a:lnTo>
                    <a:pt x="2051649" y="1555463"/>
                  </a:lnTo>
                  <a:lnTo>
                    <a:pt x="2057400" y="1526997"/>
                  </a:lnTo>
                  <a:lnTo>
                    <a:pt x="2057400" y="73025"/>
                  </a:lnTo>
                  <a:lnTo>
                    <a:pt x="2051649" y="44576"/>
                  </a:lnTo>
                  <a:lnTo>
                    <a:pt x="2035968" y="21367"/>
                  </a:lnTo>
                  <a:lnTo>
                    <a:pt x="2012715" y="5730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14701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1984248" y="0"/>
                  </a:lnTo>
                  <a:lnTo>
                    <a:pt x="2012715" y="5730"/>
                  </a:lnTo>
                  <a:lnTo>
                    <a:pt x="2035968" y="21367"/>
                  </a:lnTo>
                  <a:lnTo>
                    <a:pt x="2051649" y="44576"/>
                  </a:lnTo>
                  <a:lnTo>
                    <a:pt x="2057400" y="73025"/>
                  </a:lnTo>
                  <a:lnTo>
                    <a:pt x="2057400" y="1526997"/>
                  </a:lnTo>
                  <a:lnTo>
                    <a:pt x="2051649" y="1555463"/>
                  </a:lnTo>
                  <a:lnTo>
                    <a:pt x="2035968" y="1578711"/>
                  </a:lnTo>
                  <a:lnTo>
                    <a:pt x="2012715" y="1594387"/>
                  </a:lnTo>
                  <a:lnTo>
                    <a:pt x="1984248" y="1600136"/>
                  </a:lnTo>
                  <a:lnTo>
                    <a:pt x="73025" y="1600136"/>
                  </a:lnTo>
                  <a:lnTo>
                    <a:pt x="44576" y="1594387"/>
                  </a:lnTo>
                  <a:lnTo>
                    <a:pt x="21367" y="1578711"/>
                  </a:lnTo>
                  <a:lnTo>
                    <a:pt x="5730" y="1555463"/>
                  </a:lnTo>
                  <a:lnTo>
                    <a:pt x="0" y="1526997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19476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19476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8950" y="4781550"/>
              <a:ext cx="228600" cy="2286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4552569" y="4708842"/>
            <a:ext cx="18923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50" dirty="0">
                <a:solidFill>
                  <a:srgbClr val="2D9E79"/>
                </a:solidFill>
                <a:latin typeface="Cambria"/>
                <a:cs typeface="Cambria"/>
              </a:rPr>
              <a:t>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06395" y="5179059"/>
            <a:ext cx="1589405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Unable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communicate;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family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has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not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arrived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yet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87976" y="4570476"/>
            <a:ext cx="2247900" cy="1612900"/>
            <a:chOff x="4887976" y="4570476"/>
            <a:chExt cx="2247900" cy="1612900"/>
          </a:xfrm>
        </p:grpSpPr>
        <p:sp>
          <p:nvSpPr>
            <p:cNvPr id="36" name="object 36"/>
            <p:cNvSpPr/>
            <p:nvPr/>
          </p:nvSpPr>
          <p:spPr>
            <a:xfrm>
              <a:off x="4891151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91151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72126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198424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526997"/>
                  </a:lnTo>
                  <a:lnTo>
                    <a:pt x="5730" y="1555463"/>
                  </a:lnTo>
                  <a:lnTo>
                    <a:pt x="21367" y="1578711"/>
                  </a:lnTo>
                  <a:lnTo>
                    <a:pt x="44576" y="1594387"/>
                  </a:lnTo>
                  <a:lnTo>
                    <a:pt x="73025" y="1600136"/>
                  </a:lnTo>
                  <a:lnTo>
                    <a:pt x="1984248" y="1600136"/>
                  </a:lnTo>
                  <a:lnTo>
                    <a:pt x="2012715" y="1594387"/>
                  </a:lnTo>
                  <a:lnTo>
                    <a:pt x="2035968" y="1578711"/>
                  </a:lnTo>
                  <a:lnTo>
                    <a:pt x="2051649" y="1555463"/>
                  </a:lnTo>
                  <a:lnTo>
                    <a:pt x="2057400" y="1526997"/>
                  </a:lnTo>
                  <a:lnTo>
                    <a:pt x="2057400" y="73025"/>
                  </a:lnTo>
                  <a:lnTo>
                    <a:pt x="2051649" y="44576"/>
                  </a:lnTo>
                  <a:lnTo>
                    <a:pt x="2035968" y="21367"/>
                  </a:lnTo>
                  <a:lnTo>
                    <a:pt x="2012715" y="5730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72126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1984248" y="0"/>
                  </a:lnTo>
                  <a:lnTo>
                    <a:pt x="2012715" y="5730"/>
                  </a:lnTo>
                  <a:lnTo>
                    <a:pt x="2035968" y="21367"/>
                  </a:lnTo>
                  <a:lnTo>
                    <a:pt x="2051649" y="44576"/>
                  </a:lnTo>
                  <a:lnTo>
                    <a:pt x="2057400" y="73025"/>
                  </a:lnTo>
                  <a:lnTo>
                    <a:pt x="2057400" y="1526997"/>
                  </a:lnTo>
                  <a:lnTo>
                    <a:pt x="2051649" y="1555463"/>
                  </a:lnTo>
                  <a:lnTo>
                    <a:pt x="2035968" y="1578711"/>
                  </a:lnTo>
                  <a:lnTo>
                    <a:pt x="2012715" y="1594387"/>
                  </a:lnTo>
                  <a:lnTo>
                    <a:pt x="1984248" y="1600136"/>
                  </a:lnTo>
                  <a:lnTo>
                    <a:pt x="73025" y="1600136"/>
                  </a:lnTo>
                  <a:lnTo>
                    <a:pt x="44576" y="1594387"/>
                  </a:lnTo>
                  <a:lnTo>
                    <a:pt x="21367" y="1578711"/>
                  </a:lnTo>
                  <a:lnTo>
                    <a:pt x="5730" y="1555463"/>
                  </a:lnTo>
                  <a:lnTo>
                    <a:pt x="0" y="1526997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176901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76901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6375" y="4781550"/>
              <a:ext cx="228600" cy="2286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812915" y="4708842"/>
            <a:ext cx="18923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50" dirty="0">
                <a:solidFill>
                  <a:srgbClr val="2D9E79"/>
                </a:solidFill>
                <a:latin typeface="Cambria"/>
                <a:cs typeface="Cambria"/>
              </a:rPr>
              <a:t>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166740" y="5179059"/>
            <a:ext cx="138684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No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accessible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documents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with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him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145401" y="4570476"/>
            <a:ext cx="2247900" cy="1612900"/>
            <a:chOff x="7145401" y="4570476"/>
            <a:chExt cx="2247900" cy="1612900"/>
          </a:xfrm>
        </p:grpSpPr>
        <p:sp>
          <p:nvSpPr>
            <p:cNvPr id="46" name="object 46"/>
            <p:cNvSpPr/>
            <p:nvPr/>
          </p:nvSpPr>
          <p:spPr>
            <a:xfrm>
              <a:off x="7148576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148576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29551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198424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526997"/>
                  </a:lnTo>
                  <a:lnTo>
                    <a:pt x="5730" y="1555463"/>
                  </a:lnTo>
                  <a:lnTo>
                    <a:pt x="21367" y="1578711"/>
                  </a:lnTo>
                  <a:lnTo>
                    <a:pt x="44576" y="1594387"/>
                  </a:lnTo>
                  <a:lnTo>
                    <a:pt x="73025" y="1600136"/>
                  </a:lnTo>
                  <a:lnTo>
                    <a:pt x="1984248" y="1600136"/>
                  </a:lnTo>
                  <a:lnTo>
                    <a:pt x="2012715" y="1594387"/>
                  </a:lnTo>
                  <a:lnTo>
                    <a:pt x="2035968" y="1578711"/>
                  </a:lnTo>
                  <a:lnTo>
                    <a:pt x="2051649" y="1555463"/>
                  </a:lnTo>
                  <a:lnTo>
                    <a:pt x="2057400" y="1526997"/>
                  </a:lnTo>
                  <a:lnTo>
                    <a:pt x="2057400" y="73025"/>
                  </a:lnTo>
                  <a:lnTo>
                    <a:pt x="2051649" y="44576"/>
                  </a:lnTo>
                  <a:lnTo>
                    <a:pt x="2035968" y="21367"/>
                  </a:lnTo>
                  <a:lnTo>
                    <a:pt x="2012715" y="5730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29551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1984248" y="0"/>
                  </a:lnTo>
                  <a:lnTo>
                    <a:pt x="2012715" y="5730"/>
                  </a:lnTo>
                  <a:lnTo>
                    <a:pt x="2035968" y="21367"/>
                  </a:lnTo>
                  <a:lnTo>
                    <a:pt x="2051649" y="44576"/>
                  </a:lnTo>
                  <a:lnTo>
                    <a:pt x="2057400" y="73025"/>
                  </a:lnTo>
                  <a:lnTo>
                    <a:pt x="2057400" y="1526997"/>
                  </a:lnTo>
                  <a:lnTo>
                    <a:pt x="2051649" y="1555463"/>
                  </a:lnTo>
                  <a:lnTo>
                    <a:pt x="2035968" y="1578711"/>
                  </a:lnTo>
                  <a:lnTo>
                    <a:pt x="2012715" y="1594387"/>
                  </a:lnTo>
                  <a:lnTo>
                    <a:pt x="1984248" y="1600136"/>
                  </a:lnTo>
                  <a:lnTo>
                    <a:pt x="73025" y="1600136"/>
                  </a:lnTo>
                  <a:lnTo>
                    <a:pt x="44576" y="1594387"/>
                  </a:lnTo>
                  <a:lnTo>
                    <a:pt x="21367" y="1578711"/>
                  </a:lnTo>
                  <a:lnTo>
                    <a:pt x="5730" y="1555463"/>
                  </a:lnTo>
                  <a:lnTo>
                    <a:pt x="0" y="1526997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34326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434326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43800" y="4781550"/>
              <a:ext cx="228600" cy="22860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426959" y="4708842"/>
            <a:ext cx="1835785" cy="859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2150" b="1" spc="-50" dirty="0">
                <a:solidFill>
                  <a:srgbClr val="2D9E79"/>
                </a:solidFill>
                <a:latin typeface="Cambria"/>
                <a:cs typeface="Cambria"/>
              </a:rPr>
              <a:t>4</a:t>
            </a:r>
            <a:endParaRPr sz="2150">
              <a:latin typeface="Cambria"/>
              <a:cs typeface="Cambria"/>
            </a:endParaRPr>
          </a:p>
          <a:p>
            <a:pPr marL="12700">
              <a:lnSpc>
                <a:spcPts val="1435"/>
              </a:lnSpc>
              <a:spcBef>
                <a:spcPts val="109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Hospital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cannot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immediately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5"/>
              </a:lnSpc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locate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his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previous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9402826" y="4570476"/>
            <a:ext cx="2247900" cy="1612900"/>
            <a:chOff x="9402826" y="4570476"/>
            <a:chExt cx="2247900" cy="1612900"/>
          </a:xfrm>
        </p:grpSpPr>
        <p:sp>
          <p:nvSpPr>
            <p:cNvPr id="55" name="object 55"/>
            <p:cNvSpPr/>
            <p:nvPr/>
          </p:nvSpPr>
          <p:spPr>
            <a:xfrm>
              <a:off x="9406001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406001" y="523405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586976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198424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1526997"/>
                  </a:lnTo>
                  <a:lnTo>
                    <a:pt x="5730" y="1555463"/>
                  </a:lnTo>
                  <a:lnTo>
                    <a:pt x="21367" y="1578711"/>
                  </a:lnTo>
                  <a:lnTo>
                    <a:pt x="44576" y="1594387"/>
                  </a:lnTo>
                  <a:lnTo>
                    <a:pt x="73025" y="1600136"/>
                  </a:lnTo>
                  <a:lnTo>
                    <a:pt x="1984248" y="1600136"/>
                  </a:lnTo>
                  <a:lnTo>
                    <a:pt x="2012715" y="1594387"/>
                  </a:lnTo>
                  <a:lnTo>
                    <a:pt x="2035968" y="1578711"/>
                  </a:lnTo>
                  <a:lnTo>
                    <a:pt x="2051649" y="1555463"/>
                  </a:lnTo>
                  <a:lnTo>
                    <a:pt x="2057400" y="1526997"/>
                  </a:lnTo>
                  <a:lnTo>
                    <a:pt x="2057400" y="73025"/>
                  </a:lnTo>
                  <a:lnTo>
                    <a:pt x="2051649" y="44576"/>
                  </a:lnTo>
                  <a:lnTo>
                    <a:pt x="2035968" y="21367"/>
                  </a:lnTo>
                  <a:lnTo>
                    <a:pt x="2012715" y="5730"/>
                  </a:lnTo>
                  <a:lnTo>
                    <a:pt x="1984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586976" y="4576826"/>
              <a:ext cx="2057400" cy="1600200"/>
            </a:xfrm>
            <a:custGeom>
              <a:avLst/>
              <a:gdLst/>
              <a:ahLst/>
              <a:cxnLst/>
              <a:rect l="l" t="t" r="r" b="b"/>
              <a:pathLst>
                <a:path w="2057400" h="160020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1984248" y="0"/>
                  </a:lnTo>
                  <a:lnTo>
                    <a:pt x="2012715" y="5730"/>
                  </a:lnTo>
                  <a:lnTo>
                    <a:pt x="2035968" y="21367"/>
                  </a:lnTo>
                  <a:lnTo>
                    <a:pt x="2051649" y="44576"/>
                  </a:lnTo>
                  <a:lnTo>
                    <a:pt x="2057400" y="73025"/>
                  </a:lnTo>
                  <a:lnTo>
                    <a:pt x="2057400" y="1526997"/>
                  </a:lnTo>
                  <a:lnTo>
                    <a:pt x="2051649" y="1555463"/>
                  </a:lnTo>
                  <a:lnTo>
                    <a:pt x="2035968" y="1578711"/>
                  </a:lnTo>
                  <a:lnTo>
                    <a:pt x="2012715" y="1594387"/>
                  </a:lnTo>
                  <a:lnTo>
                    <a:pt x="1984248" y="1600136"/>
                  </a:lnTo>
                  <a:lnTo>
                    <a:pt x="73025" y="1600136"/>
                  </a:lnTo>
                  <a:lnTo>
                    <a:pt x="44576" y="1594387"/>
                  </a:lnTo>
                  <a:lnTo>
                    <a:pt x="21367" y="1578711"/>
                  </a:lnTo>
                  <a:lnTo>
                    <a:pt x="5730" y="1555463"/>
                  </a:lnTo>
                  <a:lnTo>
                    <a:pt x="0" y="1526997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701276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01276" y="467207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10750" y="4781550"/>
              <a:ext cx="228600" cy="228600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11333480" y="4708842"/>
            <a:ext cx="189230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spc="-50" dirty="0">
                <a:solidFill>
                  <a:srgbClr val="2D9E79"/>
                </a:solidFill>
                <a:latin typeface="Cambria"/>
                <a:cs typeface="Cambria"/>
              </a:rPr>
              <a:t>5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687306" y="5179059"/>
            <a:ext cx="1856739" cy="7620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Even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20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records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exist,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staff</a:t>
            </a:r>
            <a:r>
              <a:rPr sz="12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not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be</a:t>
            </a:r>
            <a:r>
              <a:rPr sz="120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able 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to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retrieve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them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at</a:t>
            </a:r>
            <a:r>
              <a:rPr sz="1200" spc="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that</a:t>
            </a:r>
            <a:r>
              <a:rPr sz="1200" spc="50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moment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75854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TEAM PR</a:t>
            </a:r>
            <a:endParaRPr lang="en-US" sz="15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endParaRPr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935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15" dirty="0"/>
              <a:t> </a:t>
            </a:r>
            <a:r>
              <a:rPr spc="-10" dirty="0"/>
              <a:t>CHALLENGES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5741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Main</a:t>
            </a:r>
            <a:r>
              <a:rPr sz="1800" b="1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difficulties,</a:t>
            </a:r>
            <a:r>
              <a:rPr sz="18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bottlenecks,</a:t>
            </a:r>
            <a:r>
              <a:rPr sz="1800" b="1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root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causes</a:t>
            </a:r>
            <a:r>
              <a:rPr sz="1800" b="1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and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consequences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862" y="2055876"/>
            <a:ext cx="3575685" cy="3670300"/>
            <a:chOff x="550862" y="2055876"/>
            <a:chExt cx="3575685" cy="3670300"/>
          </a:xfrm>
        </p:grpSpPr>
        <p:sp>
          <p:nvSpPr>
            <p:cNvPr id="8" name="object 8"/>
            <p:cNvSpPr/>
            <p:nvPr/>
          </p:nvSpPr>
          <p:spPr>
            <a:xfrm>
              <a:off x="557212" y="2062226"/>
              <a:ext cx="3562985" cy="3657600"/>
            </a:xfrm>
            <a:custGeom>
              <a:avLst/>
              <a:gdLst/>
              <a:ahLst/>
              <a:cxnLst/>
              <a:rect l="l" t="t" r="r" b="b"/>
              <a:pathLst>
                <a:path w="3562985" h="3657600">
                  <a:moveTo>
                    <a:pt x="3489261" y="0"/>
                  </a:moveTo>
                  <a:lnTo>
                    <a:pt x="73063" y="0"/>
                  </a:lnTo>
                  <a:lnTo>
                    <a:pt x="44625" y="5730"/>
                  </a:lnTo>
                  <a:lnTo>
                    <a:pt x="21401" y="21367"/>
                  </a:lnTo>
                  <a:lnTo>
                    <a:pt x="5742" y="44576"/>
                  </a:lnTo>
                  <a:lnTo>
                    <a:pt x="0" y="73025"/>
                  </a:lnTo>
                  <a:lnTo>
                    <a:pt x="0" y="3584473"/>
                  </a:lnTo>
                  <a:lnTo>
                    <a:pt x="5742" y="3612911"/>
                  </a:lnTo>
                  <a:lnTo>
                    <a:pt x="21401" y="3636135"/>
                  </a:lnTo>
                  <a:lnTo>
                    <a:pt x="44625" y="3651794"/>
                  </a:lnTo>
                  <a:lnTo>
                    <a:pt x="73063" y="3657536"/>
                  </a:lnTo>
                  <a:lnTo>
                    <a:pt x="3489261" y="3657536"/>
                  </a:lnTo>
                  <a:lnTo>
                    <a:pt x="3517729" y="3651794"/>
                  </a:lnTo>
                  <a:lnTo>
                    <a:pt x="3540982" y="3636135"/>
                  </a:lnTo>
                  <a:lnTo>
                    <a:pt x="3556662" y="3612911"/>
                  </a:lnTo>
                  <a:lnTo>
                    <a:pt x="3562413" y="3584473"/>
                  </a:lnTo>
                  <a:lnTo>
                    <a:pt x="3562413" y="73025"/>
                  </a:lnTo>
                  <a:lnTo>
                    <a:pt x="3556662" y="44576"/>
                  </a:lnTo>
                  <a:lnTo>
                    <a:pt x="3540982" y="21367"/>
                  </a:lnTo>
                  <a:lnTo>
                    <a:pt x="3517729" y="5730"/>
                  </a:lnTo>
                  <a:lnTo>
                    <a:pt x="34892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212" y="2062226"/>
              <a:ext cx="3562985" cy="3657600"/>
            </a:xfrm>
            <a:custGeom>
              <a:avLst/>
              <a:gdLst/>
              <a:ahLst/>
              <a:cxnLst/>
              <a:rect l="l" t="t" r="r" b="b"/>
              <a:pathLst>
                <a:path w="3562985" h="3657600">
                  <a:moveTo>
                    <a:pt x="0" y="73025"/>
                  </a:moveTo>
                  <a:lnTo>
                    <a:pt x="5742" y="44576"/>
                  </a:lnTo>
                  <a:lnTo>
                    <a:pt x="21401" y="21367"/>
                  </a:lnTo>
                  <a:lnTo>
                    <a:pt x="44625" y="5730"/>
                  </a:lnTo>
                  <a:lnTo>
                    <a:pt x="73063" y="0"/>
                  </a:lnTo>
                  <a:lnTo>
                    <a:pt x="3489261" y="0"/>
                  </a:lnTo>
                  <a:lnTo>
                    <a:pt x="3517729" y="5730"/>
                  </a:lnTo>
                  <a:lnTo>
                    <a:pt x="3540982" y="21367"/>
                  </a:lnTo>
                  <a:lnTo>
                    <a:pt x="3556662" y="44576"/>
                  </a:lnTo>
                  <a:lnTo>
                    <a:pt x="3562413" y="73025"/>
                  </a:lnTo>
                  <a:lnTo>
                    <a:pt x="3562413" y="3584473"/>
                  </a:lnTo>
                  <a:lnTo>
                    <a:pt x="3556662" y="3612911"/>
                  </a:lnTo>
                  <a:lnTo>
                    <a:pt x="3540982" y="3636135"/>
                  </a:lnTo>
                  <a:lnTo>
                    <a:pt x="3517729" y="3651794"/>
                  </a:lnTo>
                  <a:lnTo>
                    <a:pt x="3489261" y="3657536"/>
                  </a:lnTo>
                  <a:lnTo>
                    <a:pt x="73063" y="3657536"/>
                  </a:lnTo>
                  <a:lnTo>
                    <a:pt x="44625" y="3651794"/>
                  </a:lnTo>
                  <a:lnTo>
                    <a:pt x="21401" y="3636135"/>
                  </a:lnTo>
                  <a:lnTo>
                    <a:pt x="5742" y="3612911"/>
                  </a:lnTo>
                  <a:lnTo>
                    <a:pt x="0" y="3584473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212" y="2062226"/>
              <a:ext cx="3562985" cy="866775"/>
            </a:xfrm>
            <a:custGeom>
              <a:avLst/>
              <a:gdLst/>
              <a:ahLst/>
              <a:cxnLst/>
              <a:rect l="l" t="t" r="r" b="b"/>
              <a:pathLst>
                <a:path w="3562985" h="866775">
                  <a:moveTo>
                    <a:pt x="3489388" y="0"/>
                  </a:moveTo>
                  <a:lnTo>
                    <a:pt x="72986" y="0"/>
                  </a:lnTo>
                  <a:lnTo>
                    <a:pt x="44576" y="5728"/>
                  </a:lnTo>
                  <a:lnTo>
                    <a:pt x="21377" y="21351"/>
                  </a:lnTo>
                  <a:lnTo>
                    <a:pt x="5735" y="44523"/>
                  </a:lnTo>
                  <a:lnTo>
                    <a:pt x="0" y="72898"/>
                  </a:lnTo>
                  <a:lnTo>
                    <a:pt x="0" y="793750"/>
                  </a:lnTo>
                  <a:lnTo>
                    <a:pt x="5735" y="822144"/>
                  </a:lnTo>
                  <a:lnTo>
                    <a:pt x="21377" y="845359"/>
                  </a:lnTo>
                  <a:lnTo>
                    <a:pt x="44576" y="861026"/>
                  </a:lnTo>
                  <a:lnTo>
                    <a:pt x="72986" y="866775"/>
                  </a:lnTo>
                  <a:lnTo>
                    <a:pt x="3489388" y="866775"/>
                  </a:lnTo>
                  <a:lnTo>
                    <a:pt x="3517782" y="861026"/>
                  </a:lnTo>
                  <a:lnTo>
                    <a:pt x="3540998" y="845359"/>
                  </a:lnTo>
                  <a:lnTo>
                    <a:pt x="3556664" y="822144"/>
                  </a:lnTo>
                  <a:lnTo>
                    <a:pt x="3562413" y="793750"/>
                  </a:lnTo>
                  <a:lnTo>
                    <a:pt x="3562413" y="72898"/>
                  </a:lnTo>
                  <a:lnTo>
                    <a:pt x="3556664" y="44523"/>
                  </a:lnTo>
                  <a:lnTo>
                    <a:pt x="3540998" y="21351"/>
                  </a:lnTo>
                  <a:lnTo>
                    <a:pt x="3517782" y="5728"/>
                  </a:lnTo>
                  <a:lnTo>
                    <a:pt x="3489388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7212" y="2062226"/>
              <a:ext cx="3562985" cy="866775"/>
            </a:xfrm>
            <a:custGeom>
              <a:avLst/>
              <a:gdLst/>
              <a:ahLst/>
              <a:cxnLst/>
              <a:rect l="l" t="t" r="r" b="b"/>
              <a:pathLst>
                <a:path w="3562985" h="866775">
                  <a:moveTo>
                    <a:pt x="0" y="72898"/>
                  </a:moveTo>
                  <a:lnTo>
                    <a:pt x="5735" y="44523"/>
                  </a:lnTo>
                  <a:lnTo>
                    <a:pt x="21377" y="21351"/>
                  </a:lnTo>
                  <a:lnTo>
                    <a:pt x="44576" y="5728"/>
                  </a:lnTo>
                  <a:lnTo>
                    <a:pt x="72986" y="0"/>
                  </a:lnTo>
                  <a:lnTo>
                    <a:pt x="3489388" y="0"/>
                  </a:lnTo>
                  <a:lnTo>
                    <a:pt x="3517782" y="5728"/>
                  </a:lnTo>
                  <a:lnTo>
                    <a:pt x="3540998" y="21351"/>
                  </a:lnTo>
                  <a:lnTo>
                    <a:pt x="3556664" y="44523"/>
                  </a:lnTo>
                  <a:lnTo>
                    <a:pt x="3562413" y="72898"/>
                  </a:lnTo>
                  <a:lnTo>
                    <a:pt x="3562413" y="793750"/>
                  </a:lnTo>
                  <a:lnTo>
                    <a:pt x="3556664" y="822144"/>
                  </a:lnTo>
                  <a:lnTo>
                    <a:pt x="3540998" y="845359"/>
                  </a:lnTo>
                  <a:lnTo>
                    <a:pt x="3517782" y="861026"/>
                  </a:lnTo>
                  <a:lnTo>
                    <a:pt x="3489388" y="866775"/>
                  </a:lnTo>
                  <a:lnTo>
                    <a:pt x="72986" y="866775"/>
                  </a:lnTo>
                  <a:lnTo>
                    <a:pt x="44576" y="861026"/>
                  </a:lnTo>
                  <a:lnTo>
                    <a:pt x="21377" y="845359"/>
                  </a:lnTo>
                  <a:lnTo>
                    <a:pt x="5735" y="822144"/>
                  </a:lnTo>
                  <a:lnTo>
                    <a:pt x="0" y="793750"/>
                  </a:lnTo>
                  <a:lnTo>
                    <a:pt x="0" y="72898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9137" y="2195576"/>
              <a:ext cx="581660" cy="590550"/>
            </a:xfrm>
            <a:custGeom>
              <a:avLst/>
              <a:gdLst/>
              <a:ahLst/>
              <a:cxnLst/>
              <a:rect l="l" t="t" r="r" b="b"/>
              <a:pathLst>
                <a:path w="581660" h="590550">
                  <a:moveTo>
                    <a:pt x="290512" y="0"/>
                  </a:moveTo>
                  <a:lnTo>
                    <a:pt x="243391" y="3861"/>
                  </a:lnTo>
                  <a:lnTo>
                    <a:pt x="198690" y="15041"/>
                  </a:lnTo>
                  <a:lnTo>
                    <a:pt x="157008" y="32935"/>
                  </a:lnTo>
                  <a:lnTo>
                    <a:pt x="118942" y="56936"/>
                  </a:lnTo>
                  <a:lnTo>
                    <a:pt x="85091" y="86439"/>
                  </a:lnTo>
                  <a:lnTo>
                    <a:pt x="56053" y="120837"/>
                  </a:lnTo>
                  <a:lnTo>
                    <a:pt x="32427" y="159526"/>
                  </a:lnTo>
                  <a:lnTo>
                    <a:pt x="14811" y="201899"/>
                  </a:lnTo>
                  <a:lnTo>
                    <a:pt x="3802" y="247350"/>
                  </a:lnTo>
                  <a:lnTo>
                    <a:pt x="0" y="295275"/>
                  </a:lnTo>
                  <a:lnTo>
                    <a:pt x="3802" y="343168"/>
                  </a:lnTo>
                  <a:lnTo>
                    <a:pt x="14811" y="388601"/>
                  </a:lnTo>
                  <a:lnTo>
                    <a:pt x="32427" y="430967"/>
                  </a:lnTo>
                  <a:lnTo>
                    <a:pt x="56053" y="469657"/>
                  </a:lnTo>
                  <a:lnTo>
                    <a:pt x="85091" y="504063"/>
                  </a:lnTo>
                  <a:lnTo>
                    <a:pt x="118942" y="533576"/>
                  </a:lnTo>
                  <a:lnTo>
                    <a:pt x="157008" y="557590"/>
                  </a:lnTo>
                  <a:lnTo>
                    <a:pt x="198690" y="575495"/>
                  </a:lnTo>
                  <a:lnTo>
                    <a:pt x="243391" y="586685"/>
                  </a:lnTo>
                  <a:lnTo>
                    <a:pt x="290512" y="590550"/>
                  </a:lnTo>
                  <a:lnTo>
                    <a:pt x="337638" y="586685"/>
                  </a:lnTo>
                  <a:lnTo>
                    <a:pt x="382345" y="575495"/>
                  </a:lnTo>
                  <a:lnTo>
                    <a:pt x="424036" y="557590"/>
                  </a:lnTo>
                  <a:lnTo>
                    <a:pt x="462110" y="533576"/>
                  </a:lnTo>
                  <a:lnTo>
                    <a:pt x="495969" y="504063"/>
                  </a:lnTo>
                  <a:lnTo>
                    <a:pt x="525015" y="469657"/>
                  </a:lnTo>
                  <a:lnTo>
                    <a:pt x="548649" y="430967"/>
                  </a:lnTo>
                  <a:lnTo>
                    <a:pt x="566271" y="388601"/>
                  </a:lnTo>
                  <a:lnTo>
                    <a:pt x="577284" y="343168"/>
                  </a:lnTo>
                  <a:lnTo>
                    <a:pt x="581088" y="295275"/>
                  </a:lnTo>
                  <a:lnTo>
                    <a:pt x="577284" y="247350"/>
                  </a:lnTo>
                  <a:lnTo>
                    <a:pt x="566271" y="201899"/>
                  </a:lnTo>
                  <a:lnTo>
                    <a:pt x="548649" y="159526"/>
                  </a:lnTo>
                  <a:lnTo>
                    <a:pt x="525015" y="120837"/>
                  </a:lnTo>
                  <a:lnTo>
                    <a:pt x="495969" y="86439"/>
                  </a:lnTo>
                  <a:lnTo>
                    <a:pt x="462110" y="56936"/>
                  </a:lnTo>
                  <a:lnTo>
                    <a:pt x="424036" y="32935"/>
                  </a:lnTo>
                  <a:lnTo>
                    <a:pt x="382345" y="15041"/>
                  </a:lnTo>
                  <a:lnTo>
                    <a:pt x="337638" y="3861"/>
                  </a:lnTo>
                  <a:lnTo>
                    <a:pt x="290512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9137" y="2195576"/>
              <a:ext cx="581660" cy="590550"/>
            </a:xfrm>
            <a:custGeom>
              <a:avLst/>
              <a:gdLst/>
              <a:ahLst/>
              <a:cxnLst/>
              <a:rect l="l" t="t" r="r" b="b"/>
              <a:pathLst>
                <a:path w="581660" h="590550">
                  <a:moveTo>
                    <a:pt x="0" y="295275"/>
                  </a:moveTo>
                  <a:lnTo>
                    <a:pt x="3802" y="247350"/>
                  </a:lnTo>
                  <a:lnTo>
                    <a:pt x="14811" y="201899"/>
                  </a:lnTo>
                  <a:lnTo>
                    <a:pt x="32427" y="159526"/>
                  </a:lnTo>
                  <a:lnTo>
                    <a:pt x="56053" y="120837"/>
                  </a:lnTo>
                  <a:lnTo>
                    <a:pt x="85091" y="86439"/>
                  </a:lnTo>
                  <a:lnTo>
                    <a:pt x="118942" y="56936"/>
                  </a:lnTo>
                  <a:lnTo>
                    <a:pt x="157008" y="32935"/>
                  </a:lnTo>
                  <a:lnTo>
                    <a:pt x="198690" y="15041"/>
                  </a:lnTo>
                  <a:lnTo>
                    <a:pt x="243391" y="3861"/>
                  </a:lnTo>
                  <a:lnTo>
                    <a:pt x="290512" y="0"/>
                  </a:lnTo>
                  <a:lnTo>
                    <a:pt x="337638" y="3861"/>
                  </a:lnTo>
                  <a:lnTo>
                    <a:pt x="382345" y="15041"/>
                  </a:lnTo>
                  <a:lnTo>
                    <a:pt x="424036" y="32935"/>
                  </a:lnTo>
                  <a:lnTo>
                    <a:pt x="462110" y="56936"/>
                  </a:lnTo>
                  <a:lnTo>
                    <a:pt x="495969" y="86439"/>
                  </a:lnTo>
                  <a:lnTo>
                    <a:pt x="525015" y="120837"/>
                  </a:lnTo>
                  <a:lnTo>
                    <a:pt x="548649" y="159526"/>
                  </a:lnTo>
                  <a:lnTo>
                    <a:pt x="566271" y="201899"/>
                  </a:lnTo>
                  <a:lnTo>
                    <a:pt x="577284" y="247350"/>
                  </a:lnTo>
                  <a:lnTo>
                    <a:pt x="581088" y="295275"/>
                  </a:lnTo>
                  <a:lnTo>
                    <a:pt x="577284" y="343168"/>
                  </a:lnTo>
                  <a:lnTo>
                    <a:pt x="566271" y="388601"/>
                  </a:lnTo>
                  <a:lnTo>
                    <a:pt x="548649" y="430967"/>
                  </a:lnTo>
                  <a:lnTo>
                    <a:pt x="525015" y="469657"/>
                  </a:lnTo>
                  <a:lnTo>
                    <a:pt x="495969" y="504063"/>
                  </a:lnTo>
                  <a:lnTo>
                    <a:pt x="462110" y="533576"/>
                  </a:lnTo>
                  <a:lnTo>
                    <a:pt x="424036" y="557590"/>
                  </a:lnTo>
                  <a:lnTo>
                    <a:pt x="382345" y="575495"/>
                  </a:lnTo>
                  <a:lnTo>
                    <a:pt x="337638" y="586685"/>
                  </a:lnTo>
                  <a:lnTo>
                    <a:pt x="290512" y="590550"/>
                  </a:lnTo>
                  <a:lnTo>
                    <a:pt x="243391" y="586685"/>
                  </a:lnTo>
                  <a:lnTo>
                    <a:pt x="198690" y="575495"/>
                  </a:lnTo>
                  <a:lnTo>
                    <a:pt x="157008" y="557590"/>
                  </a:lnTo>
                  <a:lnTo>
                    <a:pt x="118942" y="533576"/>
                  </a:lnTo>
                  <a:lnTo>
                    <a:pt x="85091" y="504063"/>
                  </a:lnTo>
                  <a:lnTo>
                    <a:pt x="56053" y="469657"/>
                  </a:lnTo>
                  <a:lnTo>
                    <a:pt x="32427" y="430967"/>
                  </a:lnTo>
                  <a:lnTo>
                    <a:pt x="14811" y="388601"/>
                  </a:lnTo>
                  <a:lnTo>
                    <a:pt x="3802" y="343168"/>
                  </a:lnTo>
                  <a:lnTo>
                    <a:pt x="0" y="295275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0" y="2343150"/>
              <a:ext cx="295275" cy="2857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405636" y="2228913"/>
            <a:ext cx="175641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Main</a:t>
            </a:r>
            <a:r>
              <a:rPr sz="1550" b="1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difficulties</a:t>
            </a:r>
            <a:r>
              <a:rPr sz="1550" b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550" b="1" spc="-10" dirty="0">
                <a:solidFill>
                  <a:srgbClr val="FFFFFF"/>
                </a:solidFill>
                <a:latin typeface="Calibri"/>
                <a:cs typeface="Calibri"/>
              </a:rPr>
              <a:t>bottlenecks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7552" y="3090862"/>
            <a:ext cx="322326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marR="5080" indent="-202565">
              <a:lnSpc>
                <a:spcPct val="100000"/>
              </a:lnSpc>
              <a:spcBef>
                <a:spcPts val="100"/>
              </a:spcBef>
              <a:buChar char="•"/>
              <a:tabLst>
                <a:tab pos="215900" algn="l"/>
              </a:tabLst>
            </a:pP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Identifying</a:t>
            </a:r>
            <a:r>
              <a:rPr sz="15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5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they</a:t>
            </a:r>
            <a:r>
              <a:rPr sz="15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cannot 	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identify</a:t>
            </a:r>
            <a:r>
              <a:rPr sz="15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themselves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7552" y="3701351"/>
            <a:ext cx="320294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marR="5080" indent="-202565">
              <a:lnSpc>
                <a:spcPct val="100000"/>
              </a:lnSpc>
              <a:spcBef>
                <a:spcPts val="100"/>
              </a:spcBef>
              <a:buChar char="•"/>
              <a:tabLst>
                <a:tab pos="215900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Accessing</a:t>
            </a:r>
            <a:r>
              <a:rPr sz="1500" spc="-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reliable</a:t>
            </a:r>
            <a:r>
              <a:rPr sz="1500" spc="-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5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information 	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r>
              <a:rPr sz="15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it</a:t>
            </a:r>
            <a:r>
              <a:rPr sz="15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500" spc="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needed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552" y="4312284"/>
            <a:ext cx="31553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"/>
              </a:spcBef>
              <a:buChar char="•"/>
              <a:tabLst>
                <a:tab pos="215900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An</a:t>
            </a:r>
            <a:r>
              <a:rPr sz="15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unreliable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internet</a:t>
            </a:r>
            <a:r>
              <a:rPr sz="15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connection</a:t>
            </a:r>
            <a:r>
              <a:rPr sz="15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in</a:t>
            </a:r>
            <a:r>
              <a:rPr sz="15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50" dirty="0">
                <a:solidFill>
                  <a:srgbClr val="0A4F49"/>
                </a:solidFill>
                <a:latin typeface="Calibri"/>
                <a:cs typeface="Calibri"/>
              </a:rPr>
              <a:t>a 	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rural</a:t>
            </a:r>
            <a:r>
              <a:rPr sz="15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clinic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7552" y="4922202"/>
            <a:ext cx="312039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marR="5080" indent="-202565">
              <a:lnSpc>
                <a:spcPct val="100000"/>
              </a:lnSpc>
              <a:spcBef>
                <a:spcPts val="100"/>
              </a:spcBef>
              <a:buChar char="•"/>
              <a:tabLst>
                <a:tab pos="215900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5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patient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5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forget</a:t>
            </a:r>
            <a:r>
              <a:rPr sz="15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medicine</a:t>
            </a:r>
            <a:r>
              <a:rPr sz="15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names 	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or</a:t>
            </a:r>
            <a:r>
              <a:rPr sz="15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lose</a:t>
            </a:r>
            <a:r>
              <a:rPr sz="1500" spc="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prescription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13301" y="2055876"/>
            <a:ext cx="3575050" cy="3670300"/>
            <a:chOff x="4313301" y="2055876"/>
            <a:chExt cx="3575050" cy="3670300"/>
          </a:xfrm>
        </p:grpSpPr>
        <p:sp>
          <p:nvSpPr>
            <p:cNvPr id="21" name="object 21"/>
            <p:cNvSpPr/>
            <p:nvPr/>
          </p:nvSpPr>
          <p:spPr>
            <a:xfrm>
              <a:off x="4319651" y="2062226"/>
              <a:ext cx="3562350" cy="3657600"/>
            </a:xfrm>
            <a:custGeom>
              <a:avLst/>
              <a:gdLst/>
              <a:ahLst/>
              <a:cxnLst/>
              <a:rect l="l" t="t" r="r" b="b"/>
              <a:pathLst>
                <a:path w="3562350" h="3657600">
                  <a:moveTo>
                    <a:pt x="348919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3584473"/>
                  </a:lnTo>
                  <a:lnTo>
                    <a:pt x="5730" y="3612911"/>
                  </a:lnTo>
                  <a:lnTo>
                    <a:pt x="21367" y="3636135"/>
                  </a:lnTo>
                  <a:lnTo>
                    <a:pt x="44576" y="3651794"/>
                  </a:lnTo>
                  <a:lnTo>
                    <a:pt x="73025" y="3657536"/>
                  </a:lnTo>
                  <a:lnTo>
                    <a:pt x="3489198" y="3657536"/>
                  </a:lnTo>
                  <a:lnTo>
                    <a:pt x="3517665" y="3651794"/>
                  </a:lnTo>
                  <a:lnTo>
                    <a:pt x="3540918" y="3636135"/>
                  </a:lnTo>
                  <a:lnTo>
                    <a:pt x="3556599" y="3612911"/>
                  </a:lnTo>
                  <a:lnTo>
                    <a:pt x="3562350" y="3584473"/>
                  </a:lnTo>
                  <a:lnTo>
                    <a:pt x="3562350" y="73025"/>
                  </a:lnTo>
                  <a:lnTo>
                    <a:pt x="3556599" y="44576"/>
                  </a:lnTo>
                  <a:lnTo>
                    <a:pt x="3540918" y="21367"/>
                  </a:lnTo>
                  <a:lnTo>
                    <a:pt x="3517665" y="5730"/>
                  </a:lnTo>
                  <a:lnTo>
                    <a:pt x="348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19651" y="2062226"/>
              <a:ext cx="3562350" cy="3657600"/>
            </a:xfrm>
            <a:custGeom>
              <a:avLst/>
              <a:gdLst/>
              <a:ahLst/>
              <a:cxnLst/>
              <a:rect l="l" t="t" r="r" b="b"/>
              <a:pathLst>
                <a:path w="3562350" h="365760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3489198" y="0"/>
                  </a:lnTo>
                  <a:lnTo>
                    <a:pt x="3517665" y="5730"/>
                  </a:lnTo>
                  <a:lnTo>
                    <a:pt x="3540918" y="21367"/>
                  </a:lnTo>
                  <a:lnTo>
                    <a:pt x="3556599" y="44576"/>
                  </a:lnTo>
                  <a:lnTo>
                    <a:pt x="3562350" y="73025"/>
                  </a:lnTo>
                  <a:lnTo>
                    <a:pt x="3562350" y="3584473"/>
                  </a:lnTo>
                  <a:lnTo>
                    <a:pt x="3556599" y="3612911"/>
                  </a:lnTo>
                  <a:lnTo>
                    <a:pt x="3540918" y="3636135"/>
                  </a:lnTo>
                  <a:lnTo>
                    <a:pt x="3517665" y="3651794"/>
                  </a:lnTo>
                  <a:lnTo>
                    <a:pt x="3489198" y="3657536"/>
                  </a:lnTo>
                  <a:lnTo>
                    <a:pt x="73025" y="3657536"/>
                  </a:lnTo>
                  <a:lnTo>
                    <a:pt x="44576" y="3651794"/>
                  </a:lnTo>
                  <a:lnTo>
                    <a:pt x="21367" y="3636135"/>
                  </a:lnTo>
                  <a:lnTo>
                    <a:pt x="5730" y="3612911"/>
                  </a:lnTo>
                  <a:lnTo>
                    <a:pt x="0" y="3584473"/>
                  </a:lnTo>
                  <a:lnTo>
                    <a:pt x="0" y="73025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19651" y="2062226"/>
              <a:ext cx="3562350" cy="866775"/>
            </a:xfrm>
            <a:custGeom>
              <a:avLst/>
              <a:gdLst/>
              <a:ahLst/>
              <a:cxnLst/>
              <a:rect l="l" t="t" r="r" b="b"/>
              <a:pathLst>
                <a:path w="3562350" h="866775">
                  <a:moveTo>
                    <a:pt x="3489325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793750"/>
                  </a:lnTo>
                  <a:lnTo>
                    <a:pt x="5728" y="822144"/>
                  </a:lnTo>
                  <a:lnTo>
                    <a:pt x="21351" y="845359"/>
                  </a:lnTo>
                  <a:lnTo>
                    <a:pt x="44523" y="861026"/>
                  </a:lnTo>
                  <a:lnTo>
                    <a:pt x="72898" y="866775"/>
                  </a:lnTo>
                  <a:lnTo>
                    <a:pt x="3489325" y="866775"/>
                  </a:lnTo>
                  <a:lnTo>
                    <a:pt x="3517719" y="861026"/>
                  </a:lnTo>
                  <a:lnTo>
                    <a:pt x="3540934" y="845359"/>
                  </a:lnTo>
                  <a:lnTo>
                    <a:pt x="3556601" y="822144"/>
                  </a:lnTo>
                  <a:lnTo>
                    <a:pt x="3562350" y="793750"/>
                  </a:lnTo>
                  <a:lnTo>
                    <a:pt x="3562350" y="72898"/>
                  </a:lnTo>
                  <a:lnTo>
                    <a:pt x="3556601" y="44523"/>
                  </a:lnTo>
                  <a:lnTo>
                    <a:pt x="3540934" y="21351"/>
                  </a:lnTo>
                  <a:lnTo>
                    <a:pt x="3517719" y="5728"/>
                  </a:lnTo>
                  <a:lnTo>
                    <a:pt x="3489325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19651" y="2062226"/>
              <a:ext cx="3562350" cy="866775"/>
            </a:xfrm>
            <a:custGeom>
              <a:avLst/>
              <a:gdLst/>
              <a:ahLst/>
              <a:cxnLst/>
              <a:rect l="l" t="t" r="r" b="b"/>
              <a:pathLst>
                <a:path w="3562350" h="866775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3489325" y="0"/>
                  </a:lnTo>
                  <a:lnTo>
                    <a:pt x="3517719" y="5728"/>
                  </a:lnTo>
                  <a:lnTo>
                    <a:pt x="3540934" y="21351"/>
                  </a:lnTo>
                  <a:lnTo>
                    <a:pt x="3556601" y="44523"/>
                  </a:lnTo>
                  <a:lnTo>
                    <a:pt x="3562350" y="72898"/>
                  </a:lnTo>
                  <a:lnTo>
                    <a:pt x="3562350" y="793750"/>
                  </a:lnTo>
                  <a:lnTo>
                    <a:pt x="3556601" y="822144"/>
                  </a:lnTo>
                  <a:lnTo>
                    <a:pt x="3540934" y="845359"/>
                  </a:lnTo>
                  <a:lnTo>
                    <a:pt x="3517719" y="861026"/>
                  </a:lnTo>
                  <a:lnTo>
                    <a:pt x="3489325" y="866775"/>
                  </a:lnTo>
                  <a:lnTo>
                    <a:pt x="72898" y="866775"/>
                  </a:lnTo>
                  <a:lnTo>
                    <a:pt x="44523" y="861026"/>
                  </a:lnTo>
                  <a:lnTo>
                    <a:pt x="21351" y="845359"/>
                  </a:lnTo>
                  <a:lnTo>
                    <a:pt x="5728" y="822144"/>
                  </a:lnTo>
                  <a:lnTo>
                    <a:pt x="0" y="793750"/>
                  </a:lnTo>
                  <a:lnTo>
                    <a:pt x="0" y="72898"/>
                  </a:lnTo>
                  <a:close/>
                </a:path>
              </a:pathLst>
            </a:custGeom>
            <a:ln w="635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81576" y="2195576"/>
              <a:ext cx="581025" cy="590550"/>
            </a:xfrm>
            <a:custGeom>
              <a:avLst/>
              <a:gdLst/>
              <a:ahLst/>
              <a:cxnLst/>
              <a:rect l="l" t="t" r="r" b="b"/>
              <a:pathLst>
                <a:path w="581025" h="590550">
                  <a:moveTo>
                    <a:pt x="290449" y="0"/>
                  </a:moveTo>
                  <a:lnTo>
                    <a:pt x="243338" y="3861"/>
                  </a:lnTo>
                  <a:lnTo>
                    <a:pt x="198648" y="15041"/>
                  </a:lnTo>
                  <a:lnTo>
                    <a:pt x="156975" y="32935"/>
                  </a:lnTo>
                  <a:lnTo>
                    <a:pt x="118917" y="56936"/>
                  </a:lnTo>
                  <a:lnTo>
                    <a:pt x="85074" y="86439"/>
                  </a:lnTo>
                  <a:lnTo>
                    <a:pt x="56042" y="120837"/>
                  </a:lnTo>
                  <a:lnTo>
                    <a:pt x="32421" y="159526"/>
                  </a:lnTo>
                  <a:lnTo>
                    <a:pt x="14808" y="201899"/>
                  </a:lnTo>
                  <a:lnTo>
                    <a:pt x="3801" y="247350"/>
                  </a:lnTo>
                  <a:lnTo>
                    <a:pt x="0" y="295275"/>
                  </a:lnTo>
                  <a:lnTo>
                    <a:pt x="3801" y="343168"/>
                  </a:lnTo>
                  <a:lnTo>
                    <a:pt x="14808" y="388601"/>
                  </a:lnTo>
                  <a:lnTo>
                    <a:pt x="32421" y="430967"/>
                  </a:lnTo>
                  <a:lnTo>
                    <a:pt x="56042" y="469657"/>
                  </a:lnTo>
                  <a:lnTo>
                    <a:pt x="85074" y="504063"/>
                  </a:lnTo>
                  <a:lnTo>
                    <a:pt x="118917" y="533576"/>
                  </a:lnTo>
                  <a:lnTo>
                    <a:pt x="156975" y="557590"/>
                  </a:lnTo>
                  <a:lnTo>
                    <a:pt x="198648" y="575495"/>
                  </a:lnTo>
                  <a:lnTo>
                    <a:pt x="243338" y="586685"/>
                  </a:lnTo>
                  <a:lnTo>
                    <a:pt x="290449" y="590550"/>
                  </a:lnTo>
                  <a:lnTo>
                    <a:pt x="337562" y="586685"/>
                  </a:lnTo>
                  <a:lnTo>
                    <a:pt x="382262" y="575495"/>
                  </a:lnTo>
                  <a:lnTo>
                    <a:pt x="423950" y="557590"/>
                  </a:lnTo>
                  <a:lnTo>
                    <a:pt x="462024" y="533576"/>
                  </a:lnTo>
                  <a:lnTo>
                    <a:pt x="495887" y="504063"/>
                  </a:lnTo>
                  <a:lnTo>
                    <a:pt x="524937" y="469657"/>
                  </a:lnTo>
                  <a:lnTo>
                    <a:pt x="548576" y="430967"/>
                  </a:lnTo>
                  <a:lnTo>
                    <a:pt x="566203" y="388601"/>
                  </a:lnTo>
                  <a:lnTo>
                    <a:pt x="577219" y="343168"/>
                  </a:lnTo>
                  <a:lnTo>
                    <a:pt x="581025" y="295275"/>
                  </a:lnTo>
                  <a:lnTo>
                    <a:pt x="577219" y="247350"/>
                  </a:lnTo>
                  <a:lnTo>
                    <a:pt x="566203" y="201899"/>
                  </a:lnTo>
                  <a:lnTo>
                    <a:pt x="548576" y="159526"/>
                  </a:lnTo>
                  <a:lnTo>
                    <a:pt x="524937" y="120837"/>
                  </a:lnTo>
                  <a:lnTo>
                    <a:pt x="495887" y="86439"/>
                  </a:lnTo>
                  <a:lnTo>
                    <a:pt x="462024" y="56936"/>
                  </a:lnTo>
                  <a:lnTo>
                    <a:pt x="423950" y="32935"/>
                  </a:lnTo>
                  <a:lnTo>
                    <a:pt x="382262" y="15041"/>
                  </a:lnTo>
                  <a:lnTo>
                    <a:pt x="337562" y="3861"/>
                  </a:lnTo>
                  <a:lnTo>
                    <a:pt x="29044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81576" y="2195576"/>
              <a:ext cx="581025" cy="590550"/>
            </a:xfrm>
            <a:custGeom>
              <a:avLst/>
              <a:gdLst/>
              <a:ahLst/>
              <a:cxnLst/>
              <a:rect l="l" t="t" r="r" b="b"/>
              <a:pathLst>
                <a:path w="581025" h="590550">
                  <a:moveTo>
                    <a:pt x="0" y="295275"/>
                  </a:moveTo>
                  <a:lnTo>
                    <a:pt x="3801" y="247350"/>
                  </a:lnTo>
                  <a:lnTo>
                    <a:pt x="14808" y="201899"/>
                  </a:lnTo>
                  <a:lnTo>
                    <a:pt x="32421" y="159526"/>
                  </a:lnTo>
                  <a:lnTo>
                    <a:pt x="56042" y="120837"/>
                  </a:lnTo>
                  <a:lnTo>
                    <a:pt x="85074" y="86439"/>
                  </a:lnTo>
                  <a:lnTo>
                    <a:pt x="118917" y="56936"/>
                  </a:lnTo>
                  <a:lnTo>
                    <a:pt x="156975" y="32935"/>
                  </a:lnTo>
                  <a:lnTo>
                    <a:pt x="198648" y="15041"/>
                  </a:lnTo>
                  <a:lnTo>
                    <a:pt x="243338" y="3861"/>
                  </a:lnTo>
                  <a:lnTo>
                    <a:pt x="290449" y="0"/>
                  </a:lnTo>
                  <a:lnTo>
                    <a:pt x="337562" y="3861"/>
                  </a:lnTo>
                  <a:lnTo>
                    <a:pt x="382262" y="15041"/>
                  </a:lnTo>
                  <a:lnTo>
                    <a:pt x="423950" y="32935"/>
                  </a:lnTo>
                  <a:lnTo>
                    <a:pt x="462024" y="56936"/>
                  </a:lnTo>
                  <a:lnTo>
                    <a:pt x="495887" y="86439"/>
                  </a:lnTo>
                  <a:lnTo>
                    <a:pt x="524937" y="120837"/>
                  </a:lnTo>
                  <a:lnTo>
                    <a:pt x="548576" y="159526"/>
                  </a:lnTo>
                  <a:lnTo>
                    <a:pt x="566203" y="201899"/>
                  </a:lnTo>
                  <a:lnTo>
                    <a:pt x="577219" y="247350"/>
                  </a:lnTo>
                  <a:lnTo>
                    <a:pt x="581025" y="295275"/>
                  </a:lnTo>
                  <a:lnTo>
                    <a:pt x="577219" y="343168"/>
                  </a:lnTo>
                  <a:lnTo>
                    <a:pt x="566203" y="388601"/>
                  </a:lnTo>
                  <a:lnTo>
                    <a:pt x="548576" y="430967"/>
                  </a:lnTo>
                  <a:lnTo>
                    <a:pt x="524937" y="469657"/>
                  </a:lnTo>
                  <a:lnTo>
                    <a:pt x="495887" y="504063"/>
                  </a:lnTo>
                  <a:lnTo>
                    <a:pt x="462024" y="533576"/>
                  </a:lnTo>
                  <a:lnTo>
                    <a:pt x="423950" y="557590"/>
                  </a:lnTo>
                  <a:lnTo>
                    <a:pt x="382262" y="575495"/>
                  </a:lnTo>
                  <a:lnTo>
                    <a:pt x="337562" y="586685"/>
                  </a:lnTo>
                  <a:lnTo>
                    <a:pt x="290449" y="590550"/>
                  </a:lnTo>
                  <a:lnTo>
                    <a:pt x="243338" y="586685"/>
                  </a:lnTo>
                  <a:lnTo>
                    <a:pt x="198648" y="575495"/>
                  </a:lnTo>
                  <a:lnTo>
                    <a:pt x="156975" y="557590"/>
                  </a:lnTo>
                  <a:lnTo>
                    <a:pt x="118917" y="533576"/>
                  </a:lnTo>
                  <a:lnTo>
                    <a:pt x="85074" y="504063"/>
                  </a:lnTo>
                  <a:lnTo>
                    <a:pt x="56042" y="469657"/>
                  </a:lnTo>
                  <a:lnTo>
                    <a:pt x="32421" y="430967"/>
                  </a:lnTo>
                  <a:lnTo>
                    <a:pt x="14808" y="388601"/>
                  </a:lnTo>
                  <a:lnTo>
                    <a:pt x="3801" y="343168"/>
                  </a:lnTo>
                  <a:lnTo>
                    <a:pt x="0" y="295275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9625" y="2343150"/>
              <a:ext cx="295275" cy="28575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171440" y="2350706"/>
            <a:ext cx="214884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Root</a:t>
            </a:r>
            <a:r>
              <a:rPr sz="1550" b="1" spc="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causes</a:t>
            </a:r>
            <a:r>
              <a:rPr sz="1550" b="1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behind</a:t>
            </a:r>
            <a:r>
              <a:rPr sz="155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Calibri"/>
                <a:cs typeface="Calibri"/>
              </a:rPr>
              <a:t>them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03420" y="3090862"/>
            <a:ext cx="12934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100"/>
              </a:spcBef>
              <a:buChar char="•"/>
              <a:tabLst>
                <a:tab pos="214629" algn="l"/>
              </a:tabLst>
            </a:pP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Paper</a:t>
            </a:r>
            <a:r>
              <a:rPr sz="15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03420" y="3472497"/>
            <a:ext cx="2082164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100"/>
              </a:spcBef>
              <a:buChar char="•"/>
              <a:tabLst>
                <a:tab pos="214629" algn="l"/>
              </a:tabLst>
            </a:pP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Separate</a:t>
            </a:r>
            <a:r>
              <a:rPr sz="15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5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systems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03420" y="3854450"/>
            <a:ext cx="179006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100"/>
              </a:spcBef>
              <a:buChar char="•"/>
              <a:tabLst>
                <a:tab pos="214629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Limited</a:t>
            </a:r>
            <a:r>
              <a:rPr sz="1500" spc="-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connectivity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03420" y="4235513"/>
            <a:ext cx="26822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100"/>
              </a:spcBef>
              <a:buChar char="•"/>
              <a:tabLst>
                <a:tab pos="214629" algn="l"/>
              </a:tabLst>
            </a:pP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Difficulties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using</a:t>
            </a:r>
            <a:r>
              <a:rPr sz="15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500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services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075676" y="2055876"/>
            <a:ext cx="3575050" cy="3670300"/>
            <a:chOff x="8075676" y="2055876"/>
            <a:chExt cx="3575050" cy="3670300"/>
          </a:xfrm>
        </p:grpSpPr>
        <p:sp>
          <p:nvSpPr>
            <p:cNvPr id="34" name="object 34"/>
            <p:cNvSpPr/>
            <p:nvPr/>
          </p:nvSpPr>
          <p:spPr>
            <a:xfrm>
              <a:off x="8082026" y="2062226"/>
              <a:ext cx="3562350" cy="3657600"/>
            </a:xfrm>
            <a:custGeom>
              <a:avLst/>
              <a:gdLst/>
              <a:ahLst/>
              <a:cxnLst/>
              <a:rect l="l" t="t" r="r" b="b"/>
              <a:pathLst>
                <a:path w="3562350" h="3657600">
                  <a:moveTo>
                    <a:pt x="348919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3584473"/>
                  </a:lnTo>
                  <a:lnTo>
                    <a:pt x="5730" y="3612911"/>
                  </a:lnTo>
                  <a:lnTo>
                    <a:pt x="21367" y="3636135"/>
                  </a:lnTo>
                  <a:lnTo>
                    <a:pt x="44576" y="3651794"/>
                  </a:lnTo>
                  <a:lnTo>
                    <a:pt x="73025" y="3657536"/>
                  </a:lnTo>
                  <a:lnTo>
                    <a:pt x="3489198" y="3657536"/>
                  </a:lnTo>
                  <a:lnTo>
                    <a:pt x="3517665" y="3651794"/>
                  </a:lnTo>
                  <a:lnTo>
                    <a:pt x="3540918" y="3636135"/>
                  </a:lnTo>
                  <a:lnTo>
                    <a:pt x="3556599" y="3612911"/>
                  </a:lnTo>
                  <a:lnTo>
                    <a:pt x="3562350" y="3584473"/>
                  </a:lnTo>
                  <a:lnTo>
                    <a:pt x="3562350" y="73025"/>
                  </a:lnTo>
                  <a:lnTo>
                    <a:pt x="3556599" y="44576"/>
                  </a:lnTo>
                  <a:lnTo>
                    <a:pt x="3540918" y="21367"/>
                  </a:lnTo>
                  <a:lnTo>
                    <a:pt x="3517665" y="5730"/>
                  </a:lnTo>
                  <a:lnTo>
                    <a:pt x="348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082026" y="2062226"/>
              <a:ext cx="3562350" cy="3657600"/>
            </a:xfrm>
            <a:custGeom>
              <a:avLst/>
              <a:gdLst/>
              <a:ahLst/>
              <a:cxnLst/>
              <a:rect l="l" t="t" r="r" b="b"/>
              <a:pathLst>
                <a:path w="3562350" h="365760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3489198" y="0"/>
                  </a:lnTo>
                  <a:lnTo>
                    <a:pt x="3517665" y="5730"/>
                  </a:lnTo>
                  <a:lnTo>
                    <a:pt x="3540918" y="21367"/>
                  </a:lnTo>
                  <a:lnTo>
                    <a:pt x="3556599" y="44576"/>
                  </a:lnTo>
                  <a:lnTo>
                    <a:pt x="3562350" y="73025"/>
                  </a:lnTo>
                  <a:lnTo>
                    <a:pt x="3562350" y="3584473"/>
                  </a:lnTo>
                  <a:lnTo>
                    <a:pt x="3556599" y="3612911"/>
                  </a:lnTo>
                  <a:lnTo>
                    <a:pt x="3540918" y="3636135"/>
                  </a:lnTo>
                  <a:lnTo>
                    <a:pt x="3517665" y="3651794"/>
                  </a:lnTo>
                  <a:lnTo>
                    <a:pt x="3489198" y="3657536"/>
                  </a:lnTo>
                  <a:lnTo>
                    <a:pt x="73025" y="3657536"/>
                  </a:lnTo>
                  <a:lnTo>
                    <a:pt x="44576" y="3651794"/>
                  </a:lnTo>
                  <a:lnTo>
                    <a:pt x="21367" y="3636135"/>
                  </a:lnTo>
                  <a:lnTo>
                    <a:pt x="5730" y="3612911"/>
                  </a:lnTo>
                  <a:lnTo>
                    <a:pt x="0" y="3584473"/>
                  </a:lnTo>
                  <a:lnTo>
                    <a:pt x="0" y="73025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82026" y="2062226"/>
              <a:ext cx="3562350" cy="866775"/>
            </a:xfrm>
            <a:custGeom>
              <a:avLst/>
              <a:gdLst/>
              <a:ahLst/>
              <a:cxnLst/>
              <a:rect l="l" t="t" r="r" b="b"/>
              <a:pathLst>
                <a:path w="3562350" h="866775">
                  <a:moveTo>
                    <a:pt x="3489325" y="0"/>
                  </a:moveTo>
                  <a:lnTo>
                    <a:pt x="72898" y="0"/>
                  </a:lnTo>
                  <a:lnTo>
                    <a:pt x="44523" y="5728"/>
                  </a:lnTo>
                  <a:lnTo>
                    <a:pt x="21351" y="21351"/>
                  </a:lnTo>
                  <a:lnTo>
                    <a:pt x="5728" y="44523"/>
                  </a:lnTo>
                  <a:lnTo>
                    <a:pt x="0" y="72898"/>
                  </a:lnTo>
                  <a:lnTo>
                    <a:pt x="0" y="793750"/>
                  </a:lnTo>
                  <a:lnTo>
                    <a:pt x="5728" y="822144"/>
                  </a:lnTo>
                  <a:lnTo>
                    <a:pt x="21351" y="845359"/>
                  </a:lnTo>
                  <a:lnTo>
                    <a:pt x="44523" y="861026"/>
                  </a:lnTo>
                  <a:lnTo>
                    <a:pt x="72898" y="866775"/>
                  </a:lnTo>
                  <a:lnTo>
                    <a:pt x="3489325" y="866775"/>
                  </a:lnTo>
                  <a:lnTo>
                    <a:pt x="3517719" y="861026"/>
                  </a:lnTo>
                  <a:lnTo>
                    <a:pt x="3540934" y="845359"/>
                  </a:lnTo>
                  <a:lnTo>
                    <a:pt x="3556601" y="822144"/>
                  </a:lnTo>
                  <a:lnTo>
                    <a:pt x="3562350" y="793750"/>
                  </a:lnTo>
                  <a:lnTo>
                    <a:pt x="3562350" y="72898"/>
                  </a:lnTo>
                  <a:lnTo>
                    <a:pt x="3556601" y="44523"/>
                  </a:lnTo>
                  <a:lnTo>
                    <a:pt x="3540934" y="21351"/>
                  </a:lnTo>
                  <a:lnTo>
                    <a:pt x="3517719" y="5728"/>
                  </a:lnTo>
                  <a:lnTo>
                    <a:pt x="3489325" y="0"/>
                  </a:lnTo>
                  <a:close/>
                </a:path>
              </a:pathLst>
            </a:custGeom>
            <a:solidFill>
              <a:srgbClr val="042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82026" y="2062226"/>
              <a:ext cx="3562350" cy="866775"/>
            </a:xfrm>
            <a:custGeom>
              <a:avLst/>
              <a:gdLst/>
              <a:ahLst/>
              <a:cxnLst/>
              <a:rect l="l" t="t" r="r" b="b"/>
              <a:pathLst>
                <a:path w="3562350" h="866775">
                  <a:moveTo>
                    <a:pt x="0" y="72898"/>
                  </a:moveTo>
                  <a:lnTo>
                    <a:pt x="5728" y="44523"/>
                  </a:lnTo>
                  <a:lnTo>
                    <a:pt x="21351" y="21351"/>
                  </a:lnTo>
                  <a:lnTo>
                    <a:pt x="44523" y="5728"/>
                  </a:lnTo>
                  <a:lnTo>
                    <a:pt x="72898" y="0"/>
                  </a:lnTo>
                  <a:lnTo>
                    <a:pt x="3489325" y="0"/>
                  </a:lnTo>
                  <a:lnTo>
                    <a:pt x="3517719" y="5728"/>
                  </a:lnTo>
                  <a:lnTo>
                    <a:pt x="3540934" y="21351"/>
                  </a:lnTo>
                  <a:lnTo>
                    <a:pt x="3556601" y="44523"/>
                  </a:lnTo>
                  <a:lnTo>
                    <a:pt x="3562350" y="72898"/>
                  </a:lnTo>
                  <a:lnTo>
                    <a:pt x="3562350" y="793750"/>
                  </a:lnTo>
                  <a:lnTo>
                    <a:pt x="3556601" y="822144"/>
                  </a:lnTo>
                  <a:lnTo>
                    <a:pt x="3540934" y="845359"/>
                  </a:lnTo>
                  <a:lnTo>
                    <a:pt x="3517719" y="861026"/>
                  </a:lnTo>
                  <a:lnTo>
                    <a:pt x="3489325" y="866775"/>
                  </a:lnTo>
                  <a:lnTo>
                    <a:pt x="72898" y="866775"/>
                  </a:lnTo>
                  <a:lnTo>
                    <a:pt x="44523" y="861026"/>
                  </a:lnTo>
                  <a:lnTo>
                    <a:pt x="21351" y="845359"/>
                  </a:lnTo>
                  <a:lnTo>
                    <a:pt x="5728" y="822144"/>
                  </a:lnTo>
                  <a:lnTo>
                    <a:pt x="0" y="793750"/>
                  </a:lnTo>
                  <a:lnTo>
                    <a:pt x="0" y="72898"/>
                  </a:lnTo>
                  <a:close/>
                </a:path>
              </a:pathLst>
            </a:custGeom>
            <a:ln w="6350">
              <a:solidFill>
                <a:srgbClr val="042B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243951" y="2195576"/>
              <a:ext cx="581025" cy="590550"/>
            </a:xfrm>
            <a:custGeom>
              <a:avLst/>
              <a:gdLst/>
              <a:ahLst/>
              <a:cxnLst/>
              <a:rect l="l" t="t" r="r" b="b"/>
              <a:pathLst>
                <a:path w="581025" h="590550">
                  <a:moveTo>
                    <a:pt x="290449" y="0"/>
                  </a:moveTo>
                  <a:lnTo>
                    <a:pt x="243338" y="3861"/>
                  </a:lnTo>
                  <a:lnTo>
                    <a:pt x="198648" y="15041"/>
                  </a:lnTo>
                  <a:lnTo>
                    <a:pt x="156975" y="32935"/>
                  </a:lnTo>
                  <a:lnTo>
                    <a:pt x="118917" y="56936"/>
                  </a:lnTo>
                  <a:lnTo>
                    <a:pt x="85074" y="86439"/>
                  </a:lnTo>
                  <a:lnTo>
                    <a:pt x="56042" y="120837"/>
                  </a:lnTo>
                  <a:lnTo>
                    <a:pt x="32421" y="159526"/>
                  </a:lnTo>
                  <a:lnTo>
                    <a:pt x="14808" y="201899"/>
                  </a:lnTo>
                  <a:lnTo>
                    <a:pt x="3801" y="247350"/>
                  </a:lnTo>
                  <a:lnTo>
                    <a:pt x="0" y="295275"/>
                  </a:lnTo>
                  <a:lnTo>
                    <a:pt x="3801" y="343168"/>
                  </a:lnTo>
                  <a:lnTo>
                    <a:pt x="14808" y="388601"/>
                  </a:lnTo>
                  <a:lnTo>
                    <a:pt x="32421" y="430967"/>
                  </a:lnTo>
                  <a:lnTo>
                    <a:pt x="56042" y="469657"/>
                  </a:lnTo>
                  <a:lnTo>
                    <a:pt x="85074" y="504063"/>
                  </a:lnTo>
                  <a:lnTo>
                    <a:pt x="118917" y="533576"/>
                  </a:lnTo>
                  <a:lnTo>
                    <a:pt x="156975" y="557590"/>
                  </a:lnTo>
                  <a:lnTo>
                    <a:pt x="198648" y="575495"/>
                  </a:lnTo>
                  <a:lnTo>
                    <a:pt x="243338" y="586685"/>
                  </a:lnTo>
                  <a:lnTo>
                    <a:pt x="290449" y="590550"/>
                  </a:lnTo>
                  <a:lnTo>
                    <a:pt x="337562" y="586685"/>
                  </a:lnTo>
                  <a:lnTo>
                    <a:pt x="382262" y="575495"/>
                  </a:lnTo>
                  <a:lnTo>
                    <a:pt x="423950" y="557590"/>
                  </a:lnTo>
                  <a:lnTo>
                    <a:pt x="462024" y="533576"/>
                  </a:lnTo>
                  <a:lnTo>
                    <a:pt x="495887" y="504063"/>
                  </a:lnTo>
                  <a:lnTo>
                    <a:pt x="524937" y="469657"/>
                  </a:lnTo>
                  <a:lnTo>
                    <a:pt x="548576" y="430967"/>
                  </a:lnTo>
                  <a:lnTo>
                    <a:pt x="566203" y="388601"/>
                  </a:lnTo>
                  <a:lnTo>
                    <a:pt x="577219" y="343168"/>
                  </a:lnTo>
                  <a:lnTo>
                    <a:pt x="581025" y="295275"/>
                  </a:lnTo>
                  <a:lnTo>
                    <a:pt x="577219" y="247350"/>
                  </a:lnTo>
                  <a:lnTo>
                    <a:pt x="566203" y="201899"/>
                  </a:lnTo>
                  <a:lnTo>
                    <a:pt x="548576" y="159526"/>
                  </a:lnTo>
                  <a:lnTo>
                    <a:pt x="524937" y="120837"/>
                  </a:lnTo>
                  <a:lnTo>
                    <a:pt x="495887" y="86439"/>
                  </a:lnTo>
                  <a:lnTo>
                    <a:pt x="462024" y="56936"/>
                  </a:lnTo>
                  <a:lnTo>
                    <a:pt x="423950" y="32935"/>
                  </a:lnTo>
                  <a:lnTo>
                    <a:pt x="382262" y="15041"/>
                  </a:lnTo>
                  <a:lnTo>
                    <a:pt x="337562" y="3861"/>
                  </a:lnTo>
                  <a:lnTo>
                    <a:pt x="29044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43951" y="2195576"/>
              <a:ext cx="581025" cy="590550"/>
            </a:xfrm>
            <a:custGeom>
              <a:avLst/>
              <a:gdLst/>
              <a:ahLst/>
              <a:cxnLst/>
              <a:rect l="l" t="t" r="r" b="b"/>
              <a:pathLst>
                <a:path w="581025" h="590550">
                  <a:moveTo>
                    <a:pt x="0" y="295275"/>
                  </a:moveTo>
                  <a:lnTo>
                    <a:pt x="3801" y="247350"/>
                  </a:lnTo>
                  <a:lnTo>
                    <a:pt x="14808" y="201899"/>
                  </a:lnTo>
                  <a:lnTo>
                    <a:pt x="32421" y="159526"/>
                  </a:lnTo>
                  <a:lnTo>
                    <a:pt x="56042" y="120837"/>
                  </a:lnTo>
                  <a:lnTo>
                    <a:pt x="85074" y="86439"/>
                  </a:lnTo>
                  <a:lnTo>
                    <a:pt x="118917" y="56936"/>
                  </a:lnTo>
                  <a:lnTo>
                    <a:pt x="156975" y="32935"/>
                  </a:lnTo>
                  <a:lnTo>
                    <a:pt x="198648" y="15041"/>
                  </a:lnTo>
                  <a:lnTo>
                    <a:pt x="243338" y="3861"/>
                  </a:lnTo>
                  <a:lnTo>
                    <a:pt x="290449" y="0"/>
                  </a:lnTo>
                  <a:lnTo>
                    <a:pt x="337562" y="3861"/>
                  </a:lnTo>
                  <a:lnTo>
                    <a:pt x="382262" y="15041"/>
                  </a:lnTo>
                  <a:lnTo>
                    <a:pt x="423950" y="32935"/>
                  </a:lnTo>
                  <a:lnTo>
                    <a:pt x="462024" y="56936"/>
                  </a:lnTo>
                  <a:lnTo>
                    <a:pt x="495887" y="86439"/>
                  </a:lnTo>
                  <a:lnTo>
                    <a:pt x="524937" y="120837"/>
                  </a:lnTo>
                  <a:lnTo>
                    <a:pt x="548576" y="159526"/>
                  </a:lnTo>
                  <a:lnTo>
                    <a:pt x="566203" y="201899"/>
                  </a:lnTo>
                  <a:lnTo>
                    <a:pt x="577219" y="247350"/>
                  </a:lnTo>
                  <a:lnTo>
                    <a:pt x="581025" y="295275"/>
                  </a:lnTo>
                  <a:lnTo>
                    <a:pt x="577219" y="343168"/>
                  </a:lnTo>
                  <a:lnTo>
                    <a:pt x="566203" y="388601"/>
                  </a:lnTo>
                  <a:lnTo>
                    <a:pt x="548576" y="430967"/>
                  </a:lnTo>
                  <a:lnTo>
                    <a:pt x="524937" y="469657"/>
                  </a:lnTo>
                  <a:lnTo>
                    <a:pt x="495887" y="504063"/>
                  </a:lnTo>
                  <a:lnTo>
                    <a:pt x="462024" y="533576"/>
                  </a:lnTo>
                  <a:lnTo>
                    <a:pt x="423950" y="557590"/>
                  </a:lnTo>
                  <a:lnTo>
                    <a:pt x="382262" y="575495"/>
                  </a:lnTo>
                  <a:lnTo>
                    <a:pt x="337562" y="586685"/>
                  </a:lnTo>
                  <a:lnTo>
                    <a:pt x="290449" y="590550"/>
                  </a:lnTo>
                  <a:lnTo>
                    <a:pt x="243338" y="586685"/>
                  </a:lnTo>
                  <a:lnTo>
                    <a:pt x="198648" y="575495"/>
                  </a:lnTo>
                  <a:lnTo>
                    <a:pt x="156975" y="557590"/>
                  </a:lnTo>
                  <a:lnTo>
                    <a:pt x="118917" y="533576"/>
                  </a:lnTo>
                  <a:lnTo>
                    <a:pt x="85074" y="504063"/>
                  </a:lnTo>
                  <a:lnTo>
                    <a:pt x="56042" y="469657"/>
                  </a:lnTo>
                  <a:lnTo>
                    <a:pt x="32421" y="430967"/>
                  </a:lnTo>
                  <a:lnTo>
                    <a:pt x="14808" y="388601"/>
                  </a:lnTo>
                  <a:lnTo>
                    <a:pt x="3801" y="343168"/>
                  </a:lnTo>
                  <a:lnTo>
                    <a:pt x="0" y="295275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2000" y="2343150"/>
              <a:ext cx="295275" cy="28575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8936990" y="2228913"/>
            <a:ext cx="258699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Consequences</a:t>
            </a:r>
            <a:r>
              <a:rPr sz="1550" b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550" b="1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FFFFFF"/>
                </a:solidFill>
                <a:latin typeface="Calibri"/>
                <a:cs typeface="Calibri"/>
              </a:rPr>
              <a:t>leaving</a:t>
            </a:r>
            <a:r>
              <a:rPr sz="155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Calibri"/>
                <a:cs typeface="Calibri"/>
              </a:rPr>
              <a:t>them </a:t>
            </a:r>
            <a:r>
              <a:rPr sz="1550" b="1" spc="-10" dirty="0">
                <a:solidFill>
                  <a:srgbClr val="FFFFFF"/>
                </a:solidFill>
                <a:latin typeface="Calibri"/>
                <a:cs typeface="Calibri"/>
              </a:rPr>
              <a:t>unsolved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68969" y="3090862"/>
            <a:ext cx="29025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0"/>
              </a:spcBef>
              <a:buChar char="•"/>
              <a:tabLst>
                <a:tab pos="215265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Continuity</a:t>
            </a:r>
            <a:r>
              <a:rPr sz="15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of</a:t>
            </a:r>
            <a:r>
              <a:rPr sz="15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care</a:t>
            </a:r>
            <a:r>
              <a:rPr sz="15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becomes</a:t>
            </a:r>
            <a:r>
              <a:rPr sz="15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harder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268969" y="3472497"/>
            <a:ext cx="271716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indent="-202565">
              <a:lnSpc>
                <a:spcPct val="100000"/>
              </a:lnSpc>
              <a:spcBef>
                <a:spcPts val="100"/>
              </a:spcBef>
              <a:buChar char="•"/>
              <a:tabLst>
                <a:tab pos="215265" algn="l"/>
              </a:tabLst>
            </a:pP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Repeated</a:t>
            </a:r>
            <a:r>
              <a:rPr sz="15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information</a:t>
            </a:r>
            <a:r>
              <a:rPr sz="15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collection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268969" y="3854450"/>
            <a:ext cx="29597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"/>
              </a:spcBef>
              <a:buChar char="•"/>
              <a:tabLst>
                <a:tab pos="215900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Hospital</a:t>
            </a:r>
            <a:r>
              <a:rPr sz="15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cannot</a:t>
            </a:r>
            <a:r>
              <a:rPr sz="15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immediately</a:t>
            </a:r>
            <a:r>
              <a:rPr sz="150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locate 	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previous</a:t>
            </a:r>
            <a:r>
              <a:rPr sz="1500" spc="-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68969" y="4464367"/>
            <a:ext cx="272288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29" marR="5080" indent="-202565">
              <a:lnSpc>
                <a:spcPct val="100000"/>
              </a:lnSpc>
              <a:spcBef>
                <a:spcPts val="100"/>
              </a:spcBef>
              <a:buChar char="•"/>
              <a:tabLst>
                <a:tab pos="215900" algn="l"/>
              </a:tabLst>
            </a:pP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Staff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may</a:t>
            </a:r>
            <a:r>
              <a:rPr sz="15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not</a:t>
            </a:r>
            <a:r>
              <a:rPr sz="15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be</a:t>
            </a:r>
            <a:r>
              <a:rPr sz="15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able</a:t>
            </a:r>
            <a:r>
              <a:rPr sz="150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5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retrieve 	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digital</a:t>
            </a:r>
            <a:r>
              <a:rPr sz="15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r>
              <a:rPr sz="150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at</a:t>
            </a:r>
            <a:r>
              <a:rPr sz="15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4F49"/>
                </a:solidFill>
                <a:latin typeface="Calibri"/>
                <a:cs typeface="Calibri"/>
              </a:rPr>
              <a:t>that</a:t>
            </a:r>
            <a:r>
              <a:rPr sz="1500" spc="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4F49"/>
                </a:solidFill>
                <a:latin typeface="Calibri"/>
                <a:cs typeface="Calibri"/>
              </a:rPr>
              <a:t>moment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6257" y="5938520"/>
            <a:ext cx="87769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The</a:t>
            </a:r>
            <a:r>
              <a:rPr sz="1200" i="1" spc="-4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extent</a:t>
            </a:r>
            <a:r>
              <a:rPr sz="1200" i="1" spc="-3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of</a:t>
            </a:r>
            <a:r>
              <a:rPr sz="1200" i="1" spc="-6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these</a:t>
            </a:r>
            <a:r>
              <a:rPr sz="1200" i="1" spc="-4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problems</a:t>
            </a:r>
            <a:r>
              <a:rPr sz="1200" i="1" spc="-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496661"/>
                </a:solidFill>
                <a:latin typeface="Calibri"/>
                <a:cs typeface="Calibri"/>
              </a:rPr>
              <a:t>differs</a:t>
            </a:r>
            <a:r>
              <a:rPr sz="1200" i="1" spc="-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between</a:t>
            </a:r>
            <a:r>
              <a:rPr sz="1200" i="1" spc="-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facilities,</a:t>
            </a:r>
            <a:r>
              <a:rPr sz="1200" i="1" spc="-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so</a:t>
            </a:r>
            <a:r>
              <a:rPr sz="1200" i="1" spc="-1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the</a:t>
            </a:r>
            <a:r>
              <a:rPr sz="1200" i="1" spc="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project</a:t>
            </a:r>
            <a:r>
              <a:rPr sz="1200" i="1" spc="-3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would</a:t>
            </a:r>
            <a:r>
              <a:rPr sz="1200" i="1" spc="-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first</a:t>
            </a:r>
            <a:r>
              <a:rPr sz="1200" i="1" spc="-3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496661"/>
                </a:solidFill>
                <a:latin typeface="Calibri"/>
                <a:cs typeface="Calibri"/>
              </a:rPr>
              <a:t>validate</a:t>
            </a:r>
            <a:r>
              <a:rPr sz="1200" i="1" spc="-4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the</a:t>
            </a:r>
            <a:r>
              <a:rPr sz="1200" i="1" spc="-4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specific</a:t>
            </a:r>
            <a:r>
              <a:rPr sz="1200" i="1" spc="-4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challenges</a:t>
            </a:r>
            <a:r>
              <a:rPr sz="1200" i="1" spc="-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with</a:t>
            </a:r>
            <a:r>
              <a:rPr sz="1200" i="1" spc="-1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496661"/>
                </a:solidFill>
                <a:latin typeface="Calibri"/>
                <a:cs typeface="Calibri"/>
              </a:rPr>
              <a:t>rural</a:t>
            </a:r>
            <a:r>
              <a:rPr sz="1200" i="1" spc="-15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496661"/>
                </a:solidFill>
                <a:latin typeface="Calibri"/>
                <a:cs typeface="Calibri"/>
              </a:rPr>
              <a:t>healthcare</a:t>
            </a:r>
            <a:r>
              <a:rPr sz="1200" i="1" spc="20" dirty="0">
                <a:solidFill>
                  <a:srgbClr val="496661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496661"/>
                </a:solidFill>
                <a:latin typeface="Calibri"/>
                <a:cs typeface="Calibri"/>
              </a:rPr>
              <a:t>workers.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46871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lang="en-IN" sz="900" b="1" spc="-50" dirty="0">
              <a:solidFill>
                <a:srgbClr val="0A4F49"/>
              </a:solidFill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IN" sz="1550" b="1" spc="-10" dirty="0">
                <a:solidFill>
                  <a:srgbClr val="00695A"/>
                </a:solidFill>
                <a:latin typeface="Calibri"/>
                <a:cs typeface="Calibri"/>
              </a:rPr>
              <a:t>T</a:t>
            </a: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EAM PR</a:t>
            </a:r>
            <a:endParaRPr lang="en-US"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6575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</a:t>
            </a:r>
            <a:r>
              <a:rPr spc="-35" dirty="0"/>
              <a:t> </a:t>
            </a:r>
            <a:r>
              <a:rPr spc="-10" dirty="0"/>
              <a:t>SOLUTIONS</a:t>
            </a:r>
            <a:r>
              <a:rPr spc="-75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spc="-10" dirty="0"/>
              <a:t>APPROACHES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48895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What</a:t>
            </a:r>
            <a:r>
              <a:rPr sz="1800" b="1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already</a:t>
            </a:r>
            <a:r>
              <a:rPr sz="1800" b="1" spc="-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being</a:t>
            </a:r>
            <a:r>
              <a:rPr sz="1800" b="1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done, and</a:t>
            </a:r>
            <a:r>
              <a:rPr sz="1800" b="1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where</a:t>
            </a:r>
            <a:r>
              <a:rPr sz="1800" b="1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it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falls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short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43877" y="2006917"/>
          <a:ext cx="11091543" cy="3418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Existing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00695A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does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00695A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Limitations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636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006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Paper</a:t>
                      </a:r>
                      <a:r>
                        <a:rPr sz="1400" b="1" spc="-6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records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Prescriptions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results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carried</a:t>
                      </a:r>
                      <a:r>
                        <a:rPr sz="1250" spc="16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8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patient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may</a:t>
                      </a:r>
                      <a:r>
                        <a:rPr sz="1250" spc="1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forget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medicine</a:t>
                      </a:r>
                      <a:r>
                        <a:rPr sz="1250" spc="1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names,</a:t>
                      </a:r>
                      <a:r>
                        <a:rPr sz="1250" spc="1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lose</a:t>
                      </a:r>
                      <a:r>
                        <a:rPr sz="1250" spc="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1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prescription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or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sz="1250" spc="15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difficulty</a:t>
                      </a:r>
                      <a:r>
                        <a:rPr sz="1250" spc="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explaining</a:t>
                      </a:r>
                      <a:r>
                        <a:rPr sz="1250" spc="1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their</a:t>
                      </a:r>
                      <a:r>
                        <a:rPr sz="1250" spc="11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medical</a:t>
                      </a:r>
                      <a:r>
                        <a:rPr sz="1250" spc="11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history.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Separate</a:t>
                      </a:r>
                      <a:r>
                        <a:rPr sz="1400" b="1" spc="-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400" b="1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systems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facility</a:t>
                      </a:r>
                      <a:r>
                        <a:rPr sz="1250" spc="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keeps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its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own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250" spc="8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records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5570" marR="504825">
                        <a:lnSpc>
                          <a:spcPct val="105100"/>
                        </a:lnSpc>
                        <a:spcBef>
                          <a:spcPts val="940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patient’s</a:t>
                      </a:r>
                      <a:r>
                        <a:rPr sz="1250" spc="2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information</a:t>
                      </a:r>
                      <a:r>
                        <a:rPr sz="1250" spc="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may</a:t>
                      </a:r>
                      <a:r>
                        <a:rPr sz="1250" spc="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250" spc="1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always</a:t>
                      </a:r>
                      <a:r>
                        <a:rPr sz="1250" spc="11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250" spc="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immediately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1250" spc="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every</a:t>
                      </a:r>
                      <a:r>
                        <a:rPr sz="1250" spc="6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point</a:t>
                      </a:r>
                      <a:r>
                        <a:rPr sz="1250" spc="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care.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109855" marR="551180">
                        <a:lnSpc>
                          <a:spcPct val="102800"/>
                        </a:lnSpc>
                        <a:spcBef>
                          <a:spcPts val="1250"/>
                        </a:spcBef>
                      </a:pP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Ayushman</a:t>
                      </a:r>
                      <a:r>
                        <a:rPr sz="1400" b="1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Bharat</a:t>
                      </a:r>
                      <a:r>
                        <a:rPr sz="1400" b="1" spc="-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400" b="1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Mission </a:t>
                      </a: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(ABDM</a:t>
                      </a:r>
                      <a:r>
                        <a:rPr sz="1400" b="1" spc="-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ABHA)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875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324485">
                        <a:lnSpc>
                          <a:spcPct val="105200"/>
                        </a:lnSpc>
                        <a:spcBef>
                          <a:spcPts val="141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Supports</a:t>
                      </a:r>
                      <a:r>
                        <a:rPr sz="1250" spc="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digital</a:t>
                      </a:r>
                      <a:r>
                        <a:rPr sz="1250" spc="11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health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identities</a:t>
                      </a:r>
                      <a:r>
                        <a:rPr sz="1250" spc="1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50" spc="15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linking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sharing</a:t>
                      </a:r>
                      <a:r>
                        <a:rPr sz="1250" spc="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health</a:t>
                      </a:r>
                      <a:r>
                        <a:rPr sz="1250" spc="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records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5570" marR="508634">
                        <a:lnSpc>
                          <a:spcPct val="105200"/>
                        </a:lnSpc>
                        <a:spcBef>
                          <a:spcPts val="141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rural</a:t>
                      </a:r>
                      <a:r>
                        <a:rPr sz="1250" spc="8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settings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still</a:t>
                      </a:r>
                      <a:r>
                        <a:rPr sz="1250" spc="8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250" spc="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be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made</a:t>
                      </a:r>
                      <a:r>
                        <a:rPr sz="1250" spc="1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more</a:t>
                      </a:r>
                      <a:r>
                        <a:rPr sz="1250" spc="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practical.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09855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UIDAI</a:t>
                      </a:r>
                      <a:r>
                        <a:rPr sz="1400" b="1" spc="-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face</a:t>
                      </a:r>
                      <a:r>
                        <a:rPr sz="1400" b="1" spc="-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authentication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716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2395" marR="255904">
                        <a:lnSpc>
                          <a:spcPct val="105200"/>
                        </a:lnSpc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Verifies</a:t>
                      </a:r>
                      <a:r>
                        <a:rPr sz="1250" spc="-1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1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person’s</a:t>
                      </a:r>
                      <a:r>
                        <a:rPr sz="1250" spc="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face</a:t>
                      </a:r>
                      <a:r>
                        <a:rPr sz="1250" spc="8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250" spc="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250" spc="8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biometric</a:t>
                      </a:r>
                      <a:r>
                        <a:rPr sz="1250" spc="1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50" spc="3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known</a:t>
                      </a:r>
                      <a:r>
                        <a:rPr sz="1250" spc="17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Aadhaar</a:t>
                      </a:r>
                      <a:r>
                        <a:rPr sz="1250" spc="8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5570" marR="556895">
                        <a:lnSpc>
                          <a:spcPct val="105200"/>
                        </a:lnSpc>
                        <a:spcBef>
                          <a:spcPts val="118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Consent-based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1:1</a:t>
                      </a:r>
                      <a:r>
                        <a:rPr sz="1250" spc="1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verification;</a:t>
                      </a:r>
                      <a:r>
                        <a:rPr sz="1250" spc="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250" spc="13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does</a:t>
                      </a:r>
                      <a:r>
                        <a:rPr sz="1250" spc="1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250" spc="13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discover</a:t>
                      </a:r>
                      <a:r>
                        <a:rPr sz="1250" spc="10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unknown</a:t>
                      </a:r>
                      <a:r>
                        <a:rPr sz="1250" spc="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person’s</a:t>
                      </a:r>
                      <a:r>
                        <a:rPr sz="1250" spc="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identity,</a:t>
                      </a:r>
                      <a:r>
                        <a:rPr sz="1250" spc="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sz="1250" spc="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50" spc="1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separate,</a:t>
                      </a:r>
                      <a:r>
                        <a:rPr sz="1250" spc="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properly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11557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authorised</a:t>
                      </a:r>
                      <a:r>
                        <a:rPr sz="1250" spc="1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workflow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must</a:t>
                      </a:r>
                      <a:r>
                        <a:rPr sz="1250" spc="1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sz="1250" spc="15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explored.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15049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550862" y="5599112"/>
            <a:ext cx="11100435" cy="650875"/>
            <a:chOff x="550862" y="5599112"/>
            <a:chExt cx="11100435" cy="650875"/>
          </a:xfrm>
        </p:grpSpPr>
        <p:sp>
          <p:nvSpPr>
            <p:cNvPr id="9" name="object 9"/>
            <p:cNvSpPr/>
            <p:nvPr/>
          </p:nvSpPr>
          <p:spPr>
            <a:xfrm>
              <a:off x="557212" y="5605462"/>
              <a:ext cx="11087735" cy="638175"/>
            </a:xfrm>
            <a:custGeom>
              <a:avLst/>
              <a:gdLst/>
              <a:ahLst/>
              <a:cxnLst/>
              <a:rect l="l" t="t" r="r" b="b"/>
              <a:pathLst>
                <a:path w="11087735" h="638175">
                  <a:moveTo>
                    <a:pt x="11014138" y="0"/>
                  </a:moveTo>
                  <a:lnTo>
                    <a:pt x="72936" y="0"/>
                  </a:lnTo>
                  <a:lnTo>
                    <a:pt x="44544" y="5731"/>
                  </a:lnTo>
                  <a:lnTo>
                    <a:pt x="21361" y="21361"/>
                  </a:lnTo>
                  <a:lnTo>
                    <a:pt x="5731" y="44544"/>
                  </a:lnTo>
                  <a:lnTo>
                    <a:pt x="0" y="72936"/>
                  </a:lnTo>
                  <a:lnTo>
                    <a:pt x="0" y="565238"/>
                  </a:lnTo>
                  <a:lnTo>
                    <a:pt x="5731" y="593630"/>
                  </a:lnTo>
                  <a:lnTo>
                    <a:pt x="21361" y="616813"/>
                  </a:lnTo>
                  <a:lnTo>
                    <a:pt x="44544" y="632443"/>
                  </a:lnTo>
                  <a:lnTo>
                    <a:pt x="72936" y="638175"/>
                  </a:lnTo>
                  <a:lnTo>
                    <a:pt x="11014138" y="638175"/>
                  </a:lnTo>
                  <a:lnTo>
                    <a:pt x="11042532" y="632443"/>
                  </a:lnTo>
                  <a:lnTo>
                    <a:pt x="11065748" y="616813"/>
                  </a:lnTo>
                  <a:lnTo>
                    <a:pt x="11081414" y="593630"/>
                  </a:lnTo>
                  <a:lnTo>
                    <a:pt x="11087163" y="565238"/>
                  </a:lnTo>
                  <a:lnTo>
                    <a:pt x="11087163" y="72936"/>
                  </a:lnTo>
                  <a:lnTo>
                    <a:pt x="11081414" y="44544"/>
                  </a:lnTo>
                  <a:lnTo>
                    <a:pt x="11065748" y="21361"/>
                  </a:lnTo>
                  <a:lnTo>
                    <a:pt x="11042532" y="5731"/>
                  </a:lnTo>
                  <a:lnTo>
                    <a:pt x="11014138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212" y="5605462"/>
              <a:ext cx="11087735" cy="638175"/>
            </a:xfrm>
            <a:custGeom>
              <a:avLst/>
              <a:gdLst/>
              <a:ahLst/>
              <a:cxnLst/>
              <a:rect l="l" t="t" r="r" b="b"/>
              <a:pathLst>
                <a:path w="11087735" h="638175">
                  <a:moveTo>
                    <a:pt x="0" y="72936"/>
                  </a:moveTo>
                  <a:lnTo>
                    <a:pt x="5731" y="44544"/>
                  </a:lnTo>
                  <a:lnTo>
                    <a:pt x="21361" y="21361"/>
                  </a:lnTo>
                  <a:lnTo>
                    <a:pt x="44544" y="5731"/>
                  </a:lnTo>
                  <a:lnTo>
                    <a:pt x="72936" y="0"/>
                  </a:lnTo>
                  <a:lnTo>
                    <a:pt x="11014138" y="0"/>
                  </a:lnTo>
                  <a:lnTo>
                    <a:pt x="11042532" y="5731"/>
                  </a:lnTo>
                  <a:lnTo>
                    <a:pt x="11065748" y="21361"/>
                  </a:lnTo>
                  <a:lnTo>
                    <a:pt x="11081414" y="44544"/>
                  </a:lnTo>
                  <a:lnTo>
                    <a:pt x="11087163" y="72936"/>
                  </a:lnTo>
                  <a:lnTo>
                    <a:pt x="11087163" y="565238"/>
                  </a:lnTo>
                  <a:lnTo>
                    <a:pt x="11081414" y="593630"/>
                  </a:lnTo>
                  <a:lnTo>
                    <a:pt x="11065748" y="616813"/>
                  </a:lnTo>
                  <a:lnTo>
                    <a:pt x="11042532" y="632443"/>
                  </a:lnTo>
                  <a:lnTo>
                    <a:pt x="11014138" y="638175"/>
                  </a:lnTo>
                  <a:lnTo>
                    <a:pt x="72936" y="638175"/>
                  </a:lnTo>
                  <a:lnTo>
                    <a:pt x="44544" y="632443"/>
                  </a:lnTo>
                  <a:lnTo>
                    <a:pt x="21361" y="616813"/>
                  </a:lnTo>
                  <a:lnTo>
                    <a:pt x="5731" y="593630"/>
                  </a:lnTo>
                  <a:lnTo>
                    <a:pt x="0" y="565238"/>
                  </a:lnTo>
                  <a:lnTo>
                    <a:pt x="0" y="72936"/>
                  </a:lnTo>
                  <a:close/>
                </a:path>
              </a:pathLst>
            </a:custGeom>
            <a:ln w="1270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65175" y="5703570"/>
            <a:ext cx="10614025" cy="4210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50"/>
              </a:spcBef>
            </a:pP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The</a:t>
            </a:r>
            <a:r>
              <a:rPr sz="1250" b="1" spc="114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gap</a:t>
            </a:r>
            <a:r>
              <a:rPr sz="1250" b="1" spc="7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they</a:t>
            </a:r>
            <a:r>
              <a:rPr sz="1250" b="1" spc="7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leave</a:t>
            </a:r>
            <a:r>
              <a:rPr sz="1250" b="1" spc="12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open:</a:t>
            </a:r>
            <a:r>
              <a:rPr sz="1250" b="1" spc="105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SwasthyaLedger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replace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ABHA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2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competing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national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identity.</a:t>
            </a:r>
            <a:r>
              <a:rPr sz="125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Instead,</a:t>
            </a:r>
            <a:r>
              <a:rPr sz="125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sz="125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explore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25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existing,</a:t>
            </a:r>
            <a:r>
              <a:rPr sz="125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authorised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health</a:t>
            </a:r>
            <a:r>
              <a:rPr sz="1250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1250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could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accessed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practically</a:t>
            </a:r>
            <a:r>
              <a:rPr sz="12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5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rural</a:t>
            </a:r>
            <a:r>
              <a:rPr sz="125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emergency</a:t>
            </a:r>
            <a:r>
              <a:rPr sz="125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settings.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46871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TEAM PR</a:t>
            </a:r>
            <a:endParaRPr lang="en-US"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PROBLEM</a:t>
            </a:r>
            <a:r>
              <a:rPr spc="-80" dirty="0"/>
              <a:t> </a:t>
            </a:r>
            <a:r>
              <a:rPr dirty="0"/>
              <a:t>INSIGHTS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60" dirty="0"/>
              <a:t> </a:t>
            </a:r>
            <a:r>
              <a:rPr spc="-10" dirty="0"/>
              <a:t>OPPORTUNITY</a:t>
            </a:r>
            <a:r>
              <a:rPr spc="-30" dirty="0"/>
              <a:t> </a:t>
            </a:r>
            <a:r>
              <a:rPr spc="-10" dirty="0"/>
              <a:t>AREAS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384682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Resources</a:t>
            </a:r>
            <a:r>
              <a:rPr sz="1800" b="1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required</a:t>
            </a:r>
            <a:r>
              <a:rPr sz="1800" b="1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800" b="1" spc="-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solve</a:t>
            </a:r>
            <a:r>
              <a:rPr sz="1800" b="1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problem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862" y="2055876"/>
            <a:ext cx="3575685" cy="2432050"/>
            <a:chOff x="550862" y="2055876"/>
            <a:chExt cx="3575685" cy="2432050"/>
          </a:xfrm>
        </p:grpSpPr>
        <p:sp>
          <p:nvSpPr>
            <p:cNvPr id="8" name="object 8"/>
            <p:cNvSpPr/>
            <p:nvPr/>
          </p:nvSpPr>
          <p:spPr>
            <a:xfrm>
              <a:off x="557212" y="2062226"/>
              <a:ext cx="3562985" cy="2419350"/>
            </a:xfrm>
            <a:custGeom>
              <a:avLst/>
              <a:gdLst/>
              <a:ahLst/>
              <a:cxnLst/>
              <a:rect l="l" t="t" r="r" b="b"/>
              <a:pathLst>
                <a:path w="3562985" h="2419350">
                  <a:moveTo>
                    <a:pt x="3489261" y="0"/>
                  </a:moveTo>
                  <a:lnTo>
                    <a:pt x="73037" y="0"/>
                  </a:lnTo>
                  <a:lnTo>
                    <a:pt x="44609" y="5730"/>
                  </a:lnTo>
                  <a:lnTo>
                    <a:pt x="21393" y="21367"/>
                  </a:lnTo>
                  <a:lnTo>
                    <a:pt x="5740" y="44576"/>
                  </a:lnTo>
                  <a:lnTo>
                    <a:pt x="0" y="73025"/>
                  </a:lnTo>
                  <a:lnTo>
                    <a:pt x="0" y="2346198"/>
                  </a:lnTo>
                  <a:lnTo>
                    <a:pt x="5740" y="2374646"/>
                  </a:lnTo>
                  <a:lnTo>
                    <a:pt x="21393" y="2397855"/>
                  </a:lnTo>
                  <a:lnTo>
                    <a:pt x="44609" y="2413492"/>
                  </a:lnTo>
                  <a:lnTo>
                    <a:pt x="73037" y="2419223"/>
                  </a:lnTo>
                  <a:lnTo>
                    <a:pt x="3489261" y="2419223"/>
                  </a:lnTo>
                  <a:lnTo>
                    <a:pt x="3517729" y="2413492"/>
                  </a:lnTo>
                  <a:lnTo>
                    <a:pt x="3540982" y="2397855"/>
                  </a:lnTo>
                  <a:lnTo>
                    <a:pt x="3556662" y="2374646"/>
                  </a:lnTo>
                  <a:lnTo>
                    <a:pt x="3562413" y="2346198"/>
                  </a:lnTo>
                  <a:lnTo>
                    <a:pt x="3562413" y="73025"/>
                  </a:lnTo>
                  <a:lnTo>
                    <a:pt x="3556662" y="44576"/>
                  </a:lnTo>
                  <a:lnTo>
                    <a:pt x="3540982" y="21367"/>
                  </a:lnTo>
                  <a:lnTo>
                    <a:pt x="3517729" y="5730"/>
                  </a:lnTo>
                  <a:lnTo>
                    <a:pt x="34892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212" y="2062226"/>
              <a:ext cx="3562985" cy="2419350"/>
            </a:xfrm>
            <a:custGeom>
              <a:avLst/>
              <a:gdLst/>
              <a:ahLst/>
              <a:cxnLst/>
              <a:rect l="l" t="t" r="r" b="b"/>
              <a:pathLst>
                <a:path w="3562985" h="2419350">
                  <a:moveTo>
                    <a:pt x="0" y="73025"/>
                  </a:moveTo>
                  <a:lnTo>
                    <a:pt x="5740" y="44576"/>
                  </a:lnTo>
                  <a:lnTo>
                    <a:pt x="21393" y="21367"/>
                  </a:lnTo>
                  <a:lnTo>
                    <a:pt x="44609" y="5730"/>
                  </a:lnTo>
                  <a:lnTo>
                    <a:pt x="73037" y="0"/>
                  </a:lnTo>
                  <a:lnTo>
                    <a:pt x="3489261" y="0"/>
                  </a:lnTo>
                  <a:lnTo>
                    <a:pt x="3517729" y="5730"/>
                  </a:lnTo>
                  <a:lnTo>
                    <a:pt x="3540982" y="21367"/>
                  </a:lnTo>
                  <a:lnTo>
                    <a:pt x="3556662" y="44576"/>
                  </a:lnTo>
                  <a:lnTo>
                    <a:pt x="3562413" y="73025"/>
                  </a:lnTo>
                  <a:lnTo>
                    <a:pt x="3562413" y="2346198"/>
                  </a:lnTo>
                  <a:lnTo>
                    <a:pt x="3556662" y="2374646"/>
                  </a:lnTo>
                  <a:lnTo>
                    <a:pt x="3540982" y="2397855"/>
                  </a:lnTo>
                  <a:lnTo>
                    <a:pt x="3517729" y="2413492"/>
                  </a:lnTo>
                  <a:lnTo>
                    <a:pt x="3489261" y="2419223"/>
                  </a:lnTo>
                  <a:lnTo>
                    <a:pt x="73037" y="2419223"/>
                  </a:lnTo>
                  <a:lnTo>
                    <a:pt x="44609" y="2413492"/>
                  </a:lnTo>
                  <a:lnTo>
                    <a:pt x="21393" y="2397855"/>
                  </a:lnTo>
                  <a:lnTo>
                    <a:pt x="5740" y="2374646"/>
                  </a:lnTo>
                  <a:lnTo>
                    <a:pt x="0" y="2346198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9137" y="21765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39"/>
                  </a:lnTo>
                  <a:lnTo>
                    <a:pt x="139619" y="17948"/>
                  </a:lnTo>
                  <a:lnTo>
                    <a:pt x="100788" y="39011"/>
                  </a:lnTo>
                  <a:lnTo>
                    <a:pt x="66955" y="66913"/>
                  </a:lnTo>
                  <a:lnTo>
                    <a:pt x="39041" y="100738"/>
                  </a:lnTo>
                  <a:lnTo>
                    <a:pt x="17964" y="139571"/>
                  </a:lnTo>
                  <a:lnTo>
                    <a:pt x="4644" y="182496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5" y="139571"/>
                  </a:lnTo>
                  <a:lnTo>
                    <a:pt x="418158" y="100738"/>
                  </a:lnTo>
                  <a:lnTo>
                    <a:pt x="390244" y="66913"/>
                  </a:lnTo>
                  <a:lnTo>
                    <a:pt x="356411" y="39011"/>
                  </a:lnTo>
                  <a:lnTo>
                    <a:pt x="317580" y="17948"/>
                  </a:lnTo>
                  <a:lnTo>
                    <a:pt x="274670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9137" y="21765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496"/>
                  </a:lnTo>
                  <a:lnTo>
                    <a:pt x="17964" y="139571"/>
                  </a:lnTo>
                  <a:lnTo>
                    <a:pt x="39041" y="100738"/>
                  </a:lnTo>
                  <a:lnTo>
                    <a:pt x="66955" y="66913"/>
                  </a:lnTo>
                  <a:lnTo>
                    <a:pt x="100788" y="39011"/>
                  </a:lnTo>
                  <a:lnTo>
                    <a:pt x="139619" y="17948"/>
                  </a:lnTo>
                  <a:lnTo>
                    <a:pt x="182529" y="4639"/>
                  </a:lnTo>
                  <a:lnTo>
                    <a:pt x="228600" y="0"/>
                  </a:lnTo>
                  <a:lnTo>
                    <a:pt x="274670" y="4639"/>
                  </a:lnTo>
                  <a:lnTo>
                    <a:pt x="317580" y="17948"/>
                  </a:lnTo>
                  <a:lnTo>
                    <a:pt x="356411" y="39011"/>
                  </a:lnTo>
                  <a:lnTo>
                    <a:pt x="390244" y="66913"/>
                  </a:lnTo>
                  <a:lnTo>
                    <a:pt x="418158" y="100738"/>
                  </a:lnTo>
                  <a:lnTo>
                    <a:pt x="439235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5" y="317575"/>
                  </a:lnTo>
                  <a:lnTo>
                    <a:pt x="418158" y="356406"/>
                  </a:lnTo>
                  <a:lnTo>
                    <a:pt x="390244" y="390239"/>
                  </a:lnTo>
                  <a:lnTo>
                    <a:pt x="356411" y="418154"/>
                  </a:lnTo>
                  <a:lnTo>
                    <a:pt x="317580" y="439233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675" y="2286000"/>
              <a:ext cx="228600" cy="2286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68349" y="2262187"/>
            <a:ext cx="19481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Hardware</a:t>
            </a:r>
            <a:r>
              <a:rPr sz="1500" b="1" spc="-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Requirements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455" y="2725165"/>
            <a:ext cx="3177540" cy="1144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 indent="-204470">
              <a:lnSpc>
                <a:spcPct val="100000"/>
              </a:lnSpc>
              <a:spcBef>
                <a:spcPts val="125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Approved</a:t>
            </a:r>
            <a:r>
              <a:rPr sz="1250" spc="1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tablet</a:t>
            </a:r>
            <a:r>
              <a:rPr sz="1250" spc="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or</a:t>
            </a:r>
            <a:r>
              <a:rPr sz="1250" spc="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phone</a:t>
            </a:r>
            <a:r>
              <a:rPr sz="1250" spc="10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with</a:t>
            </a:r>
            <a:r>
              <a:rPr sz="1250" spc="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50" spc="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camera</a:t>
            </a:r>
            <a:r>
              <a:rPr sz="1250" spc="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for</a:t>
            </a:r>
            <a:endParaRPr sz="1250">
              <a:latin typeface="Calibri"/>
              <a:cs typeface="Calibri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face</a:t>
            </a:r>
            <a:r>
              <a:rPr sz="125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capture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530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Fingerprint</a:t>
            </a:r>
            <a:r>
              <a:rPr sz="1250" spc="1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scanner</a:t>
            </a:r>
            <a:r>
              <a:rPr sz="1250" spc="1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(optional,</a:t>
            </a:r>
            <a:r>
              <a:rPr sz="1250" spc="19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where</a:t>
            </a:r>
            <a:endParaRPr sz="1250">
              <a:latin typeface="Calibri"/>
              <a:cs typeface="Calibri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supported)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605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Secure</a:t>
            </a:r>
            <a:r>
              <a:rPr sz="1250" spc="10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on-device</a:t>
            </a:r>
            <a:r>
              <a:rPr sz="1250" spc="10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storage</a:t>
            </a:r>
            <a:r>
              <a:rPr sz="1250" spc="1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for</a:t>
            </a:r>
            <a:r>
              <a:rPr sz="1250" spc="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offline</a:t>
            </a:r>
            <a:r>
              <a:rPr sz="125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copies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13301" y="2055876"/>
            <a:ext cx="3575050" cy="2432050"/>
            <a:chOff x="4313301" y="2055876"/>
            <a:chExt cx="3575050" cy="2432050"/>
          </a:xfrm>
        </p:grpSpPr>
        <p:sp>
          <p:nvSpPr>
            <p:cNvPr id="16" name="object 16"/>
            <p:cNvSpPr/>
            <p:nvPr/>
          </p:nvSpPr>
          <p:spPr>
            <a:xfrm>
              <a:off x="4319651" y="206222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8919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2346198"/>
                  </a:lnTo>
                  <a:lnTo>
                    <a:pt x="5730" y="2374646"/>
                  </a:lnTo>
                  <a:lnTo>
                    <a:pt x="21367" y="2397855"/>
                  </a:lnTo>
                  <a:lnTo>
                    <a:pt x="44576" y="2413492"/>
                  </a:lnTo>
                  <a:lnTo>
                    <a:pt x="73025" y="2419223"/>
                  </a:lnTo>
                  <a:lnTo>
                    <a:pt x="3489198" y="2419223"/>
                  </a:lnTo>
                  <a:lnTo>
                    <a:pt x="3517665" y="2413492"/>
                  </a:lnTo>
                  <a:lnTo>
                    <a:pt x="3540918" y="2397855"/>
                  </a:lnTo>
                  <a:lnTo>
                    <a:pt x="3556599" y="2374646"/>
                  </a:lnTo>
                  <a:lnTo>
                    <a:pt x="3562350" y="2346198"/>
                  </a:lnTo>
                  <a:lnTo>
                    <a:pt x="3562350" y="73025"/>
                  </a:lnTo>
                  <a:lnTo>
                    <a:pt x="3556599" y="44576"/>
                  </a:lnTo>
                  <a:lnTo>
                    <a:pt x="3540918" y="21367"/>
                  </a:lnTo>
                  <a:lnTo>
                    <a:pt x="3517665" y="5730"/>
                  </a:lnTo>
                  <a:lnTo>
                    <a:pt x="348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19651" y="206222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3489198" y="0"/>
                  </a:lnTo>
                  <a:lnTo>
                    <a:pt x="3517665" y="5730"/>
                  </a:lnTo>
                  <a:lnTo>
                    <a:pt x="3540918" y="21367"/>
                  </a:lnTo>
                  <a:lnTo>
                    <a:pt x="3556599" y="44576"/>
                  </a:lnTo>
                  <a:lnTo>
                    <a:pt x="3562350" y="73025"/>
                  </a:lnTo>
                  <a:lnTo>
                    <a:pt x="3562350" y="2346198"/>
                  </a:lnTo>
                  <a:lnTo>
                    <a:pt x="3556599" y="2374646"/>
                  </a:lnTo>
                  <a:lnTo>
                    <a:pt x="3540918" y="2397855"/>
                  </a:lnTo>
                  <a:lnTo>
                    <a:pt x="3517665" y="2413492"/>
                  </a:lnTo>
                  <a:lnTo>
                    <a:pt x="3489198" y="2419223"/>
                  </a:lnTo>
                  <a:lnTo>
                    <a:pt x="73025" y="2419223"/>
                  </a:lnTo>
                  <a:lnTo>
                    <a:pt x="44576" y="2413492"/>
                  </a:lnTo>
                  <a:lnTo>
                    <a:pt x="21367" y="2397855"/>
                  </a:lnTo>
                  <a:lnTo>
                    <a:pt x="5730" y="2374646"/>
                  </a:lnTo>
                  <a:lnTo>
                    <a:pt x="0" y="2346198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81576" y="21765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81576" y="21765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1050" y="2286000"/>
              <a:ext cx="228600" cy="2286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34026" y="2262187"/>
            <a:ext cx="18973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Software</a:t>
            </a:r>
            <a:r>
              <a:rPr sz="1500" b="1" spc="-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Requirements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85004" y="2725165"/>
            <a:ext cx="2841625" cy="1202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 indent="-204470">
              <a:lnSpc>
                <a:spcPct val="100000"/>
              </a:lnSpc>
              <a:spcBef>
                <a:spcPts val="125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Offline-first</a:t>
            </a:r>
            <a:r>
              <a:rPr sz="1250" spc="10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app</a:t>
            </a:r>
            <a:r>
              <a:rPr sz="1250" spc="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that</a:t>
            </a:r>
            <a:r>
              <a:rPr sz="1250" spc="10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syncs</a:t>
            </a:r>
            <a:r>
              <a:rPr sz="1250" spc="1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when</a:t>
            </a:r>
            <a:endParaRPr sz="1250">
              <a:latin typeface="Calibri"/>
              <a:cs typeface="Calibri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connectivity</a:t>
            </a:r>
            <a:r>
              <a:rPr sz="1250" spc="19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returns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530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Simulated</a:t>
            </a:r>
            <a:r>
              <a:rPr sz="1250" spc="1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biometric</a:t>
            </a:r>
            <a:r>
              <a:rPr sz="1250" spc="1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matching</a:t>
            </a:r>
            <a:r>
              <a:rPr sz="1250" spc="9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module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600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Emergency</a:t>
            </a:r>
            <a:r>
              <a:rPr sz="1250" spc="1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registration</a:t>
            </a:r>
            <a:r>
              <a:rPr sz="1250" spc="9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50" spc="1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50" spc="114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logs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530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Voice</a:t>
            </a:r>
            <a:r>
              <a:rPr sz="1250" spc="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50" spc="1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regional-language</a:t>
            </a:r>
            <a:r>
              <a:rPr sz="1250" spc="1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interface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75676" y="2055876"/>
            <a:ext cx="3575050" cy="2432050"/>
            <a:chOff x="8075676" y="2055876"/>
            <a:chExt cx="3575050" cy="2432050"/>
          </a:xfrm>
        </p:grpSpPr>
        <p:sp>
          <p:nvSpPr>
            <p:cNvPr id="24" name="object 24"/>
            <p:cNvSpPr/>
            <p:nvPr/>
          </p:nvSpPr>
          <p:spPr>
            <a:xfrm>
              <a:off x="8082026" y="206222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89198" y="0"/>
                  </a:moveTo>
                  <a:lnTo>
                    <a:pt x="73025" y="0"/>
                  </a:lnTo>
                  <a:lnTo>
                    <a:pt x="44576" y="5730"/>
                  </a:lnTo>
                  <a:lnTo>
                    <a:pt x="21367" y="21367"/>
                  </a:lnTo>
                  <a:lnTo>
                    <a:pt x="5730" y="44576"/>
                  </a:lnTo>
                  <a:lnTo>
                    <a:pt x="0" y="73025"/>
                  </a:lnTo>
                  <a:lnTo>
                    <a:pt x="0" y="2346198"/>
                  </a:lnTo>
                  <a:lnTo>
                    <a:pt x="5730" y="2374646"/>
                  </a:lnTo>
                  <a:lnTo>
                    <a:pt x="21367" y="2397855"/>
                  </a:lnTo>
                  <a:lnTo>
                    <a:pt x="44576" y="2413492"/>
                  </a:lnTo>
                  <a:lnTo>
                    <a:pt x="73025" y="2419223"/>
                  </a:lnTo>
                  <a:lnTo>
                    <a:pt x="3489198" y="2419223"/>
                  </a:lnTo>
                  <a:lnTo>
                    <a:pt x="3517665" y="2413492"/>
                  </a:lnTo>
                  <a:lnTo>
                    <a:pt x="3540918" y="2397855"/>
                  </a:lnTo>
                  <a:lnTo>
                    <a:pt x="3556599" y="2374646"/>
                  </a:lnTo>
                  <a:lnTo>
                    <a:pt x="3562350" y="2346198"/>
                  </a:lnTo>
                  <a:lnTo>
                    <a:pt x="3562350" y="73025"/>
                  </a:lnTo>
                  <a:lnTo>
                    <a:pt x="3556599" y="44576"/>
                  </a:lnTo>
                  <a:lnTo>
                    <a:pt x="3540918" y="21367"/>
                  </a:lnTo>
                  <a:lnTo>
                    <a:pt x="3517665" y="5730"/>
                  </a:lnTo>
                  <a:lnTo>
                    <a:pt x="3489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82026" y="2062226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73025"/>
                  </a:moveTo>
                  <a:lnTo>
                    <a:pt x="5730" y="44576"/>
                  </a:lnTo>
                  <a:lnTo>
                    <a:pt x="21367" y="21367"/>
                  </a:lnTo>
                  <a:lnTo>
                    <a:pt x="44576" y="5730"/>
                  </a:lnTo>
                  <a:lnTo>
                    <a:pt x="73025" y="0"/>
                  </a:lnTo>
                  <a:lnTo>
                    <a:pt x="3489198" y="0"/>
                  </a:lnTo>
                  <a:lnTo>
                    <a:pt x="3517665" y="5730"/>
                  </a:lnTo>
                  <a:lnTo>
                    <a:pt x="3540918" y="21367"/>
                  </a:lnTo>
                  <a:lnTo>
                    <a:pt x="3556599" y="44576"/>
                  </a:lnTo>
                  <a:lnTo>
                    <a:pt x="3562350" y="73025"/>
                  </a:lnTo>
                  <a:lnTo>
                    <a:pt x="3562350" y="2346198"/>
                  </a:lnTo>
                  <a:lnTo>
                    <a:pt x="3556599" y="2374646"/>
                  </a:lnTo>
                  <a:lnTo>
                    <a:pt x="3540918" y="2397855"/>
                  </a:lnTo>
                  <a:lnTo>
                    <a:pt x="3517665" y="2413492"/>
                  </a:lnTo>
                  <a:lnTo>
                    <a:pt x="3489198" y="2419223"/>
                  </a:lnTo>
                  <a:lnTo>
                    <a:pt x="73025" y="2419223"/>
                  </a:lnTo>
                  <a:lnTo>
                    <a:pt x="44576" y="2413492"/>
                  </a:lnTo>
                  <a:lnTo>
                    <a:pt x="21367" y="2397855"/>
                  </a:lnTo>
                  <a:lnTo>
                    <a:pt x="5730" y="2374646"/>
                  </a:lnTo>
                  <a:lnTo>
                    <a:pt x="0" y="2346198"/>
                  </a:lnTo>
                  <a:lnTo>
                    <a:pt x="0" y="73025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43951" y="21765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39"/>
                  </a:lnTo>
                  <a:lnTo>
                    <a:pt x="139571" y="17948"/>
                  </a:lnTo>
                  <a:lnTo>
                    <a:pt x="100738" y="39011"/>
                  </a:lnTo>
                  <a:lnTo>
                    <a:pt x="66913" y="66913"/>
                  </a:lnTo>
                  <a:lnTo>
                    <a:pt x="39011" y="100738"/>
                  </a:lnTo>
                  <a:lnTo>
                    <a:pt x="17948" y="139571"/>
                  </a:lnTo>
                  <a:lnTo>
                    <a:pt x="4639" y="182496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496"/>
                  </a:lnTo>
                  <a:lnTo>
                    <a:pt x="439233" y="139571"/>
                  </a:lnTo>
                  <a:lnTo>
                    <a:pt x="418154" y="100738"/>
                  </a:lnTo>
                  <a:lnTo>
                    <a:pt x="390239" y="66913"/>
                  </a:lnTo>
                  <a:lnTo>
                    <a:pt x="356406" y="39011"/>
                  </a:lnTo>
                  <a:lnTo>
                    <a:pt x="317575" y="17948"/>
                  </a:lnTo>
                  <a:lnTo>
                    <a:pt x="274666" y="4639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43951" y="217652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39" y="182496"/>
                  </a:lnTo>
                  <a:lnTo>
                    <a:pt x="17948" y="139571"/>
                  </a:lnTo>
                  <a:lnTo>
                    <a:pt x="39011" y="100738"/>
                  </a:lnTo>
                  <a:lnTo>
                    <a:pt x="66913" y="66913"/>
                  </a:lnTo>
                  <a:lnTo>
                    <a:pt x="100738" y="39011"/>
                  </a:lnTo>
                  <a:lnTo>
                    <a:pt x="139571" y="17948"/>
                  </a:lnTo>
                  <a:lnTo>
                    <a:pt x="182496" y="4639"/>
                  </a:lnTo>
                  <a:lnTo>
                    <a:pt x="228600" y="0"/>
                  </a:lnTo>
                  <a:lnTo>
                    <a:pt x="274666" y="4639"/>
                  </a:lnTo>
                  <a:lnTo>
                    <a:pt x="317575" y="17948"/>
                  </a:lnTo>
                  <a:lnTo>
                    <a:pt x="356406" y="39011"/>
                  </a:lnTo>
                  <a:lnTo>
                    <a:pt x="390239" y="66913"/>
                  </a:lnTo>
                  <a:lnTo>
                    <a:pt x="418154" y="100738"/>
                  </a:lnTo>
                  <a:lnTo>
                    <a:pt x="439233" y="139571"/>
                  </a:lnTo>
                  <a:lnTo>
                    <a:pt x="452555" y="182496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496" y="452555"/>
                  </a:lnTo>
                  <a:lnTo>
                    <a:pt x="139571" y="439233"/>
                  </a:lnTo>
                  <a:lnTo>
                    <a:pt x="100738" y="418154"/>
                  </a:lnTo>
                  <a:lnTo>
                    <a:pt x="66913" y="390239"/>
                  </a:lnTo>
                  <a:lnTo>
                    <a:pt x="39011" y="356406"/>
                  </a:lnTo>
                  <a:lnTo>
                    <a:pt x="17948" y="317575"/>
                  </a:lnTo>
                  <a:lnTo>
                    <a:pt x="4639" y="274666"/>
                  </a:lnTo>
                  <a:lnTo>
                    <a:pt x="0" y="22860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3425" y="2286000"/>
              <a:ext cx="228600" cy="2286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250555" y="2147887"/>
            <a:ext cx="3275329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Other</a:t>
            </a:r>
            <a:r>
              <a:rPr sz="1500" b="1" spc="-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resources</a:t>
            </a:r>
            <a:r>
              <a:rPr sz="1500" b="1" spc="-2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(Including</a:t>
            </a:r>
            <a:r>
              <a:rPr sz="1500" b="1" spc="-6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00695A"/>
                </a:solidFill>
                <a:latin typeface="Calibri"/>
                <a:cs typeface="Calibri"/>
              </a:rPr>
              <a:t>Human </a:t>
            </a: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Resources)</a:t>
            </a:r>
            <a:endParaRPr sz="150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969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Fictional</a:t>
            </a:r>
            <a:r>
              <a:rPr sz="1250" spc="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250" spc="9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r>
              <a:rPr sz="1250" spc="9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for</a:t>
            </a:r>
            <a:r>
              <a:rPr sz="1250" spc="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50" spc="1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demo</a:t>
            </a:r>
            <a:endParaRPr sz="1250">
              <a:latin typeface="Calibri"/>
              <a:cs typeface="Calibri"/>
            </a:endParaRPr>
          </a:p>
          <a:p>
            <a:pPr marL="215900" marR="374650" indent="-203835">
              <a:lnSpc>
                <a:spcPct val="100000"/>
              </a:lnSpc>
              <a:spcBef>
                <a:spcPts val="600"/>
              </a:spcBef>
              <a:buChar char="•"/>
              <a:tabLst>
                <a:tab pos="21590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Rural</a:t>
            </a:r>
            <a:r>
              <a:rPr sz="1250" spc="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healthcare</a:t>
            </a:r>
            <a:r>
              <a:rPr sz="1250" spc="1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workers</a:t>
            </a:r>
            <a:r>
              <a:rPr sz="1250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50" spc="8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validate</a:t>
            </a:r>
            <a:r>
              <a:rPr sz="1250" spc="1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the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challenges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605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ABDM</a:t>
            </a:r>
            <a:r>
              <a:rPr sz="1250" spc="1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50" spc="8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UIDAI</a:t>
            </a:r>
            <a:r>
              <a:rPr sz="1250" spc="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guidelines</a:t>
            </a:r>
            <a:endParaRPr sz="1250">
              <a:latin typeface="Calibri"/>
              <a:cs typeface="Calibri"/>
            </a:endParaRPr>
          </a:p>
          <a:p>
            <a:pPr marL="217170" indent="-204470">
              <a:lnSpc>
                <a:spcPct val="100000"/>
              </a:lnSpc>
              <a:spcBef>
                <a:spcPts val="530"/>
              </a:spcBef>
              <a:buChar char="•"/>
              <a:tabLst>
                <a:tab pos="217170" algn="l"/>
              </a:tabLst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50" spc="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team</a:t>
            </a:r>
            <a:r>
              <a:rPr sz="1250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of</a:t>
            </a:r>
            <a:r>
              <a:rPr sz="1250" spc="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four</a:t>
            </a:r>
            <a:r>
              <a:rPr sz="1250" spc="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members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6257" y="4589462"/>
            <a:ext cx="469011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Opportunity</a:t>
            </a:r>
            <a:r>
              <a:rPr sz="1550" b="1" spc="14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areas</a:t>
            </a:r>
            <a:r>
              <a:rPr sz="1550" b="1" spc="8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–</a:t>
            </a:r>
            <a:r>
              <a:rPr sz="1550" b="1" spc="14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what</a:t>
            </a:r>
            <a:r>
              <a:rPr sz="1550" b="1" spc="114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SwasthyaLedger</a:t>
            </a:r>
            <a:r>
              <a:rPr sz="1550" b="1" spc="9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695A"/>
                </a:solidFill>
                <a:latin typeface="Calibri"/>
                <a:cs typeface="Calibri"/>
              </a:rPr>
              <a:t>can</a:t>
            </a:r>
            <a:r>
              <a:rPr sz="1550" b="1" spc="12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695A"/>
                </a:solidFill>
                <a:latin typeface="Calibri"/>
                <a:cs typeface="Calibri"/>
              </a:rPr>
              <a:t>improve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0862" y="4951476"/>
            <a:ext cx="2070735" cy="1250950"/>
            <a:chOff x="550862" y="4951476"/>
            <a:chExt cx="2070735" cy="1250950"/>
          </a:xfrm>
        </p:grpSpPr>
        <p:sp>
          <p:nvSpPr>
            <p:cNvPr id="32" name="object 32"/>
            <p:cNvSpPr/>
            <p:nvPr/>
          </p:nvSpPr>
          <p:spPr>
            <a:xfrm>
              <a:off x="557212" y="4957826"/>
              <a:ext cx="2058035" cy="1238250"/>
            </a:xfrm>
            <a:custGeom>
              <a:avLst/>
              <a:gdLst/>
              <a:ahLst/>
              <a:cxnLst/>
              <a:rect l="l" t="t" r="r" b="b"/>
              <a:pathLst>
                <a:path w="2058035" h="1238250">
                  <a:moveTo>
                    <a:pt x="1984057" y="0"/>
                  </a:moveTo>
                  <a:lnTo>
                    <a:pt x="73380" y="0"/>
                  </a:lnTo>
                  <a:lnTo>
                    <a:pt x="44818" y="5752"/>
                  </a:lnTo>
                  <a:lnTo>
                    <a:pt x="21493" y="21447"/>
                  </a:lnTo>
                  <a:lnTo>
                    <a:pt x="5766" y="44737"/>
                  </a:lnTo>
                  <a:lnTo>
                    <a:pt x="0" y="73279"/>
                  </a:lnTo>
                  <a:lnTo>
                    <a:pt x="0" y="1164805"/>
                  </a:lnTo>
                  <a:lnTo>
                    <a:pt x="5766" y="1193368"/>
                  </a:lnTo>
                  <a:lnTo>
                    <a:pt x="21493" y="1216693"/>
                  </a:lnTo>
                  <a:lnTo>
                    <a:pt x="44818" y="1232419"/>
                  </a:lnTo>
                  <a:lnTo>
                    <a:pt x="73380" y="1238186"/>
                  </a:lnTo>
                  <a:lnTo>
                    <a:pt x="1984057" y="1238186"/>
                  </a:lnTo>
                  <a:lnTo>
                    <a:pt x="2012618" y="1232419"/>
                  </a:lnTo>
                  <a:lnTo>
                    <a:pt x="2035952" y="1216693"/>
                  </a:lnTo>
                  <a:lnTo>
                    <a:pt x="2051690" y="1193368"/>
                  </a:lnTo>
                  <a:lnTo>
                    <a:pt x="2057463" y="1164805"/>
                  </a:lnTo>
                  <a:lnTo>
                    <a:pt x="2057463" y="73279"/>
                  </a:lnTo>
                  <a:lnTo>
                    <a:pt x="2051690" y="44737"/>
                  </a:lnTo>
                  <a:lnTo>
                    <a:pt x="2035952" y="21447"/>
                  </a:lnTo>
                  <a:lnTo>
                    <a:pt x="2012618" y="5752"/>
                  </a:lnTo>
                  <a:lnTo>
                    <a:pt x="19840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7212" y="4957826"/>
              <a:ext cx="2058035" cy="1238250"/>
            </a:xfrm>
            <a:custGeom>
              <a:avLst/>
              <a:gdLst/>
              <a:ahLst/>
              <a:cxnLst/>
              <a:rect l="l" t="t" r="r" b="b"/>
              <a:pathLst>
                <a:path w="2058035" h="1238250">
                  <a:moveTo>
                    <a:pt x="0" y="73279"/>
                  </a:moveTo>
                  <a:lnTo>
                    <a:pt x="5766" y="44737"/>
                  </a:lnTo>
                  <a:lnTo>
                    <a:pt x="21493" y="21447"/>
                  </a:lnTo>
                  <a:lnTo>
                    <a:pt x="44818" y="5752"/>
                  </a:lnTo>
                  <a:lnTo>
                    <a:pt x="73380" y="0"/>
                  </a:lnTo>
                  <a:lnTo>
                    <a:pt x="1984057" y="0"/>
                  </a:lnTo>
                  <a:lnTo>
                    <a:pt x="2012618" y="5752"/>
                  </a:lnTo>
                  <a:lnTo>
                    <a:pt x="2035952" y="21447"/>
                  </a:lnTo>
                  <a:lnTo>
                    <a:pt x="2051690" y="44737"/>
                  </a:lnTo>
                  <a:lnTo>
                    <a:pt x="2057463" y="73279"/>
                  </a:lnTo>
                  <a:lnTo>
                    <a:pt x="2057463" y="1164805"/>
                  </a:lnTo>
                  <a:lnTo>
                    <a:pt x="2051690" y="1193368"/>
                  </a:lnTo>
                  <a:lnTo>
                    <a:pt x="2035952" y="1216693"/>
                  </a:lnTo>
                  <a:lnTo>
                    <a:pt x="2012618" y="1232419"/>
                  </a:lnTo>
                  <a:lnTo>
                    <a:pt x="1984057" y="1238186"/>
                  </a:lnTo>
                  <a:lnTo>
                    <a:pt x="73380" y="1238186"/>
                  </a:lnTo>
                  <a:lnTo>
                    <a:pt x="44818" y="1232419"/>
                  </a:lnTo>
                  <a:lnTo>
                    <a:pt x="21493" y="1216693"/>
                  </a:lnTo>
                  <a:lnTo>
                    <a:pt x="5766" y="1193368"/>
                  </a:lnTo>
                  <a:lnTo>
                    <a:pt x="0" y="1164805"/>
                  </a:lnTo>
                  <a:lnTo>
                    <a:pt x="0" y="73279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7225" y="5029200"/>
              <a:ext cx="352425" cy="3429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46112" y="5408041"/>
            <a:ext cx="137477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A.</a:t>
            </a:r>
            <a:r>
              <a:rPr sz="1200" b="1" spc="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Biometric-Assisted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</a:pP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Patient Identification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741676" y="4951476"/>
            <a:ext cx="2070100" cy="1250950"/>
            <a:chOff x="2741676" y="4951476"/>
            <a:chExt cx="2070100" cy="1250950"/>
          </a:xfrm>
        </p:grpSpPr>
        <p:sp>
          <p:nvSpPr>
            <p:cNvPr id="37" name="object 37"/>
            <p:cNvSpPr/>
            <p:nvPr/>
          </p:nvSpPr>
          <p:spPr>
            <a:xfrm>
              <a:off x="2748026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1983994" y="0"/>
                  </a:moveTo>
                  <a:lnTo>
                    <a:pt x="73279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9"/>
                  </a:lnTo>
                  <a:lnTo>
                    <a:pt x="0" y="1164805"/>
                  </a:lnTo>
                  <a:lnTo>
                    <a:pt x="5752" y="1193368"/>
                  </a:lnTo>
                  <a:lnTo>
                    <a:pt x="21447" y="1216693"/>
                  </a:lnTo>
                  <a:lnTo>
                    <a:pt x="44737" y="1232419"/>
                  </a:lnTo>
                  <a:lnTo>
                    <a:pt x="73279" y="1238186"/>
                  </a:lnTo>
                  <a:lnTo>
                    <a:pt x="1983994" y="1238186"/>
                  </a:lnTo>
                  <a:lnTo>
                    <a:pt x="2012555" y="1232419"/>
                  </a:lnTo>
                  <a:lnTo>
                    <a:pt x="2035889" y="1216693"/>
                  </a:lnTo>
                  <a:lnTo>
                    <a:pt x="2051627" y="1193368"/>
                  </a:lnTo>
                  <a:lnTo>
                    <a:pt x="2057400" y="1164805"/>
                  </a:lnTo>
                  <a:lnTo>
                    <a:pt x="2057400" y="73279"/>
                  </a:lnTo>
                  <a:lnTo>
                    <a:pt x="2051627" y="44737"/>
                  </a:lnTo>
                  <a:lnTo>
                    <a:pt x="2035889" y="21447"/>
                  </a:lnTo>
                  <a:lnTo>
                    <a:pt x="2012555" y="5752"/>
                  </a:lnTo>
                  <a:lnTo>
                    <a:pt x="1983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8026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0" y="73279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9" y="0"/>
                  </a:lnTo>
                  <a:lnTo>
                    <a:pt x="1983994" y="0"/>
                  </a:lnTo>
                  <a:lnTo>
                    <a:pt x="2012555" y="5752"/>
                  </a:lnTo>
                  <a:lnTo>
                    <a:pt x="2035889" y="21447"/>
                  </a:lnTo>
                  <a:lnTo>
                    <a:pt x="2051627" y="44737"/>
                  </a:lnTo>
                  <a:lnTo>
                    <a:pt x="2057400" y="73279"/>
                  </a:lnTo>
                  <a:lnTo>
                    <a:pt x="2057400" y="1164805"/>
                  </a:lnTo>
                  <a:lnTo>
                    <a:pt x="2051627" y="1193368"/>
                  </a:lnTo>
                  <a:lnTo>
                    <a:pt x="2035889" y="1216693"/>
                  </a:lnTo>
                  <a:lnTo>
                    <a:pt x="2012555" y="1232419"/>
                  </a:lnTo>
                  <a:lnTo>
                    <a:pt x="1983994" y="1238186"/>
                  </a:lnTo>
                  <a:lnTo>
                    <a:pt x="73279" y="1238186"/>
                  </a:lnTo>
                  <a:lnTo>
                    <a:pt x="44737" y="1232419"/>
                  </a:lnTo>
                  <a:lnTo>
                    <a:pt x="21447" y="1216693"/>
                  </a:lnTo>
                  <a:lnTo>
                    <a:pt x="5752" y="1193368"/>
                  </a:lnTo>
                  <a:lnTo>
                    <a:pt x="0" y="1164805"/>
                  </a:lnTo>
                  <a:lnTo>
                    <a:pt x="0" y="73279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 descr="preencoded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57500" y="5029200"/>
              <a:ext cx="342900" cy="3429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2842641" y="5408041"/>
            <a:ext cx="167449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B.</a:t>
            </a:r>
            <a:r>
              <a:rPr sz="1200" b="1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Emergency</a:t>
            </a:r>
            <a:r>
              <a:rPr sz="1200" b="1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00" b="1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</a:pP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Available</a:t>
            </a:r>
            <a:r>
              <a:rPr sz="12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200" b="1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Records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932426" y="4951476"/>
            <a:ext cx="2070100" cy="1250950"/>
            <a:chOff x="4932426" y="4951476"/>
            <a:chExt cx="2070100" cy="1250950"/>
          </a:xfrm>
        </p:grpSpPr>
        <p:sp>
          <p:nvSpPr>
            <p:cNvPr id="42" name="object 42"/>
            <p:cNvSpPr/>
            <p:nvPr/>
          </p:nvSpPr>
          <p:spPr>
            <a:xfrm>
              <a:off x="4938776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1983994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9"/>
                  </a:lnTo>
                  <a:lnTo>
                    <a:pt x="0" y="1164805"/>
                  </a:lnTo>
                  <a:lnTo>
                    <a:pt x="5752" y="1193368"/>
                  </a:lnTo>
                  <a:lnTo>
                    <a:pt x="21447" y="1216693"/>
                  </a:lnTo>
                  <a:lnTo>
                    <a:pt x="44737" y="1232419"/>
                  </a:lnTo>
                  <a:lnTo>
                    <a:pt x="73278" y="1238186"/>
                  </a:lnTo>
                  <a:lnTo>
                    <a:pt x="1983994" y="1238186"/>
                  </a:lnTo>
                  <a:lnTo>
                    <a:pt x="2012555" y="1232419"/>
                  </a:lnTo>
                  <a:lnTo>
                    <a:pt x="2035889" y="1216693"/>
                  </a:lnTo>
                  <a:lnTo>
                    <a:pt x="2051627" y="1193368"/>
                  </a:lnTo>
                  <a:lnTo>
                    <a:pt x="2057400" y="1164805"/>
                  </a:lnTo>
                  <a:lnTo>
                    <a:pt x="2057400" y="73279"/>
                  </a:lnTo>
                  <a:lnTo>
                    <a:pt x="2051627" y="44737"/>
                  </a:lnTo>
                  <a:lnTo>
                    <a:pt x="2035889" y="21447"/>
                  </a:lnTo>
                  <a:lnTo>
                    <a:pt x="2012555" y="5752"/>
                  </a:lnTo>
                  <a:lnTo>
                    <a:pt x="1983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38776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0" y="73279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8" y="0"/>
                  </a:lnTo>
                  <a:lnTo>
                    <a:pt x="1983994" y="0"/>
                  </a:lnTo>
                  <a:lnTo>
                    <a:pt x="2012555" y="5752"/>
                  </a:lnTo>
                  <a:lnTo>
                    <a:pt x="2035889" y="21447"/>
                  </a:lnTo>
                  <a:lnTo>
                    <a:pt x="2051627" y="44737"/>
                  </a:lnTo>
                  <a:lnTo>
                    <a:pt x="2057400" y="73279"/>
                  </a:lnTo>
                  <a:lnTo>
                    <a:pt x="2057400" y="1164805"/>
                  </a:lnTo>
                  <a:lnTo>
                    <a:pt x="2051627" y="1193368"/>
                  </a:lnTo>
                  <a:lnTo>
                    <a:pt x="2035889" y="1216693"/>
                  </a:lnTo>
                  <a:lnTo>
                    <a:pt x="2012555" y="1232419"/>
                  </a:lnTo>
                  <a:lnTo>
                    <a:pt x="1983994" y="1238186"/>
                  </a:lnTo>
                  <a:lnTo>
                    <a:pt x="73278" y="1238186"/>
                  </a:lnTo>
                  <a:lnTo>
                    <a:pt x="44737" y="1232419"/>
                  </a:lnTo>
                  <a:lnTo>
                    <a:pt x="21447" y="1216693"/>
                  </a:lnTo>
                  <a:lnTo>
                    <a:pt x="5752" y="1193368"/>
                  </a:lnTo>
                  <a:lnTo>
                    <a:pt x="0" y="1164805"/>
                  </a:lnTo>
                  <a:lnTo>
                    <a:pt x="0" y="73279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 descr="preencoded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48250" y="5029200"/>
              <a:ext cx="342900" cy="3429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038725" y="5408041"/>
            <a:ext cx="1701164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C.</a:t>
            </a:r>
            <a:r>
              <a:rPr sz="12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Offline-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First</a:t>
            </a:r>
            <a:r>
              <a:rPr sz="12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Support</a:t>
            </a:r>
            <a:r>
              <a:rPr sz="1200" b="1" spc="-25" dirty="0">
                <a:solidFill>
                  <a:srgbClr val="0A4F49"/>
                </a:solidFill>
                <a:latin typeface="Calibri"/>
                <a:cs typeface="Calibri"/>
              </a:rPr>
              <a:t> for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</a:pP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Rural</a:t>
            </a:r>
            <a:r>
              <a:rPr sz="1200" b="1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Clinics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132701" y="4951476"/>
            <a:ext cx="2070100" cy="1250950"/>
            <a:chOff x="7132701" y="4951476"/>
            <a:chExt cx="2070100" cy="1250950"/>
          </a:xfrm>
        </p:grpSpPr>
        <p:sp>
          <p:nvSpPr>
            <p:cNvPr id="47" name="object 47"/>
            <p:cNvSpPr/>
            <p:nvPr/>
          </p:nvSpPr>
          <p:spPr>
            <a:xfrm>
              <a:off x="7139051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1983994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9"/>
                  </a:lnTo>
                  <a:lnTo>
                    <a:pt x="0" y="1164805"/>
                  </a:lnTo>
                  <a:lnTo>
                    <a:pt x="5752" y="1193368"/>
                  </a:lnTo>
                  <a:lnTo>
                    <a:pt x="21447" y="1216693"/>
                  </a:lnTo>
                  <a:lnTo>
                    <a:pt x="44737" y="1232419"/>
                  </a:lnTo>
                  <a:lnTo>
                    <a:pt x="73278" y="1238186"/>
                  </a:lnTo>
                  <a:lnTo>
                    <a:pt x="1983994" y="1238186"/>
                  </a:lnTo>
                  <a:lnTo>
                    <a:pt x="2012555" y="1232419"/>
                  </a:lnTo>
                  <a:lnTo>
                    <a:pt x="2035889" y="1216693"/>
                  </a:lnTo>
                  <a:lnTo>
                    <a:pt x="2051627" y="1193368"/>
                  </a:lnTo>
                  <a:lnTo>
                    <a:pt x="2057400" y="1164805"/>
                  </a:lnTo>
                  <a:lnTo>
                    <a:pt x="2057400" y="73279"/>
                  </a:lnTo>
                  <a:lnTo>
                    <a:pt x="2051627" y="44737"/>
                  </a:lnTo>
                  <a:lnTo>
                    <a:pt x="2035889" y="21447"/>
                  </a:lnTo>
                  <a:lnTo>
                    <a:pt x="2012555" y="5752"/>
                  </a:lnTo>
                  <a:lnTo>
                    <a:pt x="1983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139051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0" y="73279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8" y="0"/>
                  </a:lnTo>
                  <a:lnTo>
                    <a:pt x="1983994" y="0"/>
                  </a:lnTo>
                  <a:lnTo>
                    <a:pt x="2012555" y="5752"/>
                  </a:lnTo>
                  <a:lnTo>
                    <a:pt x="2035889" y="21447"/>
                  </a:lnTo>
                  <a:lnTo>
                    <a:pt x="2051627" y="44737"/>
                  </a:lnTo>
                  <a:lnTo>
                    <a:pt x="2057400" y="73279"/>
                  </a:lnTo>
                  <a:lnTo>
                    <a:pt x="2057400" y="1164805"/>
                  </a:lnTo>
                  <a:lnTo>
                    <a:pt x="2051627" y="1193368"/>
                  </a:lnTo>
                  <a:lnTo>
                    <a:pt x="2035889" y="1216693"/>
                  </a:lnTo>
                  <a:lnTo>
                    <a:pt x="2012555" y="1232419"/>
                  </a:lnTo>
                  <a:lnTo>
                    <a:pt x="1983994" y="1238186"/>
                  </a:lnTo>
                  <a:lnTo>
                    <a:pt x="73278" y="1238186"/>
                  </a:lnTo>
                  <a:lnTo>
                    <a:pt x="44737" y="1232419"/>
                  </a:lnTo>
                  <a:lnTo>
                    <a:pt x="21447" y="1216693"/>
                  </a:lnTo>
                  <a:lnTo>
                    <a:pt x="5752" y="1193368"/>
                  </a:lnTo>
                  <a:lnTo>
                    <a:pt x="0" y="1164805"/>
                  </a:lnTo>
                  <a:lnTo>
                    <a:pt x="0" y="73279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39000" y="5029200"/>
              <a:ext cx="352425" cy="34290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234808" y="5408041"/>
            <a:ext cx="166560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D.</a:t>
            </a:r>
            <a:r>
              <a:rPr sz="12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Regional-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Language </a:t>
            </a:r>
            <a:r>
              <a:rPr sz="1200" b="1" spc="-25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</a:pP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Voice</a:t>
            </a:r>
            <a:r>
              <a:rPr sz="12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Support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323451" y="4951476"/>
            <a:ext cx="2070100" cy="1250950"/>
            <a:chOff x="9323451" y="4951476"/>
            <a:chExt cx="2070100" cy="1250950"/>
          </a:xfrm>
        </p:grpSpPr>
        <p:sp>
          <p:nvSpPr>
            <p:cNvPr id="52" name="object 52"/>
            <p:cNvSpPr/>
            <p:nvPr/>
          </p:nvSpPr>
          <p:spPr>
            <a:xfrm>
              <a:off x="9329801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1983994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9"/>
                  </a:lnTo>
                  <a:lnTo>
                    <a:pt x="0" y="1164805"/>
                  </a:lnTo>
                  <a:lnTo>
                    <a:pt x="5752" y="1193368"/>
                  </a:lnTo>
                  <a:lnTo>
                    <a:pt x="21447" y="1216693"/>
                  </a:lnTo>
                  <a:lnTo>
                    <a:pt x="44737" y="1232419"/>
                  </a:lnTo>
                  <a:lnTo>
                    <a:pt x="73278" y="1238186"/>
                  </a:lnTo>
                  <a:lnTo>
                    <a:pt x="1983994" y="1238186"/>
                  </a:lnTo>
                  <a:lnTo>
                    <a:pt x="2012555" y="1232419"/>
                  </a:lnTo>
                  <a:lnTo>
                    <a:pt x="2035889" y="1216693"/>
                  </a:lnTo>
                  <a:lnTo>
                    <a:pt x="2051627" y="1193368"/>
                  </a:lnTo>
                  <a:lnTo>
                    <a:pt x="2057400" y="1164805"/>
                  </a:lnTo>
                  <a:lnTo>
                    <a:pt x="2057400" y="73279"/>
                  </a:lnTo>
                  <a:lnTo>
                    <a:pt x="2051627" y="44737"/>
                  </a:lnTo>
                  <a:lnTo>
                    <a:pt x="2035889" y="21447"/>
                  </a:lnTo>
                  <a:lnTo>
                    <a:pt x="2012555" y="5752"/>
                  </a:lnTo>
                  <a:lnTo>
                    <a:pt x="19839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329801" y="4957826"/>
              <a:ext cx="2057400" cy="1238250"/>
            </a:xfrm>
            <a:custGeom>
              <a:avLst/>
              <a:gdLst/>
              <a:ahLst/>
              <a:cxnLst/>
              <a:rect l="l" t="t" r="r" b="b"/>
              <a:pathLst>
                <a:path w="2057400" h="1238250">
                  <a:moveTo>
                    <a:pt x="0" y="73279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8" y="0"/>
                  </a:lnTo>
                  <a:lnTo>
                    <a:pt x="1983994" y="0"/>
                  </a:lnTo>
                  <a:lnTo>
                    <a:pt x="2012555" y="5752"/>
                  </a:lnTo>
                  <a:lnTo>
                    <a:pt x="2035889" y="21447"/>
                  </a:lnTo>
                  <a:lnTo>
                    <a:pt x="2051627" y="44737"/>
                  </a:lnTo>
                  <a:lnTo>
                    <a:pt x="2057400" y="73279"/>
                  </a:lnTo>
                  <a:lnTo>
                    <a:pt x="2057400" y="1164805"/>
                  </a:lnTo>
                  <a:lnTo>
                    <a:pt x="2051627" y="1193368"/>
                  </a:lnTo>
                  <a:lnTo>
                    <a:pt x="2035889" y="1216693"/>
                  </a:lnTo>
                  <a:lnTo>
                    <a:pt x="2012555" y="1232419"/>
                  </a:lnTo>
                  <a:lnTo>
                    <a:pt x="1983994" y="1238186"/>
                  </a:lnTo>
                  <a:lnTo>
                    <a:pt x="73278" y="1238186"/>
                  </a:lnTo>
                  <a:lnTo>
                    <a:pt x="44737" y="1232419"/>
                  </a:lnTo>
                  <a:lnTo>
                    <a:pt x="21447" y="1216693"/>
                  </a:lnTo>
                  <a:lnTo>
                    <a:pt x="5752" y="1193368"/>
                  </a:lnTo>
                  <a:lnTo>
                    <a:pt x="0" y="1164805"/>
                  </a:lnTo>
                  <a:lnTo>
                    <a:pt x="0" y="73279"/>
                  </a:lnTo>
                  <a:close/>
                </a:path>
              </a:pathLst>
            </a:custGeom>
            <a:ln w="12699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39275" y="5029200"/>
              <a:ext cx="342900" cy="34290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9431019" y="5408041"/>
            <a:ext cx="1800225" cy="389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E.</a:t>
            </a:r>
            <a:r>
              <a:rPr sz="1200" b="1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Secure</a:t>
            </a:r>
            <a:r>
              <a:rPr sz="1200" b="1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Record</a:t>
            </a:r>
            <a:r>
              <a:rPr sz="1200" b="1" spc="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00" b="1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430"/>
              </a:lnSpc>
            </a:pPr>
            <a:r>
              <a:rPr sz="1200" b="1" spc="-10" dirty="0">
                <a:solidFill>
                  <a:srgbClr val="0A4F49"/>
                </a:solidFill>
                <a:latin typeface="Calibri"/>
                <a:cs typeface="Calibri"/>
              </a:rPr>
              <a:t>Accountability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46871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lang="en-IN" sz="900" b="1" spc="-50" dirty="0">
              <a:solidFill>
                <a:srgbClr val="0A4F49"/>
              </a:solidFill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TEAM PR</a:t>
            </a:r>
            <a:endParaRPr lang="en-US"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/>
              <a:t>INITIAL</a:t>
            </a:r>
            <a:r>
              <a:rPr spc="-95" dirty="0"/>
              <a:t> </a:t>
            </a:r>
            <a:r>
              <a:rPr dirty="0"/>
              <a:t>DIRECTION</a:t>
            </a:r>
            <a:r>
              <a:rPr spc="-10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spc="-10" dirty="0"/>
              <a:t>OUTCOME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3168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What</a:t>
            </a:r>
            <a:r>
              <a:rPr sz="1800" b="1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800" b="1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Your</a:t>
            </a:r>
            <a:r>
              <a:rPr sz="1800" b="1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Expected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Outcome?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862" y="2008251"/>
            <a:ext cx="3575685" cy="1841500"/>
            <a:chOff x="550862" y="2008251"/>
            <a:chExt cx="3575685" cy="1841500"/>
          </a:xfrm>
        </p:grpSpPr>
        <p:sp>
          <p:nvSpPr>
            <p:cNvPr id="8" name="object 8"/>
            <p:cNvSpPr/>
            <p:nvPr/>
          </p:nvSpPr>
          <p:spPr>
            <a:xfrm>
              <a:off x="557212" y="2014601"/>
              <a:ext cx="3562985" cy="1828800"/>
            </a:xfrm>
            <a:custGeom>
              <a:avLst/>
              <a:gdLst/>
              <a:ahLst/>
              <a:cxnLst/>
              <a:rect l="l" t="t" r="r" b="b"/>
              <a:pathLst>
                <a:path w="3562985" h="1828800">
                  <a:moveTo>
                    <a:pt x="3489134" y="0"/>
                  </a:moveTo>
                  <a:lnTo>
                    <a:pt x="73151" y="0"/>
                  </a:lnTo>
                  <a:lnTo>
                    <a:pt x="44678" y="5732"/>
                  </a:lnTo>
                  <a:lnTo>
                    <a:pt x="21426" y="21383"/>
                  </a:lnTo>
                  <a:lnTo>
                    <a:pt x="5748" y="44630"/>
                  </a:lnTo>
                  <a:lnTo>
                    <a:pt x="0" y="73151"/>
                  </a:lnTo>
                  <a:lnTo>
                    <a:pt x="0" y="1755521"/>
                  </a:lnTo>
                  <a:lnTo>
                    <a:pt x="5748" y="1784042"/>
                  </a:lnTo>
                  <a:lnTo>
                    <a:pt x="21426" y="1807289"/>
                  </a:lnTo>
                  <a:lnTo>
                    <a:pt x="44678" y="1822940"/>
                  </a:lnTo>
                  <a:lnTo>
                    <a:pt x="73151" y="1828673"/>
                  </a:lnTo>
                  <a:lnTo>
                    <a:pt x="3489134" y="1828673"/>
                  </a:lnTo>
                  <a:lnTo>
                    <a:pt x="3517675" y="1822940"/>
                  </a:lnTo>
                  <a:lnTo>
                    <a:pt x="3540966" y="1807289"/>
                  </a:lnTo>
                  <a:lnTo>
                    <a:pt x="3556660" y="1784042"/>
                  </a:lnTo>
                  <a:lnTo>
                    <a:pt x="3562413" y="1755521"/>
                  </a:lnTo>
                  <a:lnTo>
                    <a:pt x="3562413" y="73151"/>
                  </a:lnTo>
                  <a:lnTo>
                    <a:pt x="3556660" y="44630"/>
                  </a:lnTo>
                  <a:lnTo>
                    <a:pt x="3540966" y="21383"/>
                  </a:lnTo>
                  <a:lnTo>
                    <a:pt x="3517675" y="5732"/>
                  </a:lnTo>
                  <a:lnTo>
                    <a:pt x="34891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7212" y="2014601"/>
              <a:ext cx="3562985" cy="1828800"/>
            </a:xfrm>
            <a:custGeom>
              <a:avLst/>
              <a:gdLst/>
              <a:ahLst/>
              <a:cxnLst/>
              <a:rect l="l" t="t" r="r" b="b"/>
              <a:pathLst>
                <a:path w="3562985" h="1828800">
                  <a:moveTo>
                    <a:pt x="0" y="73151"/>
                  </a:moveTo>
                  <a:lnTo>
                    <a:pt x="5748" y="44630"/>
                  </a:lnTo>
                  <a:lnTo>
                    <a:pt x="21426" y="21383"/>
                  </a:lnTo>
                  <a:lnTo>
                    <a:pt x="44678" y="5732"/>
                  </a:lnTo>
                  <a:lnTo>
                    <a:pt x="73151" y="0"/>
                  </a:lnTo>
                  <a:lnTo>
                    <a:pt x="3489134" y="0"/>
                  </a:lnTo>
                  <a:lnTo>
                    <a:pt x="3517675" y="5732"/>
                  </a:lnTo>
                  <a:lnTo>
                    <a:pt x="3540966" y="21383"/>
                  </a:lnTo>
                  <a:lnTo>
                    <a:pt x="3556660" y="44630"/>
                  </a:lnTo>
                  <a:lnTo>
                    <a:pt x="3562413" y="73151"/>
                  </a:lnTo>
                  <a:lnTo>
                    <a:pt x="3562413" y="1755521"/>
                  </a:lnTo>
                  <a:lnTo>
                    <a:pt x="3556660" y="1784042"/>
                  </a:lnTo>
                  <a:lnTo>
                    <a:pt x="3540966" y="1807289"/>
                  </a:lnTo>
                  <a:lnTo>
                    <a:pt x="3517675" y="1822940"/>
                  </a:lnTo>
                  <a:lnTo>
                    <a:pt x="3489134" y="1828673"/>
                  </a:lnTo>
                  <a:lnTo>
                    <a:pt x="73151" y="1828673"/>
                  </a:lnTo>
                  <a:lnTo>
                    <a:pt x="44678" y="1822940"/>
                  </a:lnTo>
                  <a:lnTo>
                    <a:pt x="21426" y="1807289"/>
                  </a:lnTo>
                  <a:lnTo>
                    <a:pt x="5748" y="1784042"/>
                  </a:lnTo>
                  <a:lnTo>
                    <a:pt x="0" y="1755521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562" y="2109851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lnTo>
                    <a:pt x="161500" y="5529"/>
                  </a:lnTo>
                  <a:lnTo>
                    <a:pt x="117393" y="21282"/>
                  </a:lnTo>
                  <a:lnTo>
                    <a:pt x="78485" y="46006"/>
                  </a:lnTo>
                  <a:lnTo>
                    <a:pt x="46034" y="78448"/>
                  </a:lnTo>
                  <a:lnTo>
                    <a:pt x="21298" y="117354"/>
                  </a:lnTo>
                  <a:lnTo>
                    <a:pt x="5534" y="161472"/>
                  </a:lnTo>
                  <a:lnTo>
                    <a:pt x="0" y="209550"/>
                  </a:lnTo>
                  <a:lnTo>
                    <a:pt x="5534" y="257587"/>
                  </a:lnTo>
                  <a:lnTo>
                    <a:pt x="21298" y="301689"/>
                  </a:lnTo>
                  <a:lnTo>
                    <a:pt x="46034" y="340598"/>
                  </a:lnTo>
                  <a:lnTo>
                    <a:pt x="78485" y="373053"/>
                  </a:lnTo>
                  <a:lnTo>
                    <a:pt x="117393" y="397795"/>
                  </a:lnTo>
                  <a:lnTo>
                    <a:pt x="161500" y="413563"/>
                  </a:lnTo>
                  <a:lnTo>
                    <a:pt x="209550" y="419100"/>
                  </a:lnTo>
                  <a:lnTo>
                    <a:pt x="257599" y="413563"/>
                  </a:lnTo>
                  <a:lnTo>
                    <a:pt x="301706" y="397795"/>
                  </a:lnTo>
                  <a:lnTo>
                    <a:pt x="340614" y="373053"/>
                  </a:lnTo>
                  <a:lnTo>
                    <a:pt x="373065" y="340598"/>
                  </a:lnTo>
                  <a:lnTo>
                    <a:pt x="397801" y="301689"/>
                  </a:lnTo>
                  <a:lnTo>
                    <a:pt x="413565" y="257587"/>
                  </a:lnTo>
                  <a:lnTo>
                    <a:pt x="419100" y="209550"/>
                  </a:lnTo>
                  <a:lnTo>
                    <a:pt x="413565" y="161472"/>
                  </a:lnTo>
                  <a:lnTo>
                    <a:pt x="397801" y="117354"/>
                  </a:lnTo>
                  <a:lnTo>
                    <a:pt x="373065" y="78448"/>
                  </a:lnTo>
                  <a:lnTo>
                    <a:pt x="340614" y="46006"/>
                  </a:lnTo>
                  <a:lnTo>
                    <a:pt x="301706" y="21282"/>
                  </a:lnTo>
                  <a:lnTo>
                    <a:pt x="257599" y="5529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0562" y="2109851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209550"/>
                  </a:moveTo>
                  <a:lnTo>
                    <a:pt x="5534" y="161472"/>
                  </a:lnTo>
                  <a:lnTo>
                    <a:pt x="21298" y="117354"/>
                  </a:lnTo>
                  <a:lnTo>
                    <a:pt x="46034" y="78448"/>
                  </a:lnTo>
                  <a:lnTo>
                    <a:pt x="78485" y="46006"/>
                  </a:lnTo>
                  <a:lnTo>
                    <a:pt x="117393" y="21282"/>
                  </a:lnTo>
                  <a:lnTo>
                    <a:pt x="161500" y="5529"/>
                  </a:lnTo>
                  <a:lnTo>
                    <a:pt x="209550" y="0"/>
                  </a:lnTo>
                  <a:lnTo>
                    <a:pt x="257599" y="5529"/>
                  </a:lnTo>
                  <a:lnTo>
                    <a:pt x="301706" y="21282"/>
                  </a:lnTo>
                  <a:lnTo>
                    <a:pt x="340614" y="46006"/>
                  </a:lnTo>
                  <a:lnTo>
                    <a:pt x="373065" y="78448"/>
                  </a:lnTo>
                  <a:lnTo>
                    <a:pt x="397801" y="117354"/>
                  </a:lnTo>
                  <a:lnTo>
                    <a:pt x="413565" y="161472"/>
                  </a:lnTo>
                  <a:lnTo>
                    <a:pt x="419100" y="209550"/>
                  </a:lnTo>
                  <a:lnTo>
                    <a:pt x="413565" y="257587"/>
                  </a:lnTo>
                  <a:lnTo>
                    <a:pt x="397801" y="301689"/>
                  </a:lnTo>
                  <a:lnTo>
                    <a:pt x="373065" y="340598"/>
                  </a:lnTo>
                  <a:lnTo>
                    <a:pt x="340614" y="373053"/>
                  </a:lnTo>
                  <a:lnTo>
                    <a:pt x="301706" y="397795"/>
                  </a:lnTo>
                  <a:lnTo>
                    <a:pt x="257599" y="413563"/>
                  </a:lnTo>
                  <a:lnTo>
                    <a:pt x="209550" y="419100"/>
                  </a:lnTo>
                  <a:lnTo>
                    <a:pt x="161500" y="413563"/>
                  </a:lnTo>
                  <a:lnTo>
                    <a:pt x="117393" y="397795"/>
                  </a:lnTo>
                  <a:lnTo>
                    <a:pt x="78485" y="373053"/>
                  </a:lnTo>
                  <a:lnTo>
                    <a:pt x="46034" y="340598"/>
                  </a:lnTo>
                  <a:lnTo>
                    <a:pt x="21298" y="301689"/>
                  </a:lnTo>
                  <a:lnTo>
                    <a:pt x="5534" y="257587"/>
                  </a:lnTo>
                  <a:lnTo>
                    <a:pt x="0" y="20955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575" y="2209800"/>
              <a:ext cx="209550" cy="20955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22692" y="2177986"/>
            <a:ext cx="22358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What</a:t>
            </a:r>
            <a:r>
              <a:rPr sz="1400" b="1" spc="-4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your</a:t>
            </a:r>
            <a:r>
              <a:rPr sz="1400" b="1" spc="-4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team</a:t>
            </a:r>
            <a:r>
              <a:rPr sz="1400" b="1" spc="-7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intends</a:t>
            </a:r>
            <a:r>
              <a:rPr sz="1400" b="1" spc="-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to</a:t>
            </a:r>
            <a:r>
              <a:rPr sz="1400" b="1" spc="-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695A"/>
                </a:solidFill>
                <a:latin typeface="Calibri"/>
                <a:cs typeface="Calibri"/>
              </a:rPr>
              <a:t>do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1040" y="2615184"/>
            <a:ext cx="3261995" cy="982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demo</a:t>
            </a:r>
            <a:r>
              <a:rPr sz="125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would</a:t>
            </a:r>
            <a:r>
              <a:rPr sz="125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include</a:t>
            </a:r>
            <a:r>
              <a:rPr sz="1250" spc="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fictional</a:t>
            </a:r>
            <a:r>
              <a:rPr sz="125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patient</a:t>
            </a:r>
            <a:r>
              <a:rPr sz="1250" spc="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records,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simulated</a:t>
            </a:r>
            <a:r>
              <a:rPr sz="125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biometric</a:t>
            </a:r>
            <a:r>
              <a:rPr sz="1250" spc="-7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matching</a:t>
            </a:r>
            <a:r>
              <a:rPr sz="125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module,</a:t>
            </a:r>
            <a:r>
              <a:rPr sz="125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an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emergency</a:t>
            </a:r>
            <a:r>
              <a:rPr sz="125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registration</a:t>
            </a:r>
            <a:r>
              <a:rPr sz="125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workflow,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offline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5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to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sample</a:t>
            </a:r>
            <a:r>
              <a:rPr sz="125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records,</a:t>
            </a:r>
            <a:r>
              <a:rPr sz="125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5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logs</a:t>
            </a:r>
            <a:r>
              <a:rPr sz="125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</a:t>
            </a:r>
            <a:r>
              <a:rPr sz="125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safe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handling</a:t>
            </a:r>
            <a:r>
              <a:rPr sz="125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of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uncertain</a:t>
            </a:r>
            <a:r>
              <a:rPr sz="125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matches.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13301" y="2008251"/>
            <a:ext cx="3575050" cy="1841500"/>
            <a:chOff x="4313301" y="2008251"/>
            <a:chExt cx="3575050" cy="1841500"/>
          </a:xfrm>
        </p:grpSpPr>
        <p:sp>
          <p:nvSpPr>
            <p:cNvPr id="16" name="object 16"/>
            <p:cNvSpPr/>
            <p:nvPr/>
          </p:nvSpPr>
          <p:spPr>
            <a:xfrm>
              <a:off x="4319651" y="2014601"/>
              <a:ext cx="3562350" cy="1828800"/>
            </a:xfrm>
            <a:custGeom>
              <a:avLst/>
              <a:gdLst/>
              <a:ahLst/>
              <a:cxnLst/>
              <a:rect l="l" t="t" r="r" b="b"/>
              <a:pathLst>
                <a:path w="3562350" h="1828800">
                  <a:moveTo>
                    <a:pt x="3489071" y="0"/>
                  </a:moveTo>
                  <a:lnTo>
                    <a:pt x="73151" y="0"/>
                  </a:lnTo>
                  <a:lnTo>
                    <a:pt x="44630" y="5732"/>
                  </a:lnTo>
                  <a:lnTo>
                    <a:pt x="21383" y="21383"/>
                  </a:lnTo>
                  <a:lnTo>
                    <a:pt x="5732" y="44630"/>
                  </a:lnTo>
                  <a:lnTo>
                    <a:pt x="0" y="73151"/>
                  </a:lnTo>
                  <a:lnTo>
                    <a:pt x="0" y="1755521"/>
                  </a:lnTo>
                  <a:lnTo>
                    <a:pt x="5732" y="1784042"/>
                  </a:lnTo>
                  <a:lnTo>
                    <a:pt x="21383" y="1807289"/>
                  </a:lnTo>
                  <a:lnTo>
                    <a:pt x="44630" y="1822940"/>
                  </a:lnTo>
                  <a:lnTo>
                    <a:pt x="73151" y="1828673"/>
                  </a:lnTo>
                  <a:lnTo>
                    <a:pt x="3489071" y="1828673"/>
                  </a:lnTo>
                  <a:lnTo>
                    <a:pt x="3517612" y="1822940"/>
                  </a:lnTo>
                  <a:lnTo>
                    <a:pt x="3540902" y="1807289"/>
                  </a:lnTo>
                  <a:lnTo>
                    <a:pt x="3556597" y="1784042"/>
                  </a:lnTo>
                  <a:lnTo>
                    <a:pt x="3562350" y="1755521"/>
                  </a:lnTo>
                  <a:lnTo>
                    <a:pt x="3562350" y="73151"/>
                  </a:lnTo>
                  <a:lnTo>
                    <a:pt x="3556597" y="44630"/>
                  </a:lnTo>
                  <a:lnTo>
                    <a:pt x="3540902" y="21383"/>
                  </a:lnTo>
                  <a:lnTo>
                    <a:pt x="3517612" y="5732"/>
                  </a:lnTo>
                  <a:lnTo>
                    <a:pt x="34890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19651" y="2014601"/>
              <a:ext cx="3562350" cy="1828800"/>
            </a:xfrm>
            <a:custGeom>
              <a:avLst/>
              <a:gdLst/>
              <a:ahLst/>
              <a:cxnLst/>
              <a:rect l="l" t="t" r="r" b="b"/>
              <a:pathLst>
                <a:path w="3562350" h="1828800">
                  <a:moveTo>
                    <a:pt x="0" y="73151"/>
                  </a:moveTo>
                  <a:lnTo>
                    <a:pt x="5732" y="44630"/>
                  </a:lnTo>
                  <a:lnTo>
                    <a:pt x="21383" y="21383"/>
                  </a:lnTo>
                  <a:lnTo>
                    <a:pt x="44630" y="5732"/>
                  </a:lnTo>
                  <a:lnTo>
                    <a:pt x="73151" y="0"/>
                  </a:lnTo>
                  <a:lnTo>
                    <a:pt x="3489071" y="0"/>
                  </a:lnTo>
                  <a:lnTo>
                    <a:pt x="3517612" y="5732"/>
                  </a:lnTo>
                  <a:lnTo>
                    <a:pt x="3540902" y="21383"/>
                  </a:lnTo>
                  <a:lnTo>
                    <a:pt x="3556597" y="44630"/>
                  </a:lnTo>
                  <a:lnTo>
                    <a:pt x="3562350" y="73151"/>
                  </a:lnTo>
                  <a:lnTo>
                    <a:pt x="3562350" y="1755521"/>
                  </a:lnTo>
                  <a:lnTo>
                    <a:pt x="3556597" y="1784042"/>
                  </a:lnTo>
                  <a:lnTo>
                    <a:pt x="3540902" y="1807289"/>
                  </a:lnTo>
                  <a:lnTo>
                    <a:pt x="3517612" y="1822940"/>
                  </a:lnTo>
                  <a:lnTo>
                    <a:pt x="3489071" y="1828673"/>
                  </a:lnTo>
                  <a:lnTo>
                    <a:pt x="73151" y="1828673"/>
                  </a:lnTo>
                  <a:lnTo>
                    <a:pt x="44630" y="1822940"/>
                  </a:lnTo>
                  <a:lnTo>
                    <a:pt x="21383" y="1807289"/>
                  </a:lnTo>
                  <a:lnTo>
                    <a:pt x="5732" y="1784042"/>
                  </a:lnTo>
                  <a:lnTo>
                    <a:pt x="0" y="1755521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53001" y="2109851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lnTo>
                    <a:pt x="161472" y="5529"/>
                  </a:lnTo>
                  <a:lnTo>
                    <a:pt x="117354" y="21282"/>
                  </a:lnTo>
                  <a:lnTo>
                    <a:pt x="78448" y="46006"/>
                  </a:lnTo>
                  <a:lnTo>
                    <a:pt x="46006" y="78448"/>
                  </a:lnTo>
                  <a:lnTo>
                    <a:pt x="21282" y="117354"/>
                  </a:lnTo>
                  <a:lnTo>
                    <a:pt x="5529" y="161472"/>
                  </a:lnTo>
                  <a:lnTo>
                    <a:pt x="0" y="209550"/>
                  </a:lnTo>
                  <a:lnTo>
                    <a:pt x="5529" y="257587"/>
                  </a:lnTo>
                  <a:lnTo>
                    <a:pt x="21282" y="301689"/>
                  </a:lnTo>
                  <a:lnTo>
                    <a:pt x="46006" y="340598"/>
                  </a:lnTo>
                  <a:lnTo>
                    <a:pt x="78448" y="373053"/>
                  </a:lnTo>
                  <a:lnTo>
                    <a:pt x="117354" y="397795"/>
                  </a:lnTo>
                  <a:lnTo>
                    <a:pt x="161472" y="413563"/>
                  </a:lnTo>
                  <a:lnTo>
                    <a:pt x="209550" y="419100"/>
                  </a:lnTo>
                  <a:lnTo>
                    <a:pt x="257587" y="413563"/>
                  </a:lnTo>
                  <a:lnTo>
                    <a:pt x="301689" y="397795"/>
                  </a:lnTo>
                  <a:lnTo>
                    <a:pt x="340598" y="373053"/>
                  </a:lnTo>
                  <a:lnTo>
                    <a:pt x="373053" y="340598"/>
                  </a:lnTo>
                  <a:lnTo>
                    <a:pt x="397795" y="301689"/>
                  </a:lnTo>
                  <a:lnTo>
                    <a:pt x="413563" y="257587"/>
                  </a:lnTo>
                  <a:lnTo>
                    <a:pt x="419100" y="209550"/>
                  </a:lnTo>
                  <a:lnTo>
                    <a:pt x="413563" y="161472"/>
                  </a:lnTo>
                  <a:lnTo>
                    <a:pt x="397795" y="117354"/>
                  </a:lnTo>
                  <a:lnTo>
                    <a:pt x="373053" y="78448"/>
                  </a:lnTo>
                  <a:lnTo>
                    <a:pt x="340598" y="46006"/>
                  </a:lnTo>
                  <a:lnTo>
                    <a:pt x="301689" y="21282"/>
                  </a:lnTo>
                  <a:lnTo>
                    <a:pt x="257587" y="5529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53001" y="2109851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209550"/>
                  </a:moveTo>
                  <a:lnTo>
                    <a:pt x="5529" y="161472"/>
                  </a:lnTo>
                  <a:lnTo>
                    <a:pt x="21282" y="117354"/>
                  </a:lnTo>
                  <a:lnTo>
                    <a:pt x="46006" y="78448"/>
                  </a:lnTo>
                  <a:lnTo>
                    <a:pt x="78448" y="46006"/>
                  </a:lnTo>
                  <a:lnTo>
                    <a:pt x="117354" y="21282"/>
                  </a:lnTo>
                  <a:lnTo>
                    <a:pt x="161472" y="5529"/>
                  </a:lnTo>
                  <a:lnTo>
                    <a:pt x="209550" y="0"/>
                  </a:lnTo>
                  <a:lnTo>
                    <a:pt x="257587" y="5529"/>
                  </a:lnTo>
                  <a:lnTo>
                    <a:pt x="301689" y="21282"/>
                  </a:lnTo>
                  <a:lnTo>
                    <a:pt x="340598" y="46006"/>
                  </a:lnTo>
                  <a:lnTo>
                    <a:pt x="373053" y="78448"/>
                  </a:lnTo>
                  <a:lnTo>
                    <a:pt x="397795" y="117354"/>
                  </a:lnTo>
                  <a:lnTo>
                    <a:pt x="413563" y="161472"/>
                  </a:lnTo>
                  <a:lnTo>
                    <a:pt x="419100" y="209550"/>
                  </a:lnTo>
                  <a:lnTo>
                    <a:pt x="413563" y="257587"/>
                  </a:lnTo>
                  <a:lnTo>
                    <a:pt x="397795" y="301689"/>
                  </a:lnTo>
                  <a:lnTo>
                    <a:pt x="373053" y="340598"/>
                  </a:lnTo>
                  <a:lnTo>
                    <a:pt x="340598" y="373053"/>
                  </a:lnTo>
                  <a:lnTo>
                    <a:pt x="301689" y="397795"/>
                  </a:lnTo>
                  <a:lnTo>
                    <a:pt x="257587" y="413563"/>
                  </a:lnTo>
                  <a:lnTo>
                    <a:pt x="209550" y="419100"/>
                  </a:lnTo>
                  <a:lnTo>
                    <a:pt x="161472" y="413563"/>
                  </a:lnTo>
                  <a:lnTo>
                    <a:pt x="117354" y="397795"/>
                  </a:lnTo>
                  <a:lnTo>
                    <a:pt x="78448" y="373053"/>
                  </a:lnTo>
                  <a:lnTo>
                    <a:pt x="46006" y="340598"/>
                  </a:lnTo>
                  <a:lnTo>
                    <a:pt x="21282" y="301689"/>
                  </a:lnTo>
                  <a:lnTo>
                    <a:pt x="5529" y="257587"/>
                  </a:lnTo>
                  <a:lnTo>
                    <a:pt x="0" y="20955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52950" y="2209800"/>
              <a:ext cx="209550" cy="2095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988178" y="2177986"/>
            <a:ext cx="20072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What</a:t>
            </a:r>
            <a:r>
              <a:rPr sz="1400" b="1" spc="-1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you</a:t>
            </a:r>
            <a:r>
              <a:rPr sz="1400" b="1" spc="-5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want</a:t>
            </a:r>
            <a:r>
              <a:rPr sz="1400" b="1" spc="-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to</a:t>
            </a:r>
            <a:r>
              <a:rPr sz="1400" b="1" spc="-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improve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66590" y="2615184"/>
            <a:ext cx="3119755" cy="792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Improved continuity</a:t>
            </a:r>
            <a:r>
              <a:rPr sz="125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of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care,</a:t>
            </a:r>
            <a:r>
              <a:rPr sz="125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reduced</a:t>
            </a:r>
            <a:r>
              <a:rPr sz="125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repeated information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 collection,</a:t>
            </a:r>
            <a:r>
              <a:rPr sz="125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easier</a:t>
            </a:r>
            <a:r>
              <a:rPr sz="125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access</a:t>
            </a:r>
            <a:r>
              <a:rPr sz="1250" spc="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5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relevant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documented</a:t>
            </a:r>
            <a:r>
              <a:rPr sz="125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history,</a:t>
            </a:r>
            <a:r>
              <a:rPr sz="125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and a</a:t>
            </a:r>
            <a:r>
              <a:rPr sz="125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more</a:t>
            </a:r>
            <a:r>
              <a:rPr sz="125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organised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process</a:t>
            </a:r>
            <a:r>
              <a:rPr sz="125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for</a:t>
            </a:r>
            <a:r>
              <a:rPr sz="125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treating</a:t>
            </a:r>
            <a:r>
              <a:rPr sz="125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unidentified</a:t>
            </a:r>
            <a:r>
              <a:rPr sz="125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patients.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075676" y="2008251"/>
            <a:ext cx="3575050" cy="1841500"/>
            <a:chOff x="8075676" y="2008251"/>
            <a:chExt cx="3575050" cy="1841500"/>
          </a:xfrm>
        </p:grpSpPr>
        <p:sp>
          <p:nvSpPr>
            <p:cNvPr id="24" name="object 24"/>
            <p:cNvSpPr/>
            <p:nvPr/>
          </p:nvSpPr>
          <p:spPr>
            <a:xfrm>
              <a:off x="8082026" y="2014601"/>
              <a:ext cx="3562350" cy="1828800"/>
            </a:xfrm>
            <a:custGeom>
              <a:avLst/>
              <a:gdLst/>
              <a:ahLst/>
              <a:cxnLst/>
              <a:rect l="l" t="t" r="r" b="b"/>
              <a:pathLst>
                <a:path w="3562350" h="1828800">
                  <a:moveTo>
                    <a:pt x="3489071" y="0"/>
                  </a:moveTo>
                  <a:lnTo>
                    <a:pt x="73151" y="0"/>
                  </a:lnTo>
                  <a:lnTo>
                    <a:pt x="44630" y="5732"/>
                  </a:lnTo>
                  <a:lnTo>
                    <a:pt x="21383" y="21383"/>
                  </a:lnTo>
                  <a:lnTo>
                    <a:pt x="5732" y="44630"/>
                  </a:lnTo>
                  <a:lnTo>
                    <a:pt x="0" y="73151"/>
                  </a:lnTo>
                  <a:lnTo>
                    <a:pt x="0" y="1755521"/>
                  </a:lnTo>
                  <a:lnTo>
                    <a:pt x="5732" y="1784042"/>
                  </a:lnTo>
                  <a:lnTo>
                    <a:pt x="21383" y="1807289"/>
                  </a:lnTo>
                  <a:lnTo>
                    <a:pt x="44630" y="1822940"/>
                  </a:lnTo>
                  <a:lnTo>
                    <a:pt x="73151" y="1828673"/>
                  </a:lnTo>
                  <a:lnTo>
                    <a:pt x="3489071" y="1828673"/>
                  </a:lnTo>
                  <a:lnTo>
                    <a:pt x="3517612" y="1822940"/>
                  </a:lnTo>
                  <a:lnTo>
                    <a:pt x="3540902" y="1807289"/>
                  </a:lnTo>
                  <a:lnTo>
                    <a:pt x="3556597" y="1784042"/>
                  </a:lnTo>
                  <a:lnTo>
                    <a:pt x="3562350" y="1755521"/>
                  </a:lnTo>
                  <a:lnTo>
                    <a:pt x="3562350" y="73151"/>
                  </a:lnTo>
                  <a:lnTo>
                    <a:pt x="3556597" y="44630"/>
                  </a:lnTo>
                  <a:lnTo>
                    <a:pt x="3540902" y="21383"/>
                  </a:lnTo>
                  <a:lnTo>
                    <a:pt x="3517612" y="5732"/>
                  </a:lnTo>
                  <a:lnTo>
                    <a:pt x="34890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82026" y="2014601"/>
              <a:ext cx="3562350" cy="1828800"/>
            </a:xfrm>
            <a:custGeom>
              <a:avLst/>
              <a:gdLst/>
              <a:ahLst/>
              <a:cxnLst/>
              <a:rect l="l" t="t" r="r" b="b"/>
              <a:pathLst>
                <a:path w="3562350" h="1828800">
                  <a:moveTo>
                    <a:pt x="0" y="73151"/>
                  </a:moveTo>
                  <a:lnTo>
                    <a:pt x="5732" y="44630"/>
                  </a:lnTo>
                  <a:lnTo>
                    <a:pt x="21383" y="21383"/>
                  </a:lnTo>
                  <a:lnTo>
                    <a:pt x="44630" y="5732"/>
                  </a:lnTo>
                  <a:lnTo>
                    <a:pt x="73151" y="0"/>
                  </a:lnTo>
                  <a:lnTo>
                    <a:pt x="3489071" y="0"/>
                  </a:lnTo>
                  <a:lnTo>
                    <a:pt x="3517612" y="5732"/>
                  </a:lnTo>
                  <a:lnTo>
                    <a:pt x="3540902" y="21383"/>
                  </a:lnTo>
                  <a:lnTo>
                    <a:pt x="3556597" y="44630"/>
                  </a:lnTo>
                  <a:lnTo>
                    <a:pt x="3562350" y="73151"/>
                  </a:lnTo>
                  <a:lnTo>
                    <a:pt x="3562350" y="1755521"/>
                  </a:lnTo>
                  <a:lnTo>
                    <a:pt x="3556597" y="1784042"/>
                  </a:lnTo>
                  <a:lnTo>
                    <a:pt x="3540902" y="1807289"/>
                  </a:lnTo>
                  <a:lnTo>
                    <a:pt x="3517612" y="1822940"/>
                  </a:lnTo>
                  <a:lnTo>
                    <a:pt x="3489071" y="1828673"/>
                  </a:lnTo>
                  <a:lnTo>
                    <a:pt x="73151" y="1828673"/>
                  </a:lnTo>
                  <a:lnTo>
                    <a:pt x="44630" y="1822940"/>
                  </a:lnTo>
                  <a:lnTo>
                    <a:pt x="21383" y="1807289"/>
                  </a:lnTo>
                  <a:lnTo>
                    <a:pt x="5732" y="1784042"/>
                  </a:lnTo>
                  <a:lnTo>
                    <a:pt x="0" y="1755521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15376" y="2109851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lnTo>
                    <a:pt x="161472" y="5529"/>
                  </a:lnTo>
                  <a:lnTo>
                    <a:pt x="117354" y="21282"/>
                  </a:lnTo>
                  <a:lnTo>
                    <a:pt x="78448" y="46006"/>
                  </a:lnTo>
                  <a:lnTo>
                    <a:pt x="46006" y="78448"/>
                  </a:lnTo>
                  <a:lnTo>
                    <a:pt x="21282" y="117354"/>
                  </a:lnTo>
                  <a:lnTo>
                    <a:pt x="5529" y="161472"/>
                  </a:lnTo>
                  <a:lnTo>
                    <a:pt x="0" y="209550"/>
                  </a:lnTo>
                  <a:lnTo>
                    <a:pt x="5529" y="257587"/>
                  </a:lnTo>
                  <a:lnTo>
                    <a:pt x="21282" y="301689"/>
                  </a:lnTo>
                  <a:lnTo>
                    <a:pt x="46006" y="340598"/>
                  </a:lnTo>
                  <a:lnTo>
                    <a:pt x="78448" y="373053"/>
                  </a:lnTo>
                  <a:lnTo>
                    <a:pt x="117354" y="397795"/>
                  </a:lnTo>
                  <a:lnTo>
                    <a:pt x="161472" y="413563"/>
                  </a:lnTo>
                  <a:lnTo>
                    <a:pt x="209550" y="419100"/>
                  </a:lnTo>
                  <a:lnTo>
                    <a:pt x="257587" y="413563"/>
                  </a:lnTo>
                  <a:lnTo>
                    <a:pt x="301689" y="397795"/>
                  </a:lnTo>
                  <a:lnTo>
                    <a:pt x="340598" y="373053"/>
                  </a:lnTo>
                  <a:lnTo>
                    <a:pt x="373053" y="340598"/>
                  </a:lnTo>
                  <a:lnTo>
                    <a:pt x="397795" y="301689"/>
                  </a:lnTo>
                  <a:lnTo>
                    <a:pt x="413563" y="257587"/>
                  </a:lnTo>
                  <a:lnTo>
                    <a:pt x="419100" y="209550"/>
                  </a:lnTo>
                  <a:lnTo>
                    <a:pt x="413563" y="161472"/>
                  </a:lnTo>
                  <a:lnTo>
                    <a:pt x="397795" y="117354"/>
                  </a:lnTo>
                  <a:lnTo>
                    <a:pt x="373053" y="78448"/>
                  </a:lnTo>
                  <a:lnTo>
                    <a:pt x="340598" y="46006"/>
                  </a:lnTo>
                  <a:lnTo>
                    <a:pt x="301689" y="21282"/>
                  </a:lnTo>
                  <a:lnTo>
                    <a:pt x="257587" y="5529"/>
                  </a:lnTo>
                  <a:lnTo>
                    <a:pt x="209550" y="0"/>
                  </a:lnTo>
                  <a:close/>
                </a:path>
              </a:pathLst>
            </a:custGeom>
            <a:solidFill>
              <a:srgbClr val="006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15376" y="2109851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0" y="209550"/>
                  </a:moveTo>
                  <a:lnTo>
                    <a:pt x="5529" y="161472"/>
                  </a:lnTo>
                  <a:lnTo>
                    <a:pt x="21282" y="117354"/>
                  </a:lnTo>
                  <a:lnTo>
                    <a:pt x="46006" y="78448"/>
                  </a:lnTo>
                  <a:lnTo>
                    <a:pt x="78448" y="46006"/>
                  </a:lnTo>
                  <a:lnTo>
                    <a:pt x="117354" y="21282"/>
                  </a:lnTo>
                  <a:lnTo>
                    <a:pt x="161472" y="5529"/>
                  </a:lnTo>
                  <a:lnTo>
                    <a:pt x="209550" y="0"/>
                  </a:lnTo>
                  <a:lnTo>
                    <a:pt x="257587" y="5529"/>
                  </a:lnTo>
                  <a:lnTo>
                    <a:pt x="301689" y="21282"/>
                  </a:lnTo>
                  <a:lnTo>
                    <a:pt x="340598" y="46006"/>
                  </a:lnTo>
                  <a:lnTo>
                    <a:pt x="373053" y="78448"/>
                  </a:lnTo>
                  <a:lnTo>
                    <a:pt x="397795" y="117354"/>
                  </a:lnTo>
                  <a:lnTo>
                    <a:pt x="413563" y="161472"/>
                  </a:lnTo>
                  <a:lnTo>
                    <a:pt x="419100" y="209550"/>
                  </a:lnTo>
                  <a:lnTo>
                    <a:pt x="413563" y="257587"/>
                  </a:lnTo>
                  <a:lnTo>
                    <a:pt x="397795" y="301689"/>
                  </a:lnTo>
                  <a:lnTo>
                    <a:pt x="373053" y="340598"/>
                  </a:lnTo>
                  <a:lnTo>
                    <a:pt x="340598" y="373053"/>
                  </a:lnTo>
                  <a:lnTo>
                    <a:pt x="301689" y="397795"/>
                  </a:lnTo>
                  <a:lnTo>
                    <a:pt x="257587" y="413563"/>
                  </a:lnTo>
                  <a:lnTo>
                    <a:pt x="209550" y="419100"/>
                  </a:lnTo>
                  <a:lnTo>
                    <a:pt x="161472" y="413563"/>
                  </a:lnTo>
                  <a:lnTo>
                    <a:pt x="117354" y="397795"/>
                  </a:lnTo>
                  <a:lnTo>
                    <a:pt x="78448" y="373053"/>
                  </a:lnTo>
                  <a:lnTo>
                    <a:pt x="46006" y="340598"/>
                  </a:lnTo>
                  <a:lnTo>
                    <a:pt x="21282" y="301689"/>
                  </a:lnTo>
                  <a:lnTo>
                    <a:pt x="5529" y="257587"/>
                  </a:lnTo>
                  <a:lnTo>
                    <a:pt x="0" y="209550"/>
                  </a:lnTo>
                  <a:close/>
                </a:path>
              </a:pathLst>
            </a:custGeom>
            <a:ln w="6350">
              <a:solidFill>
                <a:srgbClr val="0069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 descr="preencoded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5325" y="2209800"/>
              <a:ext cx="209550" cy="20955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232393" y="2071052"/>
            <a:ext cx="3310254" cy="11455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534035" marR="5080">
              <a:lnSpc>
                <a:spcPct val="102800"/>
              </a:lnSpc>
              <a:spcBef>
                <a:spcPts val="80"/>
              </a:spcBef>
            </a:pP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What</a:t>
            </a:r>
            <a:r>
              <a:rPr sz="1400" b="1" spc="-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successful</a:t>
            </a:r>
            <a:r>
              <a:rPr sz="1400" b="1" spc="-3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improvement</a:t>
            </a:r>
            <a:r>
              <a:rPr sz="1400" b="1" spc="-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should </a:t>
            </a:r>
            <a:r>
              <a:rPr sz="1400" b="1" dirty="0">
                <a:solidFill>
                  <a:srgbClr val="00695A"/>
                </a:solidFill>
                <a:latin typeface="Calibri"/>
                <a:cs typeface="Calibri"/>
              </a:rPr>
              <a:t>you</a:t>
            </a:r>
            <a:r>
              <a:rPr sz="1400" b="1" spc="-1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695A"/>
                </a:solidFill>
                <a:latin typeface="Calibri"/>
                <a:cs typeface="Calibri"/>
              </a:rPr>
              <a:t>achieve</a:t>
            </a:r>
            <a:endParaRPr sz="1400">
              <a:latin typeface="Calibri"/>
              <a:cs typeface="Calibri"/>
            </a:endParaRPr>
          </a:p>
          <a:p>
            <a:pPr marL="12700" marR="268605">
              <a:lnSpc>
                <a:spcPct val="100000"/>
              </a:lnSpc>
              <a:spcBef>
                <a:spcPts val="875"/>
              </a:spcBef>
            </a:pP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An</a:t>
            </a:r>
            <a:r>
              <a:rPr sz="125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evaluator</a:t>
            </a:r>
            <a:r>
              <a:rPr sz="125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could</a:t>
            </a:r>
            <a:r>
              <a:rPr sz="125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test</a:t>
            </a:r>
            <a:r>
              <a:rPr sz="1250" spc="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three</a:t>
            </a:r>
            <a:r>
              <a:rPr sz="125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cases: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50" spc="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patient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match</a:t>
            </a:r>
            <a:r>
              <a:rPr sz="125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25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found,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no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reliable</a:t>
            </a:r>
            <a:r>
              <a:rPr sz="125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match</a:t>
            </a:r>
            <a:r>
              <a:rPr sz="125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exists,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or</a:t>
            </a:r>
            <a:r>
              <a:rPr sz="1250" spc="-7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0A4F49"/>
                </a:solidFill>
                <a:latin typeface="Calibri"/>
                <a:cs typeface="Calibri"/>
              </a:rPr>
              <a:t>the </a:t>
            </a:r>
            <a:r>
              <a:rPr sz="1250" spc="-10" dirty="0">
                <a:solidFill>
                  <a:srgbClr val="0A4F49"/>
                </a:solidFill>
                <a:latin typeface="Calibri"/>
                <a:cs typeface="Calibri"/>
              </a:rPr>
              <a:t>internet</a:t>
            </a:r>
            <a:r>
              <a:rPr sz="1250" spc="-5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connection</a:t>
            </a:r>
            <a:r>
              <a:rPr sz="125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A4F49"/>
                </a:solidFill>
                <a:latin typeface="Calibri"/>
                <a:cs typeface="Calibri"/>
              </a:rPr>
              <a:t>is</a:t>
            </a:r>
            <a:r>
              <a:rPr sz="125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solidFill>
                  <a:srgbClr val="0A4F49"/>
                </a:solidFill>
                <a:latin typeface="Calibri"/>
                <a:cs typeface="Calibri"/>
              </a:rPr>
              <a:t>lost.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0862" y="4275201"/>
            <a:ext cx="2070735" cy="1298575"/>
            <a:chOff x="550862" y="4275201"/>
            <a:chExt cx="2070735" cy="1298575"/>
          </a:xfrm>
        </p:grpSpPr>
        <p:sp>
          <p:nvSpPr>
            <p:cNvPr id="31" name="object 31"/>
            <p:cNvSpPr/>
            <p:nvPr/>
          </p:nvSpPr>
          <p:spPr>
            <a:xfrm>
              <a:off x="557212" y="4281551"/>
              <a:ext cx="2058035" cy="1285875"/>
            </a:xfrm>
            <a:custGeom>
              <a:avLst/>
              <a:gdLst/>
              <a:ahLst/>
              <a:cxnLst/>
              <a:rect l="l" t="t" r="r" b="b"/>
              <a:pathLst>
                <a:path w="2058035" h="1285875">
                  <a:moveTo>
                    <a:pt x="1983930" y="0"/>
                  </a:moveTo>
                  <a:lnTo>
                    <a:pt x="73482" y="0"/>
                  </a:lnTo>
                  <a:lnTo>
                    <a:pt x="44877" y="5772"/>
                  </a:lnTo>
                  <a:lnTo>
                    <a:pt x="21520" y="21510"/>
                  </a:lnTo>
                  <a:lnTo>
                    <a:pt x="5773" y="44844"/>
                  </a:lnTo>
                  <a:lnTo>
                    <a:pt x="0" y="73406"/>
                  </a:lnTo>
                  <a:lnTo>
                    <a:pt x="0" y="1212342"/>
                  </a:lnTo>
                  <a:lnTo>
                    <a:pt x="5773" y="1240922"/>
                  </a:lnTo>
                  <a:lnTo>
                    <a:pt x="21520" y="1264300"/>
                  </a:lnTo>
                  <a:lnTo>
                    <a:pt x="44877" y="1280082"/>
                  </a:lnTo>
                  <a:lnTo>
                    <a:pt x="73482" y="1285875"/>
                  </a:lnTo>
                  <a:lnTo>
                    <a:pt x="1983930" y="1285875"/>
                  </a:lnTo>
                  <a:lnTo>
                    <a:pt x="2012511" y="1280082"/>
                  </a:lnTo>
                  <a:lnTo>
                    <a:pt x="2035889" y="1264300"/>
                  </a:lnTo>
                  <a:lnTo>
                    <a:pt x="2051671" y="1240922"/>
                  </a:lnTo>
                  <a:lnTo>
                    <a:pt x="2057463" y="1212342"/>
                  </a:lnTo>
                  <a:lnTo>
                    <a:pt x="2057463" y="73406"/>
                  </a:lnTo>
                  <a:lnTo>
                    <a:pt x="2051671" y="44844"/>
                  </a:lnTo>
                  <a:lnTo>
                    <a:pt x="2035889" y="21510"/>
                  </a:lnTo>
                  <a:lnTo>
                    <a:pt x="2012511" y="5772"/>
                  </a:lnTo>
                  <a:lnTo>
                    <a:pt x="1983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7212" y="4281551"/>
              <a:ext cx="2058035" cy="1285875"/>
            </a:xfrm>
            <a:custGeom>
              <a:avLst/>
              <a:gdLst/>
              <a:ahLst/>
              <a:cxnLst/>
              <a:rect l="l" t="t" r="r" b="b"/>
              <a:pathLst>
                <a:path w="2058035" h="1285875">
                  <a:moveTo>
                    <a:pt x="0" y="73406"/>
                  </a:moveTo>
                  <a:lnTo>
                    <a:pt x="5773" y="44844"/>
                  </a:lnTo>
                  <a:lnTo>
                    <a:pt x="21520" y="21510"/>
                  </a:lnTo>
                  <a:lnTo>
                    <a:pt x="44877" y="5772"/>
                  </a:lnTo>
                  <a:lnTo>
                    <a:pt x="73482" y="0"/>
                  </a:lnTo>
                  <a:lnTo>
                    <a:pt x="1983930" y="0"/>
                  </a:lnTo>
                  <a:lnTo>
                    <a:pt x="2012511" y="5772"/>
                  </a:lnTo>
                  <a:lnTo>
                    <a:pt x="2035889" y="21510"/>
                  </a:lnTo>
                  <a:lnTo>
                    <a:pt x="2051671" y="44844"/>
                  </a:lnTo>
                  <a:lnTo>
                    <a:pt x="2057463" y="73406"/>
                  </a:lnTo>
                  <a:lnTo>
                    <a:pt x="2057463" y="1212342"/>
                  </a:lnTo>
                  <a:lnTo>
                    <a:pt x="2051671" y="1240922"/>
                  </a:lnTo>
                  <a:lnTo>
                    <a:pt x="2035889" y="1264300"/>
                  </a:lnTo>
                  <a:lnTo>
                    <a:pt x="2012511" y="1280082"/>
                  </a:lnTo>
                  <a:lnTo>
                    <a:pt x="1983930" y="1285875"/>
                  </a:lnTo>
                  <a:lnTo>
                    <a:pt x="73482" y="1285875"/>
                  </a:lnTo>
                  <a:lnTo>
                    <a:pt x="44877" y="1280082"/>
                  </a:lnTo>
                  <a:lnTo>
                    <a:pt x="21520" y="1264300"/>
                  </a:lnTo>
                  <a:lnTo>
                    <a:pt x="5773" y="1240922"/>
                  </a:lnTo>
                  <a:lnTo>
                    <a:pt x="0" y="1212342"/>
                  </a:lnTo>
                  <a:lnTo>
                    <a:pt x="0" y="73406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2937" y="4357751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112" y="0"/>
                  </a:moveTo>
                  <a:lnTo>
                    <a:pt x="94458" y="7029"/>
                  </a:lnTo>
                  <a:lnTo>
                    <a:pt x="56545" y="26611"/>
                  </a:lnTo>
                  <a:lnTo>
                    <a:pt x="26648" y="56482"/>
                  </a:lnTo>
                  <a:lnTo>
                    <a:pt x="7041" y="94382"/>
                  </a:lnTo>
                  <a:lnTo>
                    <a:pt x="0" y="138049"/>
                  </a:lnTo>
                  <a:lnTo>
                    <a:pt x="7041" y="181728"/>
                  </a:lnTo>
                  <a:lnTo>
                    <a:pt x="26648" y="219660"/>
                  </a:lnTo>
                  <a:lnTo>
                    <a:pt x="56545" y="249569"/>
                  </a:lnTo>
                  <a:lnTo>
                    <a:pt x="94458" y="269182"/>
                  </a:lnTo>
                  <a:lnTo>
                    <a:pt x="138112" y="276225"/>
                  </a:lnTo>
                  <a:lnTo>
                    <a:pt x="181766" y="269182"/>
                  </a:lnTo>
                  <a:lnTo>
                    <a:pt x="219679" y="249569"/>
                  </a:lnTo>
                  <a:lnTo>
                    <a:pt x="249576" y="219660"/>
                  </a:lnTo>
                  <a:lnTo>
                    <a:pt x="269183" y="181728"/>
                  </a:lnTo>
                  <a:lnTo>
                    <a:pt x="276225" y="138049"/>
                  </a:lnTo>
                  <a:lnTo>
                    <a:pt x="269183" y="94382"/>
                  </a:lnTo>
                  <a:lnTo>
                    <a:pt x="249576" y="56482"/>
                  </a:lnTo>
                  <a:lnTo>
                    <a:pt x="219679" y="26611"/>
                  </a:lnTo>
                  <a:lnTo>
                    <a:pt x="181766" y="7029"/>
                  </a:lnTo>
                  <a:lnTo>
                    <a:pt x="138112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2937" y="4357751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138049"/>
                  </a:moveTo>
                  <a:lnTo>
                    <a:pt x="7041" y="94382"/>
                  </a:lnTo>
                  <a:lnTo>
                    <a:pt x="26648" y="56482"/>
                  </a:lnTo>
                  <a:lnTo>
                    <a:pt x="56545" y="26611"/>
                  </a:lnTo>
                  <a:lnTo>
                    <a:pt x="94458" y="7029"/>
                  </a:lnTo>
                  <a:lnTo>
                    <a:pt x="138112" y="0"/>
                  </a:lnTo>
                  <a:lnTo>
                    <a:pt x="181766" y="7029"/>
                  </a:lnTo>
                  <a:lnTo>
                    <a:pt x="219679" y="26611"/>
                  </a:lnTo>
                  <a:lnTo>
                    <a:pt x="249576" y="56482"/>
                  </a:lnTo>
                  <a:lnTo>
                    <a:pt x="269183" y="94382"/>
                  </a:lnTo>
                  <a:lnTo>
                    <a:pt x="276225" y="138049"/>
                  </a:lnTo>
                  <a:lnTo>
                    <a:pt x="269183" y="181728"/>
                  </a:lnTo>
                  <a:lnTo>
                    <a:pt x="249576" y="219660"/>
                  </a:lnTo>
                  <a:lnTo>
                    <a:pt x="219679" y="249569"/>
                  </a:lnTo>
                  <a:lnTo>
                    <a:pt x="181766" y="269182"/>
                  </a:lnTo>
                  <a:lnTo>
                    <a:pt x="138112" y="276225"/>
                  </a:lnTo>
                  <a:lnTo>
                    <a:pt x="94458" y="269182"/>
                  </a:lnTo>
                  <a:lnTo>
                    <a:pt x="56545" y="249569"/>
                  </a:lnTo>
                  <a:lnTo>
                    <a:pt x="26648" y="219660"/>
                  </a:lnTo>
                  <a:lnTo>
                    <a:pt x="7041" y="181728"/>
                  </a:lnTo>
                  <a:lnTo>
                    <a:pt x="0" y="138049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46112" y="4693348"/>
            <a:ext cx="1585595" cy="57150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An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authorised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healthcare worker</a:t>
            </a:r>
            <a:r>
              <a:rPr sz="1200" spc="-4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initiates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the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emergency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workflow.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630551" y="4275201"/>
            <a:ext cx="2247900" cy="1298575"/>
            <a:chOff x="2630551" y="4275201"/>
            <a:chExt cx="2247900" cy="1298575"/>
          </a:xfrm>
        </p:grpSpPr>
        <p:sp>
          <p:nvSpPr>
            <p:cNvPr id="37" name="object 37"/>
            <p:cNvSpPr/>
            <p:nvPr/>
          </p:nvSpPr>
          <p:spPr>
            <a:xfrm>
              <a:off x="2633726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33726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814701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1983866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1212342"/>
                  </a:lnTo>
                  <a:lnTo>
                    <a:pt x="5772" y="1240922"/>
                  </a:lnTo>
                  <a:lnTo>
                    <a:pt x="21510" y="1264300"/>
                  </a:lnTo>
                  <a:lnTo>
                    <a:pt x="44844" y="1280082"/>
                  </a:lnTo>
                  <a:lnTo>
                    <a:pt x="73406" y="1285875"/>
                  </a:lnTo>
                  <a:lnTo>
                    <a:pt x="1983866" y="1285875"/>
                  </a:lnTo>
                  <a:lnTo>
                    <a:pt x="2012447" y="1280082"/>
                  </a:lnTo>
                  <a:lnTo>
                    <a:pt x="2035825" y="1264300"/>
                  </a:lnTo>
                  <a:lnTo>
                    <a:pt x="2051607" y="1240922"/>
                  </a:lnTo>
                  <a:lnTo>
                    <a:pt x="2057400" y="1212342"/>
                  </a:lnTo>
                  <a:lnTo>
                    <a:pt x="2057400" y="73406"/>
                  </a:lnTo>
                  <a:lnTo>
                    <a:pt x="2051607" y="44844"/>
                  </a:lnTo>
                  <a:lnTo>
                    <a:pt x="2035825" y="21510"/>
                  </a:lnTo>
                  <a:lnTo>
                    <a:pt x="2012447" y="5772"/>
                  </a:lnTo>
                  <a:lnTo>
                    <a:pt x="19838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14701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6" y="0"/>
                  </a:lnTo>
                  <a:lnTo>
                    <a:pt x="1983866" y="0"/>
                  </a:lnTo>
                  <a:lnTo>
                    <a:pt x="2012447" y="5772"/>
                  </a:lnTo>
                  <a:lnTo>
                    <a:pt x="2035825" y="21510"/>
                  </a:lnTo>
                  <a:lnTo>
                    <a:pt x="2051607" y="44844"/>
                  </a:lnTo>
                  <a:lnTo>
                    <a:pt x="2057400" y="73406"/>
                  </a:lnTo>
                  <a:lnTo>
                    <a:pt x="2057400" y="1212342"/>
                  </a:lnTo>
                  <a:lnTo>
                    <a:pt x="2051607" y="1240922"/>
                  </a:lnTo>
                  <a:lnTo>
                    <a:pt x="2035825" y="1264300"/>
                  </a:lnTo>
                  <a:lnTo>
                    <a:pt x="2012447" y="1280082"/>
                  </a:lnTo>
                  <a:lnTo>
                    <a:pt x="1983866" y="1285875"/>
                  </a:lnTo>
                  <a:lnTo>
                    <a:pt x="73406" y="1285875"/>
                  </a:lnTo>
                  <a:lnTo>
                    <a:pt x="44844" y="1280082"/>
                  </a:lnTo>
                  <a:lnTo>
                    <a:pt x="21510" y="1264300"/>
                  </a:lnTo>
                  <a:lnTo>
                    <a:pt x="5772" y="1240922"/>
                  </a:lnTo>
                  <a:lnTo>
                    <a:pt x="0" y="1212342"/>
                  </a:lnTo>
                  <a:lnTo>
                    <a:pt x="0" y="73406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00426" y="4357751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049" y="0"/>
                  </a:moveTo>
                  <a:lnTo>
                    <a:pt x="94382" y="7029"/>
                  </a:lnTo>
                  <a:lnTo>
                    <a:pt x="56482" y="26611"/>
                  </a:lnTo>
                  <a:lnTo>
                    <a:pt x="26611" y="56482"/>
                  </a:lnTo>
                  <a:lnTo>
                    <a:pt x="7029" y="94382"/>
                  </a:lnTo>
                  <a:lnTo>
                    <a:pt x="0" y="138049"/>
                  </a:lnTo>
                  <a:lnTo>
                    <a:pt x="7029" y="181728"/>
                  </a:lnTo>
                  <a:lnTo>
                    <a:pt x="26611" y="219660"/>
                  </a:lnTo>
                  <a:lnTo>
                    <a:pt x="56482" y="249569"/>
                  </a:lnTo>
                  <a:lnTo>
                    <a:pt x="94382" y="269182"/>
                  </a:lnTo>
                  <a:lnTo>
                    <a:pt x="138049" y="276225"/>
                  </a:lnTo>
                  <a:lnTo>
                    <a:pt x="181728" y="269182"/>
                  </a:lnTo>
                  <a:lnTo>
                    <a:pt x="219660" y="249569"/>
                  </a:lnTo>
                  <a:lnTo>
                    <a:pt x="249569" y="219660"/>
                  </a:lnTo>
                  <a:lnTo>
                    <a:pt x="269182" y="181728"/>
                  </a:lnTo>
                  <a:lnTo>
                    <a:pt x="276225" y="138049"/>
                  </a:lnTo>
                  <a:lnTo>
                    <a:pt x="269182" y="94382"/>
                  </a:lnTo>
                  <a:lnTo>
                    <a:pt x="249569" y="56482"/>
                  </a:lnTo>
                  <a:lnTo>
                    <a:pt x="219660" y="26611"/>
                  </a:lnTo>
                  <a:lnTo>
                    <a:pt x="181728" y="7029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00426" y="4357751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138049"/>
                  </a:moveTo>
                  <a:lnTo>
                    <a:pt x="7029" y="94382"/>
                  </a:lnTo>
                  <a:lnTo>
                    <a:pt x="26611" y="56482"/>
                  </a:lnTo>
                  <a:lnTo>
                    <a:pt x="56482" y="26611"/>
                  </a:lnTo>
                  <a:lnTo>
                    <a:pt x="94382" y="7029"/>
                  </a:lnTo>
                  <a:lnTo>
                    <a:pt x="138049" y="0"/>
                  </a:lnTo>
                  <a:lnTo>
                    <a:pt x="181728" y="7029"/>
                  </a:lnTo>
                  <a:lnTo>
                    <a:pt x="219660" y="26611"/>
                  </a:lnTo>
                  <a:lnTo>
                    <a:pt x="249569" y="56482"/>
                  </a:lnTo>
                  <a:lnTo>
                    <a:pt x="269182" y="94382"/>
                  </a:lnTo>
                  <a:lnTo>
                    <a:pt x="276225" y="138049"/>
                  </a:lnTo>
                  <a:lnTo>
                    <a:pt x="269182" y="181728"/>
                  </a:lnTo>
                  <a:lnTo>
                    <a:pt x="249569" y="219660"/>
                  </a:lnTo>
                  <a:lnTo>
                    <a:pt x="219660" y="249569"/>
                  </a:lnTo>
                  <a:lnTo>
                    <a:pt x="181728" y="269182"/>
                  </a:lnTo>
                  <a:lnTo>
                    <a:pt x="138049" y="276225"/>
                  </a:lnTo>
                  <a:lnTo>
                    <a:pt x="94382" y="269182"/>
                  </a:lnTo>
                  <a:lnTo>
                    <a:pt x="56482" y="249569"/>
                  </a:lnTo>
                  <a:lnTo>
                    <a:pt x="26611" y="219660"/>
                  </a:lnTo>
                  <a:lnTo>
                    <a:pt x="7029" y="181728"/>
                  </a:lnTo>
                  <a:lnTo>
                    <a:pt x="0" y="138049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36257" y="3956367"/>
            <a:ext cx="4199255" cy="63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Ravi’s</a:t>
            </a:r>
            <a:r>
              <a:rPr sz="1500" b="1" spc="-7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story</a:t>
            </a:r>
            <a:r>
              <a:rPr sz="1500" b="1" spc="-3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with</a:t>
            </a:r>
            <a:r>
              <a:rPr sz="1500" b="1" spc="2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SwasthyaLedger </a:t>
            </a: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(a</a:t>
            </a:r>
            <a:r>
              <a:rPr sz="1500" b="1" spc="-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695A"/>
                </a:solidFill>
                <a:latin typeface="Calibri"/>
                <a:cs typeface="Calibri"/>
              </a:rPr>
              <a:t>fictional</a:t>
            </a:r>
            <a:r>
              <a:rPr sz="1500" b="1" spc="-6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0695A"/>
                </a:solidFill>
                <a:latin typeface="Calibri"/>
                <a:cs typeface="Calibri"/>
              </a:rPr>
              <a:t>patient)</a:t>
            </a:r>
            <a:endParaRPr sz="1500">
              <a:latin typeface="Calibri"/>
              <a:cs typeface="Calibri"/>
            </a:endParaRPr>
          </a:p>
          <a:p>
            <a:pPr marL="205104">
              <a:lnSpc>
                <a:spcPct val="100000"/>
              </a:lnSpc>
              <a:spcBef>
                <a:spcPts val="1555"/>
              </a:spcBef>
              <a:tabLst>
                <a:tab pos="451484" algn="l"/>
                <a:tab pos="2465705" algn="l"/>
                <a:tab pos="2712085" algn="l"/>
              </a:tabLst>
            </a:pPr>
            <a:r>
              <a:rPr sz="1100" b="1" spc="-50" dirty="0">
                <a:solidFill>
                  <a:srgbClr val="042B33"/>
                </a:solidFill>
                <a:latin typeface="Calibri"/>
                <a:cs typeface="Calibri"/>
              </a:rPr>
              <a:t>1</a:t>
            </a:r>
            <a:r>
              <a:rPr sz="1100" b="1" dirty="0">
                <a:solidFill>
                  <a:srgbClr val="042B33"/>
                </a:solidFill>
                <a:latin typeface="Calibri"/>
                <a:cs typeface="Calibri"/>
              </a:rPr>
              <a:t>	</a:t>
            </a:r>
            <a:r>
              <a:rPr sz="1200" b="1" spc="-10" dirty="0">
                <a:solidFill>
                  <a:srgbClr val="00695A"/>
                </a:solidFill>
                <a:latin typeface="Calibri"/>
                <a:cs typeface="Calibri"/>
              </a:rPr>
              <a:t>Identification</a:t>
            </a:r>
            <a:r>
              <a:rPr sz="1200" b="1" spc="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695A"/>
                </a:solidFill>
                <a:latin typeface="Calibri"/>
                <a:cs typeface="Calibri"/>
              </a:rPr>
              <a:t>attempt</a:t>
            </a:r>
            <a:r>
              <a:rPr sz="1200" b="1" dirty="0">
                <a:solidFill>
                  <a:srgbClr val="00695A"/>
                </a:solidFill>
                <a:latin typeface="Calibri"/>
                <a:cs typeface="Calibri"/>
              </a:rPr>
              <a:t>	</a:t>
            </a:r>
            <a:r>
              <a:rPr sz="1100" b="1" spc="-50" dirty="0">
                <a:solidFill>
                  <a:srgbClr val="042B33"/>
                </a:solidFill>
                <a:latin typeface="Calibri"/>
                <a:cs typeface="Calibri"/>
              </a:rPr>
              <a:t>2</a:t>
            </a:r>
            <a:r>
              <a:rPr sz="1100" b="1" dirty="0">
                <a:solidFill>
                  <a:srgbClr val="042B33"/>
                </a:solidFill>
                <a:latin typeface="Calibri"/>
                <a:cs typeface="Calibri"/>
              </a:rPr>
              <a:t>	</a:t>
            </a:r>
            <a:r>
              <a:rPr sz="1200" b="1" spc="-10" dirty="0">
                <a:solidFill>
                  <a:srgbClr val="00695A"/>
                </a:solidFill>
                <a:latin typeface="Calibri"/>
                <a:cs typeface="Calibri"/>
              </a:rPr>
              <a:t>Verification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06395" y="4693348"/>
            <a:ext cx="152654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system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 marks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it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as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0A4F49"/>
                </a:solidFill>
                <a:latin typeface="Calibri"/>
                <a:cs typeface="Calibri"/>
              </a:rPr>
              <a:t>a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possible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match.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887976" y="4275201"/>
            <a:ext cx="2247900" cy="1298575"/>
            <a:chOff x="4887976" y="4275201"/>
            <a:chExt cx="2247900" cy="1298575"/>
          </a:xfrm>
        </p:grpSpPr>
        <p:sp>
          <p:nvSpPr>
            <p:cNvPr id="46" name="object 46"/>
            <p:cNvSpPr/>
            <p:nvPr/>
          </p:nvSpPr>
          <p:spPr>
            <a:xfrm>
              <a:off x="4891151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891151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072126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1983867" y="0"/>
                  </a:moveTo>
                  <a:lnTo>
                    <a:pt x="73406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1212342"/>
                  </a:lnTo>
                  <a:lnTo>
                    <a:pt x="5772" y="1240922"/>
                  </a:lnTo>
                  <a:lnTo>
                    <a:pt x="21510" y="1264300"/>
                  </a:lnTo>
                  <a:lnTo>
                    <a:pt x="44844" y="1280082"/>
                  </a:lnTo>
                  <a:lnTo>
                    <a:pt x="73406" y="1285875"/>
                  </a:lnTo>
                  <a:lnTo>
                    <a:pt x="1983867" y="1285875"/>
                  </a:lnTo>
                  <a:lnTo>
                    <a:pt x="2012447" y="1280082"/>
                  </a:lnTo>
                  <a:lnTo>
                    <a:pt x="2035825" y="1264300"/>
                  </a:lnTo>
                  <a:lnTo>
                    <a:pt x="2051607" y="1240922"/>
                  </a:lnTo>
                  <a:lnTo>
                    <a:pt x="2057400" y="1212342"/>
                  </a:lnTo>
                  <a:lnTo>
                    <a:pt x="2057400" y="73406"/>
                  </a:lnTo>
                  <a:lnTo>
                    <a:pt x="2051607" y="44844"/>
                  </a:lnTo>
                  <a:lnTo>
                    <a:pt x="2035825" y="21510"/>
                  </a:lnTo>
                  <a:lnTo>
                    <a:pt x="2012447" y="5772"/>
                  </a:lnTo>
                  <a:lnTo>
                    <a:pt x="19838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72126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6" y="0"/>
                  </a:lnTo>
                  <a:lnTo>
                    <a:pt x="1983867" y="0"/>
                  </a:lnTo>
                  <a:lnTo>
                    <a:pt x="2012447" y="5772"/>
                  </a:lnTo>
                  <a:lnTo>
                    <a:pt x="2035825" y="21510"/>
                  </a:lnTo>
                  <a:lnTo>
                    <a:pt x="2051607" y="44844"/>
                  </a:lnTo>
                  <a:lnTo>
                    <a:pt x="2057400" y="73406"/>
                  </a:lnTo>
                  <a:lnTo>
                    <a:pt x="2057400" y="1212342"/>
                  </a:lnTo>
                  <a:lnTo>
                    <a:pt x="2051607" y="1240922"/>
                  </a:lnTo>
                  <a:lnTo>
                    <a:pt x="2035825" y="1264300"/>
                  </a:lnTo>
                  <a:lnTo>
                    <a:pt x="2012447" y="1280082"/>
                  </a:lnTo>
                  <a:lnTo>
                    <a:pt x="1983867" y="1285875"/>
                  </a:lnTo>
                  <a:lnTo>
                    <a:pt x="73406" y="1285875"/>
                  </a:lnTo>
                  <a:lnTo>
                    <a:pt x="44844" y="1280082"/>
                  </a:lnTo>
                  <a:lnTo>
                    <a:pt x="21510" y="1264300"/>
                  </a:lnTo>
                  <a:lnTo>
                    <a:pt x="5772" y="1240922"/>
                  </a:lnTo>
                  <a:lnTo>
                    <a:pt x="0" y="1212342"/>
                  </a:lnTo>
                  <a:lnTo>
                    <a:pt x="0" y="73406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57851" y="4357751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049" y="0"/>
                  </a:moveTo>
                  <a:lnTo>
                    <a:pt x="94382" y="7029"/>
                  </a:lnTo>
                  <a:lnTo>
                    <a:pt x="56482" y="26611"/>
                  </a:lnTo>
                  <a:lnTo>
                    <a:pt x="26611" y="56482"/>
                  </a:lnTo>
                  <a:lnTo>
                    <a:pt x="7029" y="94382"/>
                  </a:lnTo>
                  <a:lnTo>
                    <a:pt x="0" y="138049"/>
                  </a:lnTo>
                  <a:lnTo>
                    <a:pt x="7029" y="181728"/>
                  </a:lnTo>
                  <a:lnTo>
                    <a:pt x="26611" y="219660"/>
                  </a:lnTo>
                  <a:lnTo>
                    <a:pt x="56482" y="249569"/>
                  </a:lnTo>
                  <a:lnTo>
                    <a:pt x="94382" y="269182"/>
                  </a:lnTo>
                  <a:lnTo>
                    <a:pt x="138049" y="276225"/>
                  </a:lnTo>
                  <a:lnTo>
                    <a:pt x="181728" y="269182"/>
                  </a:lnTo>
                  <a:lnTo>
                    <a:pt x="219660" y="249569"/>
                  </a:lnTo>
                  <a:lnTo>
                    <a:pt x="249569" y="219660"/>
                  </a:lnTo>
                  <a:lnTo>
                    <a:pt x="269182" y="181728"/>
                  </a:lnTo>
                  <a:lnTo>
                    <a:pt x="276225" y="138049"/>
                  </a:lnTo>
                  <a:lnTo>
                    <a:pt x="269182" y="94382"/>
                  </a:lnTo>
                  <a:lnTo>
                    <a:pt x="249569" y="56482"/>
                  </a:lnTo>
                  <a:lnTo>
                    <a:pt x="219660" y="26611"/>
                  </a:lnTo>
                  <a:lnTo>
                    <a:pt x="181728" y="7029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57851" y="4357751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138049"/>
                  </a:moveTo>
                  <a:lnTo>
                    <a:pt x="7029" y="94382"/>
                  </a:lnTo>
                  <a:lnTo>
                    <a:pt x="26611" y="56482"/>
                  </a:lnTo>
                  <a:lnTo>
                    <a:pt x="56482" y="26611"/>
                  </a:lnTo>
                  <a:lnTo>
                    <a:pt x="94382" y="7029"/>
                  </a:lnTo>
                  <a:lnTo>
                    <a:pt x="138049" y="0"/>
                  </a:lnTo>
                  <a:lnTo>
                    <a:pt x="181728" y="7029"/>
                  </a:lnTo>
                  <a:lnTo>
                    <a:pt x="219660" y="26611"/>
                  </a:lnTo>
                  <a:lnTo>
                    <a:pt x="249569" y="56482"/>
                  </a:lnTo>
                  <a:lnTo>
                    <a:pt x="269182" y="94382"/>
                  </a:lnTo>
                  <a:lnTo>
                    <a:pt x="276225" y="138049"/>
                  </a:lnTo>
                  <a:lnTo>
                    <a:pt x="269182" y="181728"/>
                  </a:lnTo>
                  <a:lnTo>
                    <a:pt x="249569" y="219660"/>
                  </a:lnTo>
                  <a:lnTo>
                    <a:pt x="219660" y="249569"/>
                  </a:lnTo>
                  <a:lnTo>
                    <a:pt x="181728" y="269182"/>
                  </a:lnTo>
                  <a:lnTo>
                    <a:pt x="138049" y="276225"/>
                  </a:lnTo>
                  <a:lnTo>
                    <a:pt x="94382" y="269182"/>
                  </a:lnTo>
                  <a:lnTo>
                    <a:pt x="56482" y="249569"/>
                  </a:lnTo>
                  <a:lnTo>
                    <a:pt x="26611" y="219660"/>
                  </a:lnTo>
                  <a:lnTo>
                    <a:pt x="7029" y="181728"/>
                  </a:lnTo>
                  <a:lnTo>
                    <a:pt x="0" y="138049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166740" y="4382389"/>
            <a:ext cx="1717675" cy="88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  <a:tabLst>
                <a:tab pos="341630" algn="l"/>
              </a:tabLst>
            </a:pPr>
            <a:r>
              <a:rPr sz="1100" b="1" spc="-50" dirty="0">
                <a:solidFill>
                  <a:srgbClr val="042B33"/>
                </a:solidFill>
                <a:latin typeface="Calibri"/>
                <a:cs typeface="Calibri"/>
              </a:rPr>
              <a:t>3</a:t>
            </a:r>
            <a:r>
              <a:rPr sz="1100" b="1" dirty="0">
                <a:solidFill>
                  <a:srgbClr val="042B33"/>
                </a:solidFill>
                <a:latin typeface="Calibri"/>
                <a:cs typeface="Calibri"/>
              </a:rPr>
              <a:t>	</a:t>
            </a:r>
            <a:r>
              <a:rPr sz="1200" b="1" dirty="0">
                <a:solidFill>
                  <a:srgbClr val="00695A"/>
                </a:solidFill>
                <a:latin typeface="Calibri"/>
                <a:cs typeface="Calibri"/>
              </a:rPr>
              <a:t>Record</a:t>
            </a:r>
            <a:r>
              <a:rPr sz="1200" b="1" spc="-5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695A"/>
                </a:solidFill>
                <a:latin typeface="Calibri"/>
                <a:cs typeface="Calibri"/>
              </a:rPr>
              <a:t>access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ts val="1430"/>
              </a:lnSpc>
              <a:spcBef>
                <a:spcPts val="106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Authorised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staff</a:t>
            </a:r>
            <a:r>
              <a:rPr sz="1200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can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review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the</a:t>
            </a:r>
            <a:r>
              <a:rPr sz="1200" spc="-6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relevant</a:t>
            </a:r>
            <a:r>
              <a:rPr sz="1200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documented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medical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 information.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145401" y="4275201"/>
            <a:ext cx="2247900" cy="1298575"/>
            <a:chOff x="7145401" y="4275201"/>
            <a:chExt cx="2247900" cy="1298575"/>
          </a:xfrm>
        </p:grpSpPr>
        <p:sp>
          <p:nvSpPr>
            <p:cNvPr id="54" name="object 54"/>
            <p:cNvSpPr/>
            <p:nvPr/>
          </p:nvSpPr>
          <p:spPr>
            <a:xfrm>
              <a:off x="7148576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148576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329551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1983867" y="0"/>
                  </a:moveTo>
                  <a:lnTo>
                    <a:pt x="73405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1212342"/>
                  </a:lnTo>
                  <a:lnTo>
                    <a:pt x="5772" y="1240922"/>
                  </a:lnTo>
                  <a:lnTo>
                    <a:pt x="21510" y="1264300"/>
                  </a:lnTo>
                  <a:lnTo>
                    <a:pt x="44844" y="1280082"/>
                  </a:lnTo>
                  <a:lnTo>
                    <a:pt x="73405" y="1285875"/>
                  </a:lnTo>
                  <a:lnTo>
                    <a:pt x="1983867" y="1285875"/>
                  </a:lnTo>
                  <a:lnTo>
                    <a:pt x="2012447" y="1280082"/>
                  </a:lnTo>
                  <a:lnTo>
                    <a:pt x="2035825" y="1264300"/>
                  </a:lnTo>
                  <a:lnTo>
                    <a:pt x="2051607" y="1240922"/>
                  </a:lnTo>
                  <a:lnTo>
                    <a:pt x="2057400" y="1212342"/>
                  </a:lnTo>
                  <a:lnTo>
                    <a:pt x="2057400" y="73406"/>
                  </a:lnTo>
                  <a:lnTo>
                    <a:pt x="2051607" y="44844"/>
                  </a:lnTo>
                  <a:lnTo>
                    <a:pt x="2035825" y="21510"/>
                  </a:lnTo>
                  <a:lnTo>
                    <a:pt x="2012447" y="5772"/>
                  </a:lnTo>
                  <a:lnTo>
                    <a:pt x="19838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29551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5" y="0"/>
                  </a:lnTo>
                  <a:lnTo>
                    <a:pt x="1983867" y="0"/>
                  </a:lnTo>
                  <a:lnTo>
                    <a:pt x="2012447" y="5772"/>
                  </a:lnTo>
                  <a:lnTo>
                    <a:pt x="2035825" y="21510"/>
                  </a:lnTo>
                  <a:lnTo>
                    <a:pt x="2051607" y="44844"/>
                  </a:lnTo>
                  <a:lnTo>
                    <a:pt x="2057400" y="73406"/>
                  </a:lnTo>
                  <a:lnTo>
                    <a:pt x="2057400" y="1212342"/>
                  </a:lnTo>
                  <a:lnTo>
                    <a:pt x="2051607" y="1240922"/>
                  </a:lnTo>
                  <a:lnTo>
                    <a:pt x="2035825" y="1264300"/>
                  </a:lnTo>
                  <a:lnTo>
                    <a:pt x="2012447" y="1280082"/>
                  </a:lnTo>
                  <a:lnTo>
                    <a:pt x="1983867" y="1285875"/>
                  </a:lnTo>
                  <a:lnTo>
                    <a:pt x="73405" y="1285875"/>
                  </a:lnTo>
                  <a:lnTo>
                    <a:pt x="44844" y="1280082"/>
                  </a:lnTo>
                  <a:lnTo>
                    <a:pt x="21510" y="1264300"/>
                  </a:lnTo>
                  <a:lnTo>
                    <a:pt x="5772" y="1240922"/>
                  </a:lnTo>
                  <a:lnTo>
                    <a:pt x="0" y="1212342"/>
                  </a:lnTo>
                  <a:lnTo>
                    <a:pt x="0" y="73406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424801" y="4357751"/>
              <a:ext cx="266700" cy="276225"/>
            </a:xfrm>
            <a:custGeom>
              <a:avLst/>
              <a:gdLst/>
              <a:ahLst/>
              <a:cxnLst/>
              <a:rect l="l" t="t" r="r" b="b"/>
              <a:pathLst>
                <a:path w="266700" h="276225">
                  <a:moveTo>
                    <a:pt x="133350" y="0"/>
                  </a:moveTo>
                  <a:lnTo>
                    <a:pt x="91196" y="7029"/>
                  </a:lnTo>
                  <a:lnTo>
                    <a:pt x="54589" y="26611"/>
                  </a:lnTo>
                  <a:lnTo>
                    <a:pt x="25725" y="56482"/>
                  </a:lnTo>
                  <a:lnTo>
                    <a:pt x="6797" y="94382"/>
                  </a:lnTo>
                  <a:lnTo>
                    <a:pt x="0" y="138049"/>
                  </a:lnTo>
                  <a:lnTo>
                    <a:pt x="6797" y="181728"/>
                  </a:lnTo>
                  <a:lnTo>
                    <a:pt x="25725" y="219660"/>
                  </a:lnTo>
                  <a:lnTo>
                    <a:pt x="54589" y="249569"/>
                  </a:lnTo>
                  <a:lnTo>
                    <a:pt x="91196" y="269182"/>
                  </a:lnTo>
                  <a:lnTo>
                    <a:pt x="133350" y="276225"/>
                  </a:lnTo>
                  <a:lnTo>
                    <a:pt x="175455" y="269182"/>
                  </a:lnTo>
                  <a:lnTo>
                    <a:pt x="212055" y="249569"/>
                  </a:lnTo>
                  <a:lnTo>
                    <a:pt x="240938" y="219660"/>
                  </a:lnTo>
                  <a:lnTo>
                    <a:pt x="259890" y="181728"/>
                  </a:lnTo>
                  <a:lnTo>
                    <a:pt x="266700" y="138049"/>
                  </a:lnTo>
                  <a:lnTo>
                    <a:pt x="259890" y="94382"/>
                  </a:lnTo>
                  <a:lnTo>
                    <a:pt x="240938" y="56482"/>
                  </a:lnTo>
                  <a:lnTo>
                    <a:pt x="212055" y="26611"/>
                  </a:lnTo>
                  <a:lnTo>
                    <a:pt x="175455" y="7029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424801" y="4357751"/>
              <a:ext cx="266700" cy="276225"/>
            </a:xfrm>
            <a:custGeom>
              <a:avLst/>
              <a:gdLst/>
              <a:ahLst/>
              <a:cxnLst/>
              <a:rect l="l" t="t" r="r" b="b"/>
              <a:pathLst>
                <a:path w="266700" h="276225">
                  <a:moveTo>
                    <a:pt x="0" y="138049"/>
                  </a:moveTo>
                  <a:lnTo>
                    <a:pt x="6797" y="94382"/>
                  </a:lnTo>
                  <a:lnTo>
                    <a:pt x="25725" y="56482"/>
                  </a:lnTo>
                  <a:lnTo>
                    <a:pt x="54589" y="26611"/>
                  </a:lnTo>
                  <a:lnTo>
                    <a:pt x="91196" y="7029"/>
                  </a:lnTo>
                  <a:lnTo>
                    <a:pt x="133350" y="0"/>
                  </a:lnTo>
                  <a:lnTo>
                    <a:pt x="175455" y="7029"/>
                  </a:lnTo>
                  <a:lnTo>
                    <a:pt x="212055" y="26611"/>
                  </a:lnTo>
                  <a:lnTo>
                    <a:pt x="240938" y="56482"/>
                  </a:lnTo>
                  <a:lnTo>
                    <a:pt x="259890" y="94382"/>
                  </a:lnTo>
                  <a:lnTo>
                    <a:pt x="266700" y="138049"/>
                  </a:lnTo>
                  <a:lnTo>
                    <a:pt x="259890" y="181728"/>
                  </a:lnTo>
                  <a:lnTo>
                    <a:pt x="240938" y="219660"/>
                  </a:lnTo>
                  <a:lnTo>
                    <a:pt x="212055" y="249569"/>
                  </a:lnTo>
                  <a:lnTo>
                    <a:pt x="175455" y="269182"/>
                  </a:lnTo>
                  <a:lnTo>
                    <a:pt x="133350" y="276225"/>
                  </a:lnTo>
                  <a:lnTo>
                    <a:pt x="91196" y="269182"/>
                  </a:lnTo>
                  <a:lnTo>
                    <a:pt x="54589" y="249569"/>
                  </a:lnTo>
                  <a:lnTo>
                    <a:pt x="25725" y="219660"/>
                  </a:lnTo>
                  <a:lnTo>
                    <a:pt x="6797" y="181728"/>
                  </a:lnTo>
                  <a:lnTo>
                    <a:pt x="0" y="138049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510526" y="4390008"/>
            <a:ext cx="9842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042B33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56525" y="4290377"/>
            <a:ext cx="1002030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b="1" dirty="0">
                <a:solidFill>
                  <a:srgbClr val="00695A"/>
                </a:solidFill>
                <a:latin typeface="Calibri"/>
                <a:cs typeface="Calibri"/>
              </a:rPr>
              <a:t>No</a:t>
            </a:r>
            <a:r>
              <a:rPr sz="1200" b="1" spc="-60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695A"/>
                </a:solidFill>
                <a:latin typeface="Calibri"/>
                <a:cs typeface="Calibri"/>
              </a:rPr>
              <a:t>match</a:t>
            </a:r>
            <a:r>
              <a:rPr sz="1200" b="1" spc="5" dirty="0">
                <a:solidFill>
                  <a:srgbClr val="00695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00695A"/>
                </a:solidFill>
                <a:latin typeface="Calibri"/>
                <a:cs typeface="Calibri"/>
              </a:rPr>
              <a:t>or </a:t>
            </a:r>
            <a:r>
              <a:rPr sz="1200" b="1" spc="-35" dirty="0">
                <a:solidFill>
                  <a:srgbClr val="00695A"/>
                </a:solidFill>
                <a:latin typeface="Calibri"/>
                <a:cs typeface="Calibri"/>
              </a:rPr>
              <a:t>no </a:t>
            </a:r>
            <a:r>
              <a:rPr sz="1200" b="1" spc="-10" dirty="0">
                <a:solidFill>
                  <a:srgbClr val="00695A"/>
                </a:solidFill>
                <a:latin typeface="Calibri"/>
                <a:cs typeface="Calibri"/>
              </a:rPr>
              <a:t>connectivity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26959" y="4693348"/>
            <a:ext cx="1393825" cy="38989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It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creates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1200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temporary emergency record.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402826" y="4275201"/>
            <a:ext cx="2247900" cy="1298575"/>
            <a:chOff x="9402826" y="4275201"/>
            <a:chExt cx="2247900" cy="1298575"/>
          </a:xfrm>
        </p:grpSpPr>
        <p:sp>
          <p:nvSpPr>
            <p:cNvPr id="64" name="object 64"/>
            <p:cNvSpPr/>
            <p:nvPr/>
          </p:nvSpPr>
          <p:spPr>
            <a:xfrm>
              <a:off x="9406001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80899" y="0"/>
                  </a:moveTo>
                  <a:lnTo>
                    <a:pt x="0" y="0"/>
                  </a:lnTo>
                  <a:lnTo>
                    <a:pt x="80899" y="138049"/>
                  </a:lnTo>
                  <a:lnTo>
                    <a:pt x="0" y="276225"/>
                  </a:lnTo>
                  <a:lnTo>
                    <a:pt x="80899" y="276225"/>
                  </a:lnTo>
                  <a:lnTo>
                    <a:pt x="161925" y="138049"/>
                  </a:lnTo>
                  <a:lnTo>
                    <a:pt x="80899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406001" y="4757801"/>
              <a:ext cx="161925" cy="276225"/>
            </a:xfrm>
            <a:custGeom>
              <a:avLst/>
              <a:gdLst/>
              <a:ahLst/>
              <a:cxnLst/>
              <a:rect l="l" t="t" r="r" b="b"/>
              <a:pathLst>
                <a:path w="161925" h="276225">
                  <a:moveTo>
                    <a:pt x="0" y="0"/>
                  </a:moveTo>
                  <a:lnTo>
                    <a:pt x="80899" y="0"/>
                  </a:lnTo>
                  <a:lnTo>
                    <a:pt x="161925" y="138049"/>
                  </a:lnTo>
                  <a:lnTo>
                    <a:pt x="80899" y="276225"/>
                  </a:lnTo>
                  <a:lnTo>
                    <a:pt x="0" y="276225"/>
                  </a:lnTo>
                  <a:lnTo>
                    <a:pt x="80899" y="138049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586976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1983867" y="0"/>
                  </a:moveTo>
                  <a:lnTo>
                    <a:pt x="73405" y="0"/>
                  </a:lnTo>
                  <a:lnTo>
                    <a:pt x="44844" y="5772"/>
                  </a:lnTo>
                  <a:lnTo>
                    <a:pt x="21510" y="21510"/>
                  </a:lnTo>
                  <a:lnTo>
                    <a:pt x="5772" y="44844"/>
                  </a:lnTo>
                  <a:lnTo>
                    <a:pt x="0" y="73406"/>
                  </a:lnTo>
                  <a:lnTo>
                    <a:pt x="0" y="1212342"/>
                  </a:lnTo>
                  <a:lnTo>
                    <a:pt x="5772" y="1240922"/>
                  </a:lnTo>
                  <a:lnTo>
                    <a:pt x="21510" y="1264300"/>
                  </a:lnTo>
                  <a:lnTo>
                    <a:pt x="44844" y="1280082"/>
                  </a:lnTo>
                  <a:lnTo>
                    <a:pt x="73405" y="1285875"/>
                  </a:lnTo>
                  <a:lnTo>
                    <a:pt x="1983867" y="1285875"/>
                  </a:lnTo>
                  <a:lnTo>
                    <a:pt x="2012447" y="1280082"/>
                  </a:lnTo>
                  <a:lnTo>
                    <a:pt x="2035825" y="1264300"/>
                  </a:lnTo>
                  <a:lnTo>
                    <a:pt x="2051607" y="1240922"/>
                  </a:lnTo>
                  <a:lnTo>
                    <a:pt x="2057400" y="1212342"/>
                  </a:lnTo>
                  <a:lnTo>
                    <a:pt x="2057400" y="73406"/>
                  </a:lnTo>
                  <a:lnTo>
                    <a:pt x="2051607" y="44844"/>
                  </a:lnTo>
                  <a:lnTo>
                    <a:pt x="2035825" y="21510"/>
                  </a:lnTo>
                  <a:lnTo>
                    <a:pt x="2012447" y="5772"/>
                  </a:lnTo>
                  <a:lnTo>
                    <a:pt x="19838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586976" y="4281551"/>
              <a:ext cx="2057400" cy="1285875"/>
            </a:xfrm>
            <a:custGeom>
              <a:avLst/>
              <a:gdLst/>
              <a:ahLst/>
              <a:cxnLst/>
              <a:rect l="l" t="t" r="r" b="b"/>
              <a:pathLst>
                <a:path w="2057400" h="1285875">
                  <a:moveTo>
                    <a:pt x="0" y="73406"/>
                  </a:moveTo>
                  <a:lnTo>
                    <a:pt x="5772" y="44844"/>
                  </a:lnTo>
                  <a:lnTo>
                    <a:pt x="21510" y="21510"/>
                  </a:lnTo>
                  <a:lnTo>
                    <a:pt x="44844" y="5772"/>
                  </a:lnTo>
                  <a:lnTo>
                    <a:pt x="73405" y="0"/>
                  </a:lnTo>
                  <a:lnTo>
                    <a:pt x="1983867" y="0"/>
                  </a:lnTo>
                  <a:lnTo>
                    <a:pt x="2012447" y="5772"/>
                  </a:lnTo>
                  <a:lnTo>
                    <a:pt x="2035825" y="21510"/>
                  </a:lnTo>
                  <a:lnTo>
                    <a:pt x="2051607" y="44844"/>
                  </a:lnTo>
                  <a:lnTo>
                    <a:pt x="2057400" y="73406"/>
                  </a:lnTo>
                  <a:lnTo>
                    <a:pt x="2057400" y="1212342"/>
                  </a:lnTo>
                  <a:lnTo>
                    <a:pt x="2051607" y="1240922"/>
                  </a:lnTo>
                  <a:lnTo>
                    <a:pt x="2035825" y="1264300"/>
                  </a:lnTo>
                  <a:lnTo>
                    <a:pt x="2012447" y="1280082"/>
                  </a:lnTo>
                  <a:lnTo>
                    <a:pt x="1983867" y="1285875"/>
                  </a:lnTo>
                  <a:lnTo>
                    <a:pt x="73405" y="1285875"/>
                  </a:lnTo>
                  <a:lnTo>
                    <a:pt x="44844" y="1280082"/>
                  </a:lnTo>
                  <a:lnTo>
                    <a:pt x="21510" y="1264300"/>
                  </a:lnTo>
                  <a:lnTo>
                    <a:pt x="5772" y="1240922"/>
                  </a:lnTo>
                  <a:lnTo>
                    <a:pt x="0" y="1212342"/>
                  </a:lnTo>
                  <a:lnTo>
                    <a:pt x="0" y="73406"/>
                  </a:lnTo>
                  <a:close/>
                </a:path>
              </a:pathLst>
            </a:custGeom>
            <a:ln w="12700">
              <a:solidFill>
                <a:srgbClr val="D4EB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682226" y="4357751"/>
              <a:ext cx="266700" cy="276225"/>
            </a:xfrm>
            <a:custGeom>
              <a:avLst/>
              <a:gdLst/>
              <a:ahLst/>
              <a:cxnLst/>
              <a:rect l="l" t="t" r="r" b="b"/>
              <a:pathLst>
                <a:path w="266700" h="276225">
                  <a:moveTo>
                    <a:pt x="133350" y="0"/>
                  </a:moveTo>
                  <a:lnTo>
                    <a:pt x="91196" y="7029"/>
                  </a:lnTo>
                  <a:lnTo>
                    <a:pt x="54589" y="26611"/>
                  </a:lnTo>
                  <a:lnTo>
                    <a:pt x="25725" y="56482"/>
                  </a:lnTo>
                  <a:lnTo>
                    <a:pt x="6797" y="94382"/>
                  </a:lnTo>
                  <a:lnTo>
                    <a:pt x="0" y="138049"/>
                  </a:lnTo>
                  <a:lnTo>
                    <a:pt x="6797" y="181728"/>
                  </a:lnTo>
                  <a:lnTo>
                    <a:pt x="25725" y="219660"/>
                  </a:lnTo>
                  <a:lnTo>
                    <a:pt x="54589" y="249569"/>
                  </a:lnTo>
                  <a:lnTo>
                    <a:pt x="91196" y="269182"/>
                  </a:lnTo>
                  <a:lnTo>
                    <a:pt x="133350" y="276225"/>
                  </a:lnTo>
                  <a:lnTo>
                    <a:pt x="175455" y="269182"/>
                  </a:lnTo>
                  <a:lnTo>
                    <a:pt x="212055" y="249569"/>
                  </a:lnTo>
                  <a:lnTo>
                    <a:pt x="240938" y="219660"/>
                  </a:lnTo>
                  <a:lnTo>
                    <a:pt x="259890" y="181728"/>
                  </a:lnTo>
                  <a:lnTo>
                    <a:pt x="266700" y="138049"/>
                  </a:lnTo>
                  <a:lnTo>
                    <a:pt x="259890" y="94382"/>
                  </a:lnTo>
                  <a:lnTo>
                    <a:pt x="240938" y="56482"/>
                  </a:lnTo>
                  <a:lnTo>
                    <a:pt x="212055" y="26611"/>
                  </a:lnTo>
                  <a:lnTo>
                    <a:pt x="175455" y="7029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76C0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682226" y="4357751"/>
              <a:ext cx="266700" cy="276225"/>
            </a:xfrm>
            <a:custGeom>
              <a:avLst/>
              <a:gdLst/>
              <a:ahLst/>
              <a:cxnLst/>
              <a:rect l="l" t="t" r="r" b="b"/>
              <a:pathLst>
                <a:path w="266700" h="276225">
                  <a:moveTo>
                    <a:pt x="0" y="138049"/>
                  </a:moveTo>
                  <a:lnTo>
                    <a:pt x="6797" y="94382"/>
                  </a:lnTo>
                  <a:lnTo>
                    <a:pt x="25725" y="56482"/>
                  </a:lnTo>
                  <a:lnTo>
                    <a:pt x="54589" y="26611"/>
                  </a:lnTo>
                  <a:lnTo>
                    <a:pt x="91196" y="7029"/>
                  </a:lnTo>
                  <a:lnTo>
                    <a:pt x="133350" y="0"/>
                  </a:lnTo>
                  <a:lnTo>
                    <a:pt x="175455" y="7029"/>
                  </a:lnTo>
                  <a:lnTo>
                    <a:pt x="212055" y="26611"/>
                  </a:lnTo>
                  <a:lnTo>
                    <a:pt x="240938" y="56482"/>
                  </a:lnTo>
                  <a:lnTo>
                    <a:pt x="259890" y="94382"/>
                  </a:lnTo>
                  <a:lnTo>
                    <a:pt x="266700" y="138049"/>
                  </a:lnTo>
                  <a:lnTo>
                    <a:pt x="259890" y="181728"/>
                  </a:lnTo>
                  <a:lnTo>
                    <a:pt x="240938" y="219660"/>
                  </a:lnTo>
                  <a:lnTo>
                    <a:pt x="212055" y="249569"/>
                  </a:lnTo>
                  <a:lnTo>
                    <a:pt x="175455" y="269182"/>
                  </a:lnTo>
                  <a:lnTo>
                    <a:pt x="133350" y="276225"/>
                  </a:lnTo>
                  <a:lnTo>
                    <a:pt x="91196" y="269182"/>
                  </a:lnTo>
                  <a:lnTo>
                    <a:pt x="54589" y="249569"/>
                  </a:lnTo>
                  <a:lnTo>
                    <a:pt x="25725" y="219660"/>
                  </a:lnTo>
                  <a:lnTo>
                    <a:pt x="6797" y="181728"/>
                  </a:lnTo>
                  <a:lnTo>
                    <a:pt x="0" y="138049"/>
                  </a:lnTo>
                  <a:close/>
                </a:path>
              </a:pathLst>
            </a:custGeom>
            <a:ln w="6350">
              <a:solidFill>
                <a:srgbClr val="76C0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9687306" y="4382389"/>
            <a:ext cx="175704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  <a:tabLst>
                <a:tab pos="341630" algn="l"/>
              </a:tabLst>
            </a:pPr>
            <a:r>
              <a:rPr sz="1100" b="1" spc="-50" dirty="0">
                <a:solidFill>
                  <a:srgbClr val="042B33"/>
                </a:solidFill>
                <a:latin typeface="Calibri"/>
                <a:cs typeface="Calibri"/>
              </a:rPr>
              <a:t>5</a:t>
            </a:r>
            <a:r>
              <a:rPr sz="1100" b="1" dirty="0">
                <a:solidFill>
                  <a:srgbClr val="042B33"/>
                </a:solidFill>
                <a:latin typeface="Calibri"/>
                <a:cs typeface="Calibri"/>
              </a:rPr>
              <a:t>	</a:t>
            </a:r>
            <a:r>
              <a:rPr sz="1200" b="1" spc="-10" dirty="0">
                <a:solidFill>
                  <a:srgbClr val="00695A"/>
                </a:solidFill>
                <a:latin typeface="Calibri"/>
                <a:cs typeface="Calibri"/>
              </a:rPr>
              <a:t>Reconciliation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899"/>
              </a:lnSpc>
              <a:spcBef>
                <a:spcPts val="994"/>
              </a:spcBef>
            </a:pP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Authorised</a:t>
            </a:r>
            <a:r>
              <a:rPr sz="1200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staff</a:t>
            </a:r>
            <a:r>
              <a:rPr sz="1200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review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whether the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temporary encounter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can safely</a:t>
            </a:r>
            <a:r>
              <a:rPr sz="1200" spc="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A4F49"/>
                </a:solidFill>
                <a:latin typeface="Calibri"/>
                <a:cs typeface="Calibri"/>
              </a:rPr>
              <a:t>be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linked</a:t>
            </a:r>
            <a:r>
              <a:rPr sz="1200" spc="-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to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his</a:t>
            </a:r>
            <a:r>
              <a:rPr sz="1200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A4F49"/>
                </a:solidFill>
                <a:latin typeface="Calibri"/>
                <a:cs typeface="Calibri"/>
              </a:rPr>
              <a:t>existing</a:t>
            </a:r>
            <a:r>
              <a:rPr sz="1200" spc="-2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A4F49"/>
                </a:solidFill>
                <a:latin typeface="Calibri"/>
                <a:cs typeface="Calibri"/>
              </a:rPr>
              <a:t>record.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550862" y="5665787"/>
            <a:ext cx="11100435" cy="584200"/>
            <a:chOff x="550862" y="5665787"/>
            <a:chExt cx="11100435" cy="584200"/>
          </a:xfrm>
        </p:grpSpPr>
        <p:sp>
          <p:nvSpPr>
            <p:cNvPr id="72" name="object 72"/>
            <p:cNvSpPr/>
            <p:nvPr/>
          </p:nvSpPr>
          <p:spPr>
            <a:xfrm>
              <a:off x="557212" y="5672137"/>
              <a:ext cx="11087735" cy="571500"/>
            </a:xfrm>
            <a:custGeom>
              <a:avLst/>
              <a:gdLst/>
              <a:ahLst/>
              <a:cxnLst/>
              <a:rect l="l" t="t" r="r" b="b"/>
              <a:pathLst>
                <a:path w="11087735" h="571500">
                  <a:moveTo>
                    <a:pt x="11013376" y="0"/>
                  </a:moveTo>
                  <a:lnTo>
                    <a:pt x="73748" y="0"/>
                  </a:lnTo>
                  <a:lnTo>
                    <a:pt x="45043" y="5795"/>
                  </a:lnTo>
                  <a:lnTo>
                    <a:pt x="21601" y="21601"/>
                  </a:lnTo>
                  <a:lnTo>
                    <a:pt x="5795" y="45043"/>
                  </a:lnTo>
                  <a:lnTo>
                    <a:pt x="0" y="73748"/>
                  </a:lnTo>
                  <a:lnTo>
                    <a:pt x="0" y="497751"/>
                  </a:lnTo>
                  <a:lnTo>
                    <a:pt x="5795" y="526456"/>
                  </a:lnTo>
                  <a:lnTo>
                    <a:pt x="21601" y="549898"/>
                  </a:lnTo>
                  <a:lnTo>
                    <a:pt x="45043" y="565704"/>
                  </a:lnTo>
                  <a:lnTo>
                    <a:pt x="73748" y="571500"/>
                  </a:lnTo>
                  <a:lnTo>
                    <a:pt x="11013376" y="571500"/>
                  </a:lnTo>
                  <a:lnTo>
                    <a:pt x="11042104" y="565704"/>
                  </a:lnTo>
                  <a:lnTo>
                    <a:pt x="11065557" y="549898"/>
                  </a:lnTo>
                  <a:lnTo>
                    <a:pt x="11081367" y="526456"/>
                  </a:lnTo>
                  <a:lnTo>
                    <a:pt x="11087163" y="497751"/>
                  </a:lnTo>
                  <a:lnTo>
                    <a:pt x="11087163" y="73748"/>
                  </a:lnTo>
                  <a:lnTo>
                    <a:pt x="11081367" y="45043"/>
                  </a:lnTo>
                  <a:lnTo>
                    <a:pt x="11065557" y="21601"/>
                  </a:lnTo>
                  <a:lnTo>
                    <a:pt x="11042104" y="5795"/>
                  </a:lnTo>
                  <a:lnTo>
                    <a:pt x="11013376" y="0"/>
                  </a:lnTo>
                  <a:close/>
                </a:path>
              </a:pathLst>
            </a:custGeom>
            <a:solidFill>
              <a:srgbClr val="0A4F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57212" y="5672137"/>
              <a:ext cx="11087735" cy="571500"/>
            </a:xfrm>
            <a:custGeom>
              <a:avLst/>
              <a:gdLst/>
              <a:ahLst/>
              <a:cxnLst/>
              <a:rect l="l" t="t" r="r" b="b"/>
              <a:pathLst>
                <a:path w="11087735" h="571500">
                  <a:moveTo>
                    <a:pt x="0" y="73748"/>
                  </a:moveTo>
                  <a:lnTo>
                    <a:pt x="5795" y="45043"/>
                  </a:lnTo>
                  <a:lnTo>
                    <a:pt x="21601" y="21601"/>
                  </a:lnTo>
                  <a:lnTo>
                    <a:pt x="45043" y="5795"/>
                  </a:lnTo>
                  <a:lnTo>
                    <a:pt x="73748" y="0"/>
                  </a:lnTo>
                  <a:lnTo>
                    <a:pt x="11013376" y="0"/>
                  </a:lnTo>
                  <a:lnTo>
                    <a:pt x="11042104" y="5795"/>
                  </a:lnTo>
                  <a:lnTo>
                    <a:pt x="11065557" y="21601"/>
                  </a:lnTo>
                  <a:lnTo>
                    <a:pt x="11081367" y="45043"/>
                  </a:lnTo>
                  <a:lnTo>
                    <a:pt x="11087163" y="73748"/>
                  </a:lnTo>
                  <a:lnTo>
                    <a:pt x="11087163" y="497751"/>
                  </a:lnTo>
                  <a:lnTo>
                    <a:pt x="11081367" y="526456"/>
                  </a:lnTo>
                  <a:lnTo>
                    <a:pt x="11065557" y="549898"/>
                  </a:lnTo>
                  <a:lnTo>
                    <a:pt x="11042104" y="565704"/>
                  </a:lnTo>
                  <a:lnTo>
                    <a:pt x="11013376" y="571500"/>
                  </a:lnTo>
                  <a:lnTo>
                    <a:pt x="73748" y="571500"/>
                  </a:lnTo>
                  <a:lnTo>
                    <a:pt x="45043" y="565704"/>
                  </a:lnTo>
                  <a:lnTo>
                    <a:pt x="21601" y="549898"/>
                  </a:lnTo>
                  <a:lnTo>
                    <a:pt x="5795" y="526456"/>
                  </a:lnTo>
                  <a:lnTo>
                    <a:pt x="0" y="497751"/>
                  </a:lnTo>
                  <a:lnTo>
                    <a:pt x="0" y="73748"/>
                  </a:lnTo>
                  <a:close/>
                </a:path>
              </a:pathLst>
            </a:custGeom>
            <a:ln w="12700">
              <a:solidFill>
                <a:srgbClr val="0A4F4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19455" y="5740717"/>
            <a:ext cx="10683875" cy="420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Our</a:t>
            </a:r>
            <a:r>
              <a:rPr sz="1250" b="1" spc="7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76C043"/>
                </a:solidFill>
                <a:latin typeface="Calibri"/>
                <a:cs typeface="Calibri"/>
              </a:rPr>
              <a:t>goal:</a:t>
            </a:r>
            <a:r>
              <a:rPr sz="1250" b="1" spc="130" dirty="0">
                <a:solidFill>
                  <a:srgbClr val="76C043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healthcare</a:t>
            </a:r>
            <a:r>
              <a:rPr sz="12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workers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right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available</a:t>
            </a:r>
            <a:r>
              <a:rPr sz="125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125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50" spc="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patient—even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25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patient</a:t>
            </a:r>
            <a:r>
              <a:rPr sz="1250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125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explain</a:t>
            </a:r>
            <a:r>
              <a:rPr sz="125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125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history</a:t>
            </a:r>
            <a:r>
              <a:rPr sz="125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internet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2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unreliable—while</a:t>
            </a:r>
            <a:r>
              <a:rPr sz="125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protecting</a:t>
            </a:r>
            <a:r>
              <a:rPr sz="125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50" spc="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patient’s</a:t>
            </a:r>
            <a:r>
              <a:rPr sz="1250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identity</a:t>
            </a:r>
            <a:r>
              <a:rPr sz="125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5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Calibri"/>
                <a:cs typeface="Calibri"/>
              </a:rPr>
              <a:t>privacy.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0899" y="449538"/>
            <a:ext cx="1381125" cy="46871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T</a:t>
            </a:r>
            <a:r>
              <a:rPr sz="900" b="1" spc="1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E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A4F49"/>
                </a:solidFill>
                <a:latin typeface="Calibri"/>
                <a:cs typeface="Calibri"/>
              </a:rPr>
              <a:t>A</a:t>
            </a:r>
            <a:r>
              <a:rPr sz="900" b="1" spc="-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900" b="1" spc="-50" dirty="0">
                <a:solidFill>
                  <a:srgbClr val="0A4F49"/>
                </a:solidFill>
                <a:latin typeface="Calibri"/>
                <a:cs typeface="Calibri"/>
              </a:rPr>
              <a:t>M</a:t>
            </a:r>
            <a:endParaRPr sz="900" dirty="0"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</a:pPr>
            <a:r>
              <a:rPr lang="en-US" sz="1550" b="1" spc="-10" dirty="0">
                <a:solidFill>
                  <a:srgbClr val="00695A"/>
                </a:solidFill>
                <a:latin typeface="Calibri"/>
                <a:cs typeface="Calibri"/>
              </a:rPr>
              <a:t>TEAM PR</a:t>
            </a:r>
            <a:endParaRPr lang="en-US" sz="1550" dirty="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7340">
              <a:lnSpc>
                <a:spcPct val="100000"/>
              </a:lnSpc>
              <a:spcBef>
                <a:spcPts val="100"/>
              </a:spcBef>
            </a:pPr>
            <a:r>
              <a:rPr dirty="0"/>
              <a:t>TEAM</a:t>
            </a:r>
            <a:r>
              <a:rPr spc="-20" dirty="0"/>
              <a:t> </a:t>
            </a:r>
            <a:r>
              <a:rPr spc="-10" dirty="0"/>
              <a:t>CONTRIBUTION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15650" y="342900"/>
            <a:ext cx="895350" cy="800100"/>
          </a:xfrm>
          <a:prstGeom prst="rect">
            <a:avLst/>
          </a:prstGeom>
        </p:spPr>
      </p:pic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975" y="1466850"/>
            <a:ext cx="476250" cy="4191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76972" y="1506537"/>
            <a:ext cx="4220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Who</a:t>
            </a:r>
            <a:r>
              <a:rPr sz="1800" b="1" spc="-35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will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handle</a:t>
            </a:r>
            <a:r>
              <a:rPr sz="1800" b="1" spc="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which</a:t>
            </a:r>
            <a:r>
              <a:rPr sz="1800" b="1" spc="-3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part</a:t>
            </a:r>
            <a:r>
              <a:rPr sz="1800" b="1" spc="-6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A4F49"/>
                </a:solidFill>
                <a:latin typeface="Calibri"/>
                <a:cs typeface="Calibri"/>
              </a:rPr>
              <a:t>of the</a:t>
            </a:r>
            <a:r>
              <a:rPr sz="1800" b="1" spc="-40" dirty="0">
                <a:solidFill>
                  <a:srgbClr val="0A4F4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A4F49"/>
                </a:solidFill>
                <a:latin typeface="Calibri"/>
                <a:cs typeface="Calibri"/>
              </a:rPr>
              <a:t>execution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43877" y="2098357"/>
          <a:ext cx="11091543" cy="39306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5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Member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00695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00695A"/>
                    </a:solidFill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Responsibility</a:t>
                      </a:r>
                      <a:r>
                        <a:rPr sz="15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Execution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006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0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Hanumithan.AL</a:t>
                      </a:r>
                      <a:r>
                        <a:rPr sz="1500" b="1" spc="210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(Team</a:t>
                      </a:r>
                      <a:r>
                        <a:rPr sz="1500" b="1" spc="-35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Leader)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CB.EN.U4ECE26064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1400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400" spc="-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Lead</a:t>
                      </a:r>
                      <a:r>
                        <a:rPr sz="1400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1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400" spc="-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Design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Overall</a:t>
                      </a:r>
                      <a:r>
                        <a:rPr sz="1250" spc="20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coordination,</a:t>
                      </a:r>
                      <a:r>
                        <a:rPr sz="1250" spc="1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workflow</a:t>
                      </a:r>
                      <a:r>
                        <a:rPr sz="1250" spc="18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design,</a:t>
                      </a:r>
                      <a:r>
                        <a:rPr sz="1250" spc="1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emergency-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endParaRPr sz="1250">
                        <a:latin typeface="Calibri"/>
                        <a:cs typeface="Calibri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safeguards</a:t>
                      </a:r>
                      <a:r>
                        <a:rPr sz="1250" spc="11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8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final</a:t>
                      </a:r>
                      <a:r>
                        <a:rPr sz="1250" spc="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demo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500" b="1" spc="-10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Nivedh.T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CB.EN.U4ECE26039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r>
                        <a:rPr sz="1400" spc="-1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Offline</a:t>
                      </a:r>
                      <a:r>
                        <a:rPr sz="1400" spc="-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Sync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239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3350" marR="490855">
                        <a:lnSpc>
                          <a:spcPct val="1051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Emergency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registration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workflow,</a:t>
                      </a:r>
                      <a:r>
                        <a:rPr sz="1250" spc="1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record</a:t>
                      </a:r>
                      <a:r>
                        <a:rPr sz="1250" spc="7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summary,</a:t>
                      </a:r>
                      <a:r>
                        <a:rPr sz="1250" spc="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offline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r>
                        <a:rPr sz="1250" spc="9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6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synchronisation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Shruthi</a:t>
                      </a:r>
                      <a:r>
                        <a:rPr sz="1500" b="1" spc="-50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Ranjane</a:t>
                      </a:r>
                      <a:r>
                        <a:rPr sz="1500" b="1" spc="-55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5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B.S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CB.EN.U4ECE26052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400" spc="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1400" spc="-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3664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3350" marR="513080">
                        <a:lnSpc>
                          <a:spcPct val="1052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Healthcare-worker</a:t>
                      </a:r>
                      <a:r>
                        <a:rPr sz="1250" spc="1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interface,</a:t>
                      </a:r>
                      <a:r>
                        <a:rPr sz="1250" spc="114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regional-language</a:t>
                      </a:r>
                      <a:r>
                        <a:rPr sz="1250" spc="19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24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voice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support,</a:t>
                      </a:r>
                      <a:r>
                        <a:rPr sz="1250" spc="16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offline</a:t>
                      </a:r>
                      <a:r>
                        <a:rPr sz="1250" spc="5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warnings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0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</a:pPr>
                      <a:r>
                        <a:rPr sz="1500" b="1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Sunil</a:t>
                      </a:r>
                      <a:r>
                        <a:rPr sz="1500" b="1" spc="-40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042B33"/>
                          </a:solidFill>
                          <a:latin typeface="Calibri"/>
                          <a:cs typeface="Calibri"/>
                        </a:rPr>
                        <a:t>Krishna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282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CB.EN.U4ECE26054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524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0810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Biometric</a:t>
                      </a:r>
                      <a:r>
                        <a:rPr sz="1400" spc="-4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Module &amp;</a:t>
                      </a:r>
                      <a:r>
                        <a:rPr sz="1400" spc="-3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4935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33350" marR="493395">
                        <a:lnSpc>
                          <a:spcPct val="105200"/>
                        </a:lnSpc>
                        <a:spcBef>
                          <a:spcPts val="5"/>
                        </a:spcBef>
                      </a:pP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Simulated</a:t>
                      </a:r>
                      <a:r>
                        <a:rPr sz="1250" spc="21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biometric</a:t>
                      </a:r>
                      <a:r>
                        <a:rPr sz="1250" spc="2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matching,</a:t>
                      </a:r>
                      <a:r>
                        <a:rPr sz="1250" spc="18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uncertain-match</a:t>
                      </a:r>
                      <a:r>
                        <a:rPr sz="1250" spc="1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1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handling,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50" spc="3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logs</a:t>
                      </a:r>
                      <a:r>
                        <a:rPr sz="1250" spc="1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50" spc="10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audit</a:t>
                      </a:r>
                      <a:r>
                        <a:rPr sz="1250" spc="125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50" spc="-20" dirty="0">
                          <a:solidFill>
                            <a:srgbClr val="0A4F49"/>
                          </a:solidFill>
                          <a:latin typeface="Calibri"/>
                          <a:cs typeface="Calibri"/>
                        </a:rPr>
                        <a:t>trail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9525">
                      <a:solidFill>
                        <a:srgbClr val="D4EBDF"/>
                      </a:solidFill>
                      <a:prstDash val="solid"/>
                    </a:lnL>
                    <a:lnR w="9525">
                      <a:solidFill>
                        <a:srgbClr val="D4EBDF"/>
                      </a:solidFill>
                      <a:prstDash val="solid"/>
                    </a:lnR>
                    <a:lnT w="9525">
                      <a:solidFill>
                        <a:srgbClr val="D4EBDF"/>
                      </a:solidFill>
                      <a:prstDash val="solid"/>
                    </a:lnT>
                    <a:lnB w="9525">
                      <a:solidFill>
                        <a:srgbClr val="D4E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  <a:tabLst>
                <a:tab pos="2776855" algn="l"/>
                <a:tab pos="2976880" algn="l"/>
              </a:tabLst>
            </a:pPr>
            <a:r>
              <a:rPr dirty="0"/>
              <a:t>G</a:t>
            </a:r>
            <a:r>
              <a:rPr spc="-5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n</a:t>
            </a:r>
            <a:r>
              <a:rPr spc="-85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i</a:t>
            </a:r>
            <a:r>
              <a:rPr spc="-55" dirty="0"/>
              <a:t> </a:t>
            </a:r>
            <a:r>
              <a:rPr dirty="0"/>
              <a:t>s</a:t>
            </a:r>
            <a:r>
              <a:rPr spc="38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10" dirty="0"/>
              <a:t> </a:t>
            </a:r>
            <a:r>
              <a:rPr dirty="0"/>
              <a:t>e</a:t>
            </a:r>
            <a:r>
              <a:rPr spc="-55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90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n</a:t>
            </a:r>
            <a:r>
              <a:rPr spc="395" dirty="0"/>
              <a:t> </a:t>
            </a:r>
            <a:r>
              <a:rPr dirty="0"/>
              <a:t>–</a:t>
            </a:r>
            <a:r>
              <a:rPr spc="415" dirty="0"/>
              <a:t> </a:t>
            </a:r>
            <a:r>
              <a:rPr dirty="0"/>
              <a:t>P</a:t>
            </a:r>
            <a:r>
              <a:rPr spc="-75" dirty="0"/>
              <a:t> </a:t>
            </a:r>
            <a:r>
              <a:rPr dirty="0"/>
              <a:t>r</a:t>
            </a:r>
            <a:r>
              <a:rPr spc="-40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dirty="0"/>
              <a:t>I</a:t>
            </a:r>
            <a:r>
              <a:rPr spc="-80" dirty="0"/>
              <a:t> </a:t>
            </a:r>
            <a:r>
              <a:rPr dirty="0"/>
              <a:t>d</a:t>
            </a:r>
            <a:r>
              <a:rPr spc="-5" dirty="0"/>
              <a:t> </a:t>
            </a:r>
            <a:r>
              <a:rPr dirty="0"/>
              <a:t>e</a:t>
            </a:r>
            <a:r>
              <a:rPr spc="-50" dirty="0"/>
              <a:t> </a:t>
            </a:r>
            <a:r>
              <a:rPr spc="75" dirty="0"/>
              <a:t>at</a:t>
            </a:r>
            <a:r>
              <a:rPr spc="-20" dirty="0"/>
              <a:t> </a:t>
            </a:r>
            <a:r>
              <a:rPr dirty="0"/>
              <a:t>h</a:t>
            </a:r>
            <a:r>
              <a:rPr spc="-8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spc="-50" dirty="0"/>
              <a:t>n</a:t>
            </a:r>
            <a:r>
              <a:rPr dirty="0"/>
              <a:t>	</a:t>
            </a:r>
            <a:r>
              <a:rPr spc="-50" dirty="0"/>
              <a:t>|</a:t>
            </a:r>
            <a:r>
              <a:rPr dirty="0"/>
              <a:t>	S</a:t>
            </a:r>
            <a:r>
              <a:rPr spc="-5" dirty="0"/>
              <a:t> </a:t>
            </a:r>
            <a:r>
              <a:rPr dirty="0"/>
              <a:t>w</a:t>
            </a:r>
            <a:r>
              <a:rPr spc="-7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</a:t>
            </a:r>
            <a:r>
              <a:rPr spc="-85" dirty="0"/>
              <a:t> </a:t>
            </a:r>
            <a:r>
              <a:rPr dirty="0"/>
              <a:t>t</a:t>
            </a:r>
            <a:r>
              <a:rPr spc="-90" dirty="0"/>
              <a:t> </a:t>
            </a:r>
            <a:r>
              <a:rPr dirty="0"/>
              <a:t>h y</a:t>
            </a:r>
            <a:r>
              <a:rPr spc="-7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L</a:t>
            </a:r>
            <a:r>
              <a:rPr spc="-40" dirty="0"/>
              <a:t> </a:t>
            </a:r>
            <a:r>
              <a:rPr dirty="0"/>
              <a:t>e</a:t>
            </a:r>
            <a:r>
              <a:rPr spc="-45" dirty="0"/>
              <a:t> </a:t>
            </a:r>
            <a:r>
              <a:rPr dirty="0"/>
              <a:t>d</a:t>
            </a:r>
            <a:r>
              <a:rPr spc="-85" dirty="0"/>
              <a:t> </a:t>
            </a:r>
            <a:r>
              <a:rPr dirty="0"/>
              <a:t>g</a:t>
            </a:r>
            <a:r>
              <a:rPr spc="-95" dirty="0"/>
              <a:t> </a:t>
            </a:r>
            <a:r>
              <a:rPr dirty="0"/>
              <a:t>e</a:t>
            </a:r>
            <a:r>
              <a:rPr spc="-50" dirty="0"/>
              <a:t> 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124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8D2C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1863</Words>
  <Application>Microsoft Office PowerPoint</Application>
  <PresentationFormat>Widescreen</PresentationFormat>
  <Paragraphs>230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Cambria</vt:lpstr>
      <vt:lpstr>Times New Roman</vt:lpstr>
      <vt:lpstr>Office Theme</vt:lpstr>
      <vt:lpstr>GENESIS IDEATHON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HANU</dc:creator>
  <cp:lastModifiedBy>hanumithan AL</cp:lastModifiedBy>
  <cp:revision>4</cp:revision>
  <dcterms:created xsi:type="dcterms:W3CDTF">2026-10-09T18:10:17Z</dcterms:created>
  <dcterms:modified xsi:type="dcterms:W3CDTF">2026-10-10T10:04:47Z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2026-10-09T00:00:00Z</vt:filetime>
  </property>
  <property fmtid="{D5CDD505-2E9C-101B-9397-08002B2CF9AE}" pid="4" name="LastSaved">
    <vt:filetime>2026-10-09T00:00:00Z</vt:filetime>
  </property>
</Properties>
</file>